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b1f538f9f4709" /><Relationship Type="http://schemas.openxmlformats.org/officeDocument/2006/relationships/extended-properties" Target="/docProps/app.xml" Id="R83198a0f7ba5430e" /><Relationship Type="http://schemas.openxmlformats.org/officeDocument/2006/relationships/officeDocument" Target="/ppt/presentation.xml" Id="R19711adeb276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f3666c2b6423c"/>
  </p:sldMasterIdLst>
  <p:notesMasterIdLst>
    <p:notesMasterId xmlns:r="http://schemas.openxmlformats.org/officeDocument/2006/relationships" r:id="Rcd87c797f8c8411d"/>
  </p:notesMasterIdLst>
  <p:sldIdLst>
    <p:sldId xmlns:r="http://schemas.openxmlformats.org/officeDocument/2006/relationships" id="256" r:id="R960f0abdbc054afa"/>
    <p:sldId xmlns:r="http://schemas.openxmlformats.org/officeDocument/2006/relationships" id="257" r:id="R8a5950ba7fb34b5b"/>
    <p:sldId xmlns:r="http://schemas.openxmlformats.org/officeDocument/2006/relationships" id="258" r:id="R5b765cce3a9144f2"/>
    <p:sldId xmlns:r="http://schemas.openxmlformats.org/officeDocument/2006/relationships" id="259" r:id="R2d38dd2cd4004f10"/>
    <p:sldId xmlns:r="http://schemas.openxmlformats.org/officeDocument/2006/relationships" id="260" r:id="R8426e0385bde4344"/>
    <p:sldId xmlns:r="http://schemas.openxmlformats.org/officeDocument/2006/relationships" id="261" r:id="R52ea9df5018645bd"/>
    <p:sldId xmlns:r="http://schemas.openxmlformats.org/officeDocument/2006/relationships" id="262" r:id="R311327befd804da8"/>
    <p:sldId xmlns:r="http://schemas.openxmlformats.org/officeDocument/2006/relationships" id="263" r:id="R361931e886ac42b3"/>
    <p:sldId xmlns:r="http://schemas.openxmlformats.org/officeDocument/2006/relationships" id="264" r:id="R9ba1799206cb49f7"/>
    <p:sldId xmlns:r="http://schemas.openxmlformats.org/officeDocument/2006/relationships" id="265" r:id="Rff68a4f0664c47f5"/>
    <p:sldId xmlns:r="http://schemas.openxmlformats.org/officeDocument/2006/relationships" id="266" r:id="Rec2024b8ed9b4821"/>
    <p:sldId xmlns:r="http://schemas.openxmlformats.org/officeDocument/2006/relationships" id="267" r:id="R6b24f365a4df4bb9"/>
    <p:sldId xmlns:r="http://schemas.openxmlformats.org/officeDocument/2006/relationships" id="268" r:id="Red6a142d5d454759"/>
    <p:sldId xmlns:r="http://schemas.openxmlformats.org/officeDocument/2006/relationships" id="269" r:id="Rc8e9adffd9f1492e"/>
    <p:sldId xmlns:r="http://schemas.openxmlformats.org/officeDocument/2006/relationships" id="270" r:id="Re2fa45e8339a4db9"/>
    <p:sldId xmlns:r="http://schemas.openxmlformats.org/officeDocument/2006/relationships" id="271" r:id="Rdfbb2400b71a49d8"/>
    <p:sldId xmlns:r="http://schemas.openxmlformats.org/officeDocument/2006/relationships" id="272" r:id="R7b2e3c2baebf4e6d"/>
    <p:sldId xmlns:r="http://schemas.openxmlformats.org/officeDocument/2006/relationships" id="273" r:id="R4cb95287cae24e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009c27d624b70" /><Relationship Type="http://schemas.openxmlformats.org/officeDocument/2006/relationships/slideMaster" Target="/ppt/slideMasters/slideMaster1.xml" Id="R3caf3666c2b6423c" /><Relationship Type="http://schemas.openxmlformats.org/officeDocument/2006/relationships/notesMaster" Target="/ppt/notesMasters/notesMaster1.xml" Id="Rcd87c797f8c8411d" /><Relationship Type="http://schemas.openxmlformats.org/officeDocument/2006/relationships/presProps" Target="/ppt/presProps.xml" Id="R44ebefc292514f19" /><Relationship Type="http://schemas.openxmlformats.org/officeDocument/2006/relationships/tableStyles" Target="/ppt/tableStyles.xml" Id="Re1621a3854824d1b" /><Relationship Type="http://schemas.openxmlformats.org/officeDocument/2006/relationships/slide" Target="/ppt/slides/slide1.xml" Id="R960f0abdbc054afa" /><Relationship Type="http://schemas.openxmlformats.org/officeDocument/2006/relationships/slide" Target="/ppt/slides/slide2.xml" Id="R8a5950ba7fb34b5b" /><Relationship Type="http://schemas.openxmlformats.org/officeDocument/2006/relationships/slide" Target="/ppt/slides/slide3.xml" Id="R5b765cce3a9144f2" /><Relationship Type="http://schemas.openxmlformats.org/officeDocument/2006/relationships/slide" Target="/ppt/slides/slide4.xml" Id="R2d38dd2cd4004f10" /><Relationship Type="http://schemas.openxmlformats.org/officeDocument/2006/relationships/slide" Target="/ppt/slides/slide5.xml" Id="R8426e0385bde4344" /><Relationship Type="http://schemas.openxmlformats.org/officeDocument/2006/relationships/slide" Target="/ppt/slides/slide6.xml" Id="R52ea9df5018645bd" /><Relationship Type="http://schemas.openxmlformats.org/officeDocument/2006/relationships/slide" Target="/ppt/slides/slide7.xml" Id="R311327befd804da8" /><Relationship Type="http://schemas.openxmlformats.org/officeDocument/2006/relationships/slide" Target="/ppt/slides/slide8.xml" Id="R361931e886ac42b3" /><Relationship Type="http://schemas.openxmlformats.org/officeDocument/2006/relationships/slide" Target="/ppt/slides/slide9.xml" Id="R9ba1799206cb49f7" /><Relationship Type="http://schemas.openxmlformats.org/officeDocument/2006/relationships/slide" Target="/ppt/slides/slide10.xml" Id="Rff68a4f0664c47f5" /><Relationship Type="http://schemas.openxmlformats.org/officeDocument/2006/relationships/slide" Target="/ppt/slides/slide11.xml" Id="Rec2024b8ed9b4821" /><Relationship Type="http://schemas.openxmlformats.org/officeDocument/2006/relationships/slide" Target="/ppt/slides/slide12.xml" Id="R6b24f365a4df4bb9" /><Relationship Type="http://schemas.openxmlformats.org/officeDocument/2006/relationships/slide" Target="/ppt/slides/slide13.xml" Id="Red6a142d5d454759" /><Relationship Type="http://schemas.openxmlformats.org/officeDocument/2006/relationships/slide" Target="/ppt/slides/slide14.xml" Id="Rc8e9adffd9f1492e" /><Relationship Type="http://schemas.openxmlformats.org/officeDocument/2006/relationships/slide" Target="/ppt/slides/slide15.xml" Id="Re2fa45e8339a4db9" /><Relationship Type="http://schemas.openxmlformats.org/officeDocument/2006/relationships/slide" Target="/ppt/slides/slide16.xml" Id="Rdfbb2400b71a49d8" /><Relationship Type="http://schemas.openxmlformats.org/officeDocument/2006/relationships/slide" Target="/ppt/slides/slide17.xml" Id="R7b2e3c2baebf4e6d" /><Relationship Type="http://schemas.openxmlformats.org/officeDocument/2006/relationships/slide" Target="/ppt/slides/slide18.xml" Id="R4cb95287cae24e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f7088308d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dc0eafa01842f3" /><Relationship Type="http://schemas.openxmlformats.org/officeDocument/2006/relationships/notesMaster" Target="/ppt/notesMasters/notesMaster1.xml" Id="R9e3b2cf4d4f84d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0f9fe80b642cd" /><Relationship Type="http://schemas.openxmlformats.org/officeDocument/2006/relationships/notesMaster" Target="/ppt/notesMasters/notesMaster1.xml" Id="Rbd8e7232a938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3d9974fd394c23" /><Relationship Type="http://schemas.openxmlformats.org/officeDocument/2006/relationships/notesMaster" Target="/ppt/notesMasters/notesMaster1.xml" Id="Re94f009b2ec440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60cfa595b415d" /><Relationship Type="http://schemas.openxmlformats.org/officeDocument/2006/relationships/notesMaster" Target="/ppt/notesMasters/notesMaster1.xml" Id="R7c025da43094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3a3e23a524887" /><Relationship Type="http://schemas.openxmlformats.org/officeDocument/2006/relationships/notesMaster" Target="/ppt/notesMasters/notesMaster1.xml" Id="R6205fb10ff4d47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aca4d79cc45a7" /><Relationship Type="http://schemas.openxmlformats.org/officeDocument/2006/relationships/notesMaster" Target="/ppt/notesMasters/notesMaster1.xml" Id="R475eea94f2da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d696d1edef44ce" /><Relationship Type="http://schemas.openxmlformats.org/officeDocument/2006/relationships/notesMaster" Target="/ppt/notesMasters/notesMaster1.xml" Id="R2520137273c549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1bff367324ba5" /><Relationship Type="http://schemas.openxmlformats.org/officeDocument/2006/relationships/notesMaster" Target="/ppt/notesMasters/notesMaster1.xml" Id="R0c4ed102ab5943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4741f6a6f84a7a" /><Relationship Type="http://schemas.openxmlformats.org/officeDocument/2006/relationships/notesMaster" Target="/ppt/notesMasters/notesMaster1.xml" Id="Rfc71e9f475ec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65d8a2bb74902" /><Relationship Type="http://schemas.openxmlformats.org/officeDocument/2006/relationships/notesMaster" Target="/ppt/notesMasters/notesMaster1.xml" Id="R7b4b6ca89ec048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361b270dba4dce" /><Relationship Type="http://schemas.openxmlformats.org/officeDocument/2006/relationships/notesMaster" Target="/ppt/notesMasters/notesMaster1.xml" Id="R14af409cc2db46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347691abf9415f" /><Relationship Type="http://schemas.openxmlformats.org/officeDocument/2006/relationships/notesMaster" Target="/ppt/notesMasters/notesMaster1.xml" Id="Ra09c7f75c20f40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c592c012b143a8" /><Relationship Type="http://schemas.openxmlformats.org/officeDocument/2006/relationships/notesMaster" Target="/ppt/notesMasters/notesMaster1.xml" Id="Rc0e82b26efe445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557501fdc04ad5" /><Relationship Type="http://schemas.openxmlformats.org/officeDocument/2006/relationships/notesMaster" Target="/ppt/notesMasters/notesMaster1.xml" Id="R5f55f5e6d3684c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a4c632c2274bcb" /><Relationship Type="http://schemas.openxmlformats.org/officeDocument/2006/relationships/notesMaster" Target="/ppt/notesMasters/notesMaster1.xml" Id="R7f207df835894b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dab076ac554bc7" /><Relationship Type="http://schemas.openxmlformats.org/officeDocument/2006/relationships/notesMaster" Target="/ppt/notesMasters/notesMaster1.xml" Id="R2137a34621874e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0f2e94d68c416d" /><Relationship Type="http://schemas.openxmlformats.org/officeDocument/2006/relationships/notesMaster" Target="/ppt/notesMasters/notesMaster1.xml" Id="R729bdcfdcf084d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3edff545cf4d3b" /><Relationship Type="http://schemas.openxmlformats.org/officeDocument/2006/relationships/notesMaster" Target="/ppt/notesMasters/notesMaster1.xml" Id="R4fb15a00ced3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Сегодня я разберу KNIME Analytics Platform как инструмент анализа данных. Сначала покажу, какую основную задачу решает платформа и как устроен визуальный рабочий процесс. Затем разберу прикладной пример прогнозирования оттока клиентов, включая подготовку данных, обучение модели, проверку качества и применение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Доклад отвечает на два вопроса. Первый вопрос касается назначения инструмента. KNIME помогает собрать анализ в виде исполняемой схемы, где видны источники данных, преобразования и итог. Второй вопрос практический. Мы проследим, как такая схема решает задачу прогнозирования оттока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Analytics Platform распространяется бесплатно и имеет открытый исходный код. Пользователь собирает анализ на рабочем поле из узлов. Платформа охватывает загрузку и объединение данных, преобразования, визуализацию и машинное обучение. На официальном сайте указано более трёхсот подключений к источникам данных и сервисам.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https://www.knime.com/get-started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Главная задача KNIME состоит в том, чтобы превратить разрозненные операции анализа в повторяемый рабочий процесс. Схема показывает, откуда пришли данные, какие преобразования выполнены, какая модель обучена и куда передан результат. Такой workflow можно запускать целиком, частями или по отдельным узлам, а затем повторять на новых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https://www.knime.com/why-visual-workflows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Узел в KNIME представляет отдельную задачу. Это может быть чтение файла, фильтрация строк, обучение модели или построение визуализации. Входные и выходные порты передают не только таблицы, но также модели, подключения к базам и параметры. Состояние узла показывает, настроен ли он, выполнен ли успешно или требует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Платформа объединяет разные способы работы. Аналитик может использовать готовые узлы без программирования, а для специальных алгоритмов подключить Python или R. Компоненты позволяют упаковать часть схемы в повторно используемый блок. Такой подход удобен, когда в одной команде работают специалисты с разным уровнем подготовки.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https://docs.knime.com/ap/latest/python_installation_guide/index.html</a:t>
            </a:r>
          </a:p>
          <a:p xmlns:a="http://schemas.openxmlformats.org/drawingml/2006/main">
            <a:r>
              <a:t>https://docs.knime.com/ap/latest/analytics_platform_components_guide/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не означает, что весь объём обязательно загружается в память одного компьютера. Часть операций можно выполнять в базе данных, а Big Data Extensions интегрируют Spark и экосистему Hadoop. Документация указывает поддержку HDFS, Hive, Impala, форматов Parquet и ORC, а расширение Spark предоставляет более шестидесяти узлов для обработки и аналитики.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https://www.knime.com/knime-analytics-platform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рабочем компьютере KNIME Analytics Platform позволяет бесплатно создавать и запускать workflow. Для совместной работы, версий и промышленного исполнения используется KNIME Hub. В Business Hub доступны расписания, интерактивные приложения, сервисы и триггеры. Это важное разграничение, потому что локальная платформа и серверная эксплуатация относятся к разным уровням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https://www.knime.com/knime-hub-pricing</a:t>
            </a:r>
          </a:p>
          <a:p xmlns:a="http://schemas.openxmlformats.org/drawingml/2006/main">
            <a:r>
              <a:t>https://docs.knime.com/hub/latest/business_hub_deployments_guide/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KNIME применяют не только для машинного обучения. В одной и той же среде можно автоматизировать регулярные отчёты, прогнозировать спрос, искать аномалии, анализировать тексты и строить модели обслуживания оборудования. Далее мы подробно рассмотрим один пример, потому что он хорошо показывает полный цикл работы платформы.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https://www.knime.com/blog/machine-learning-in-marketing-analytics</a:t>
            </a:r>
          </a:p>
          <a:p xmlns:a="http://schemas.openxmlformats.org/drawingml/2006/main">
            <a:r>
              <a:t>https://www.knime.com/templates/churn-prediction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В официальном примере используется телеком-набор из трёх тысяч трёхсот тридцати трёх клиентов и двадцати одного признака. Данные о звонках и характеристики договора хранятся в разных файлах. Целевая переменная показывает, ушёл клиент или остался. Класс оттока составляет примерно четырнадцать процентов, поэтому данные несбалансированы.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На схеме виден полный учебный workflow KNIME. Слева загружаются два файла и объединяются записи клиентов. В центре выполняется исследование и подготовка данных. Затем запускается перекрёстная проверка модели случайного леса. Справа узлы Scorer и ROC оценивают качество. Визуальная структура позволяет обсуждать весь процесс на одном экране.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Изображение: https://www.knime.com/sites/default/files/public/1-predicting-customer-churn-marketing-analytics.png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Сначала записи из двух файлов объединяются по идентификатору клиента. Затем KNIME приводит целевую колонку к подходящему типу и помогает исследовать распределения. Из-за малого числа ушедших клиентов применяется SMOTE, который создаёт синтетические примеры меньшего класса. В реальном проекте такую балансировку выполняют только на обучающей части, чтобы не допустить утечку информации в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https://www.knime.com/blog/four-basic-steps-in-data-preparation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Модель случайного леса содержит сто деревьев. Для более надёжной оценки KNIME помещает блок обучения и прогнозирования в цикл из пяти итераций. Каждый раз четыре части данных используются для обучения, а одна часть для проверки. Узел X-Aggregator собирает прогнозы всех итераций, после чего Scorer и ROC рассчитывают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Авторы официального примера получили общую точность 93,8 процента и AUC 0,89. Эти значения показывают, что модель хорошо различает клиентов с разным риском. Однако одна accuracy может вводить в заблуждение при дисбалансе классов. Поэтому необходимо дополнительно смотреть ROC-кривую, precision, recall и цену ошибок для бизнеса.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После обучения модель сохраняется и используется в отдельном workflow. Новые клиентские данные поступают через CSV Reader, Random Forest Predictor рассчитывает вероятность оттока, а компонент визуализации показывает результат. В официальной демонстрации из пяти новых клиентов один получает высокий риск и выделяется на панели. Такой список можно передать службе удержания клиентов.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Изображения: https://www.knime.com/sites/default/files/public/2-predicting-customer-churn-marketing-analytics.png</a:t>
            </a:r>
          </a:p>
          <a:p xmlns:a="http://schemas.openxmlformats.org/drawingml/2006/main">
            <a:r>
              <a:t>https://www.knime.com/sites/default/files/public/3-predicting-customer-churn-marketing-analytics.png</a:t>
            </a:r>
          </a:p>
          <a:p xmlns:a="http://schemas.openxmlformats.org/drawingml/2006/main">
            <a:r>
              <a:t>Описание: 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Перед внедрением оценивают не только общую точность. Важно проверить recall для ушедших клиентов, исключить утечку данных и следить за изменением распределений после запуска. Бизнес-порог выбирают с учётом стоимости контакта и потерь от пропущенного ухода. KNIME помогает связать техническую оценку с последующим правилом действия в одном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https://www.knime.com/blog/visual-scoring-techniques-for-classification-models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Сильная сторона KNIME заключается в прозрачности процесса и возможности повторного запуска. Платформа особенно полезна для смешанных команд, где часть участников работает с готовыми узлами, а часть добавляет код. Ограничения связаны с инфраструктурой. Большие объёмы требуют базы или распределённой среды, а совместная промышленная эксплуатация часто требует KNIME 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https://www.knime.com/knime-hub-pricing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 доклада:</a:t>
            </a:r>
          </a:p>
          <a:p xmlns:a="http://schemas.openxmlformats.org/drawingml/2006/main">
            <a:r>
              <a:t>Итак, KNIME решает задачу построения прозрачного и повторяемого конвейера анализа. В примере с оттоком один workflow готовит данные и обучает модель, а другой применяет её к новым клиентам. Для больших объёмов платформа переносит работу в базу, Spark или Hadoop. Главное преимущество состоит в том, что логика анализа остаётся видимой и проверяемой.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https://www.knime.com/knime-analytics-platform</a:t>
            </a:r>
          </a:p>
          <a:p xmlns:a="http://schemas.openxmlformats.org/drawingml/2006/main">
            <a:r>
              <a:t>https://docs.knime.com/ap/latest/analytics_platform_user_guide/index.html</a:t>
            </a:r>
          </a:p>
          <a:p xmlns:a="http://schemas.openxmlformats.org/drawingml/2006/main">
            <a:r>
              <a:t>https://docs.knime.com/ap/latest/bigdata_extensions_user_guide/</a:t>
            </a:r>
          </a:p>
          <a:p xmlns:a="http://schemas.openxmlformats.org/drawingml/2006/main">
            <a:r>
              <a:t>https://www.knime.com/blog/predict-customer-churn-low-code-ml-example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ca6b23a58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765947a48480c" /><Relationship Type="http://schemas.openxmlformats.org/officeDocument/2006/relationships/slideLayout" Target="/ppt/slideLayouts/slideLayout1.xml" Id="R3f441287b9a7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41287b9a7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25319bac4cf9" /><Relationship Type="http://schemas.openxmlformats.org/officeDocument/2006/relationships/image" Target="/ppt/media/image.png" Id="Rd983eb158e98411b" /><Relationship Type="http://schemas.openxmlformats.org/officeDocument/2006/relationships/notesSlide" Target="/ppt/notesSlides/notesSlide1.xml" Id="Rbc5b16ff899845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3f125df914954" /><Relationship Type="http://schemas.openxmlformats.org/officeDocument/2006/relationships/notesSlide" Target="/ppt/notesSlides/notesSlide2.xml" Id="R37f83752bd83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3392971c4f3c" /><Relationship Type="http://schemas.openxmlformats.org/officeDocument/2006/relationships/notesSlide" Target="/ppt/notesSlides/notesSlide3.xml" Id="R9b407cbd1a1e41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85ce3bf8b49d3" /><Relationship Type="http://schemas.openxmlformats.org/officeDocument/2006/relationships/notesSlide" Target="/ppt/notesSlides/notesSlide4.xml" Id="R8a333476278048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76b8d269f4291" /><Relationship Type="http://schemas.openxmlformats.org/officeDocument/2006/relationships/notesSlide" Target="/ppt/notesSlides/notesSlide5.xml" Id="R16cd459d65c5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74d4808f44f6c" /><Relationship Type="http://schemas.openxmlformats.org/officeDocument/2006/relationships/notesSlide" Target="/ppt/notesSlides/notesSlide6.xml" Id="Rfa0a7c90e2e04a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ea1f5f1ba4e36" /><Relationship Type="http://schemas.openxmlformats.org/officeDocument/2006/relationships/notesSlide" Target="/ppt/notesSlides/notesSlide7.xml" Id="R90a7c336caf6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352176bdb48b7" /><Relationship Type="http://schemas.openxmlformats.org/officeDocument/2006/relationships/notesSlide" Target="/ppt/notesSlides/notesSlide8.xml" Id="R13c860287a7446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cbd465eb84c66" /><Relationship Type="http://schemas.openxmlformats.org/officeDocument/2006/relationships/notesSlide" Target="/ppt/notesSlides/notesSlide9.xml" Id="Rc2108bdb9f344e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0b1c696214cda" /><Relationship Type="http://schemas.openxmlformats.org/officeDocument/2006/relationships/chart" Target="/ppt/slides/charts/chart1.xml" Id="R461ad86f03404140" /><Relationship Type="http://schemas.openxmlformats.org/officeDocument/2006/relationships/notesSlide" Target="/ppt/notesSlides/notesSlide10.xml" Id="R3be180483e7447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cfc86586f4fe6" /><Relationship Type="http://schemas.openxmlformats.org/officeDocument/2006/relationships/image" Target="/ppt/media/image2.png" Id="Rebe3b1ed07d64628" /><Relationship Type="http://schemas.openxmlformats.org/officeDocument/2006/relationships/notesSlide" Target="/ppt/notesSlides/notesSlide11.xml" Id="Re57a1885119b4d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e49ee42e442cf" /><Relationship Type="http://schemas.openxmlformats.org/officeDocument/2006/relationships/notesSlide" Target="/ppt/notesSlides/notesSlide12.xml" Id="R091598214e7547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217dc23cb4aad" /><Relationship Type="http://schemas.openxmlformats.org/officeDocument/2006/relationships/notesSlide" Target="/ppt/notesSlides/notesSlide13.xml" Id="R3c8c2056c2514f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45d991d3740fd" /><Relationship Type="http://schemas.openxmlformats.org/officeDocument/2006/relationships/notesSlide" Target="/ppt/notesSlides/notesSlide14.xml" Id="R12130489c3da4d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aae534014425" /><Relationship Type="http://schemas.openxmlformats.org/officeDocument/2006/relationships/image" Target="/ppt/media/image3.png" Id="R0192974fce554932" /><Relationship Type="http://schemas.openxmlformats.org/officeDocument/2006/relationships/image" Target="/ppt/media/image4.png" Id="R5f9b99e7844b4611" /><Relationship Type="http://schemas.openxmlformats.org/officeDocument/2006/relationships/notesSlide" Target="/ppt/notesSlides/notesSlide15.xml" Id="Reef428962ef14a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41eeda1174b03" /><Relationship Type="http://schemas.openxmlformats.org/officeDocument/2006/relationships/notesSlide" Target="/ppt/notesSlides/notesSlide16.xml" Id="R074f96b225a247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692fc1ea1442e" /><Relationship Type="http://schemas.openxmlformats.org/officeDocument/2006/relationships/notesSlide" Target="/ppt/notesSlides/notesSlide17.xml" Id="R1f9c4afad65f40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941b9199242bc" /><Relationship Type="http://schemas.openxmlformats.org/officeDocument/2006/relationships/notesSlide" Target="/ppt/notesSlides/notesSlide18.xml" Id="Rdceb89ef3ffd43b4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Доля клиентов</c:v>
          </c:tx>
          <c:dPt>
            <c:idx val="0"/>
            <c:spPr>
              <a:solidFill xmlns:a="http://schemas.openxmlformats.org/drawingml/2006/main">
                <a:srgbClr val="3F7CAC"/>
              </a:solidFill>
            </c:spPr>
          </c:dPt>
          <c:dPt>
            <c:idx val="1"/>
            <c:spPr>
              <a:solidFill xmlns:a="http://schemas.openxmlformats.org/drawingml/2006/main">
                <a:srgbClr val="F18D3A"/>
              </a:solidFill>
            </c:spPr>
          </c:dPt>
          <c:cat>
            <c:strLit>
              <c:ptCount val="2"/>
              <c:pt idx="0">
                <c:v>Остались</c:v>
              </c:pt>
              <c:pt idx="1">
                <c:v>Ушли</c:v>
              </c:pt>
            </c:strLit>
          </c:cat>
          <c:val>
            <c:numLit>
              <c:formatCode>General</c:formatCode>
              <c:ptCount val="2"/>
              <c:pt idx="0">
                <c:v>86</c:v>
              </c:pt>
              <c:pt idx="1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2"/>
      </c:doughnutChart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3eb158e9841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FDC80-5395-4E64-8F5C-D2FFAAE9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0B0B"/>
              </a:gs>
              <a:gs pos="100000">
                <a:srgbClr val="0B0B0B">
                  <a:alpha val="86667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19D6-4526-42EC-9563-9136B61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Технологии и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инструментарий анализа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больших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D5502-49FB-4A24-A95D-00588FE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7575B-F72C-458E-89E1-B4B4557E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Визуальные рабочие процессы от данных до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443566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FE489-E123-46DF-B751-124FF0E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9A72-C47D-499D-A93A-B67F0C9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Два вопроса доклада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730E-3103-4AF6-86F2-5259574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974DE-B0B6-4E8B-B488-2971FA2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ACBAB-6210-482C-A8D6-5CE4BFFB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A2E6-0B88-42FE-94B3-04AAB145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Визуальный workflow для повторяемого анализа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6A213-CCBB-4FAA-A862-38895CF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AAA28-D112-4370-8E72-DF502EFE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14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FC532-EACF-43F7-AA59-C3C1725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Прикладной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C7D54-68C4-41BE-AEC6-B3E0AC6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Прогноз оттока на исторических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08399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F1926-2A44-44CA-9D48-41293C53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54978-5FD8-483C-ACBE-1B26790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KNIME Analytics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440B-F4AD-4C2A-8929-260C4D7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Свободная платформа с открытым исходным кодом для визуального анализа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C0D69-69D3-4DDA-9FB8-16DB746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AE57-10D8-4F1E-A05D-4C65F6E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2381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DE696-4A1E-452F-A3EC-578A9B9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228FA-190A-4FF7-82A1-D69B218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4048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91250" y="4048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048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3A5EF-D008-4486-9250-6E9462DC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300+ подключений к источникам и сервисам</a:t>
            </a:r>
          </a:p>
        </p:txBody>
      </p:sp>
    </p:spTree>
    <p:extLst>
      <p:ext uri="{BB962C8B-B14F-4D97-AF65-F5344CB8AC3E}">
        <p14:creationId xmlns:p14="http://schemas.microsoft.com/office/powerpoint/2010/main" val="1833406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964D-BCE7-45F9-9F00-CC6375D6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C29CD-02A9-4A85-B53D-D615890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Основная задача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448FF-FF00-4170-A351-CA7B9AD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Собрать повторяемый анализ как наглядную исполняемую схему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459F0-FEC0-4A4E-99A5-D682A53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8A279-26A3-421E-B0CD-3DB6A53F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ОЧИСТКА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A21E0-9597-49A7-B866-35AD6CA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7317C-05CA-4755-A37F-0289C368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A1B6A-3B70-4B49-8F0D-64BA967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76625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48500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8212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4CC7C-7463-47D8-A793-31E8826A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хранит порядок действий, настройки узлов и связи между ними</a:t>
            </a:r>
          </a:p>
        </p:txBody>
      </p:sp>
    </p:spTree>
    <p:extLst>
      <p:ext uri="{BB962C8B-B14F-4D97-AF65-F5344CB8AC3E}">
        <p14:creationId xmlns:p14="http://schemas.microsoft.com/office/powerpoint/2010/main" val="1035505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D6061-5770-4405-B2F3-4C5F96D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94C32-F201-4560-A25D-26EE893A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Узлы и связи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067E-94F9-47C3-807F-5D6333E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CSV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995BE-FCDC-4FB8-9004-A5AD896C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ROW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74B57-DADF-4BDB-AB07-2345EF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62325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32385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D1DD7-5265-4A08-A481-4949B69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1430-C6B4-4D53-B09C-390300D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ADD7B-4485-4C1D-8DCF-E8A246C6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Каждый узел выполняет одну операцию. Порты передают таблицы, модели или параметры.</a:t>
            </a:r>
          </a:p>
        </p:txBody>
      </p:sp>
    </p:spTree>
    <p:extLst>
      <p:ext uri="{BB962C8B-B14F-4D97-AF65-F5344CB8AC3E}">
        <p14:creationId xmlns:p14="http://schemas.microsoft.com/office/powerpoint/2010/main" val="1461019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ED1C8-5225-4304-8351-716213A2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D1554-9F45-4E0C-A358-98E1417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Единая среда анализа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00224-F6B3-4B60-A48B-B26AC8E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defRPr sz="36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79C44-9CD4-4449-AF1C-5FFC663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ФАЙЛЫ И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53B40-04C6-498F-BB37-337EA774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И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FAEB-434F-4318-9E1D-2BB59A40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66875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 И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22201-7F11-4FF4-9D80-213FD169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91000"/>
            <a:ext cx="2714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4004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4004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"/>
          <p:cNvCxnSpPr>
            <a:stCxn xmlns:a="http://schemas.openxmlformats.org/drawingml/2006/main" id="3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667625" y="2238375"/>
            <a:ext cx="11239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"/>
          <p:cNvCxnSpPr>
            <a:stCxn xmlns:a="http://schemas.openxmlformats.org/drawingml/2006/main" id="3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67625" y="3429000"/>
            <a:ext cx="11239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98A90-C45D-4257-9061-6277C856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No-code и low-code дополняются кодом там, где он действительно нужен</a:t>
            </a:r>
          </a:p>
        </p:txBody>
      </p:sp>
    </p:spTree>
    <p:extLst>
      <p:ext uri="{BB962C8B-B14F-4D97-AF65-F5344CB8AC3E}">
        <p14:creationId xmlns:p14="http://schemas.microsoft.com/office/powerpoint/2010/main" val="2114720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205EF-5875-4960-A82F-76AFF291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14355-DD8F-4679-B5BE-4DF8699E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большими данными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34183-657A-4A76-ACFF-91F7778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Вычисления размещаются ближе к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C23AF-3741-4196-9275-E64F6FA0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2C82C-7E04-4295-AC1E-77877AB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БАЗЕ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451ED-2B78-4C50-ABE3-999A722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98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FB54E-98A7-4C9B-B8C8-20139BC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файлы и память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FA56F-98FC-4E9C-8979-1C558753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и pushdown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5BA7-2D89-4FD3-BFA2-3550D27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196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Hadoop и Databricks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4AF0E-6258-404A-8785-B2ADE1EB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769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Parquet, ORC, HDFS, Hive, Impala</a:t>
            </a:r>
          </a:p>
        </p:txBody>
      </p:sp>
    </p:spTree>
    <p:extLst>
      <p:ext uri="{BB962C8B-B14F-4D97-AF65-F5344CB8AC3E}">
        <p14:creationId xmlns:p14="http://schemas.microsoft.com/office/powerpoint/2010/main" val="1672309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12717-4CDE-4DA4-8C20-3CFF285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8472F-52AE-435B-884D-557F31E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 прототипа к эксплуатации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C08A4-8E69-41EF-905C-DD24A356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ANALYTICS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A06D6-BF5B-4AE6-9A8B-84F9B7F6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B2B92-E219-4415-A386-00AD524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0897C-5CE0-4D14-A7B6-EA0DA22C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создание и локальный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836BF-24AB-40BF-BF35-735423E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версии, расписание, сервисы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9D99D-D898-4B26-AA9F-B1204A6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data app, API, отчёт</a:t>
            </a:r>
          </a:p>
        </p:txBody>
      </p:sp>
    </p:spTree>
    <p:extLst>
      <p:ext uri="{BB962C8B-B14F-4D97-AF65-F5344CB8AC3E}">
        <p14:creationId xmlns:p14="http://schemas.microsoft.com/office/powerpoint/2010/main" val="1873240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D8F68-9500-4C4C-8C03-BC6930F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B8700-1734-423B-90FC-E7A3FCF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Прикладные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B07AD-3BEB-42A1-8567-67393F9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3E963-6534-49B9-83A3-C44568B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00780-47A8-467C-B2B1-8D9172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АНОМАЛИИ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5C102-CD24-4EC5-B7BA-DDD983D8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E3EAF-273E-4F08-98E4-E89AFA5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CC9B4-D0E3-456B-A7B4-DBA8EC8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143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</p:spTree>
    <p:extLst>
      <p:ext uri="{BB962C8B-B14F-4D97-AF65-F5344CB8AC3E}">
        <p14:creationId xmlns:p14="http://schemas.microsoft.com/office/powerpoint/2010/main" val="1021846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0A991-8BCC-4F21-BC11-89C7535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04044-D58E-4C3B-8A10-1E78AC5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Кейс: прогноз оттока клиентов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4BC19-5AF1-4B7E-A874-1853797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Цель: оценить вероятность ухода каждого абонента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4762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1ad86f0340414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FAD9-D672-4AB6-9D9C-2E8674F5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4EAD6-FF0D-447F-A83F-AC1B6C7E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3F7CA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F7CAC"/>
                </a:solidFill>
                <a:latin typeface="Arial"/>
                <a:ea typeface="Arial"/>
                <a:cs typeface="Arial"/>
              </a:rPr>
              <a:t>остались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54CE-FC0D-4FDF-9C90-514BD52D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18D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18D3A"/>
                </a:solidFill>
                <a:latin typeface="Arial"/>
                <a:ea typeface="Arial"/>
                <a:cs typeface="Arial"/>
              </a:rPr>
              <a:t>14% ушли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55954-44F5-4677-82A3-CD0C626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ЗВОНКИ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50F15-07ED-4022-AD44-C6CEA4B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ДОГОВОР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8B614-C392-4D70-B791-228BB7E6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cxnSp>
        <p:nvCxnSpPr>
          <p:cNvPr id="24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2000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048750" y="3619500"/>
            <a:ext cx="1428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4676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B9F56-F0CC-4542-9E1B-20AB5A4C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864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3 333 клиента, 21 признак</a:t>
            </a:r>
          </a:p>
        </p:txBody>
      </p:sp>
    </p:spTree>
    <p:extLst>
      <p:ext uri="{BB962C8B-B14F-4D97-AF65-F5344CB8AC3E}">
        <p14:creationId xmlns:p14="http://schemas.microsoft.com/office/powerpoint/2010/main" val="70327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9BA2-37AD-4F2B-9CD5-D0C6BCF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8FA4A-F67F-4D40-B4E8-1284AFF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Учебный workflow целиком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b1ed07d64628"/>
          <a:stretch xmlns:a="http://schemas.openxmlformats.org/drawingml/2006/main"/>
        </p:blipFill>
        <p:spPr>
          <a:xfrm xmlns:a="http://schemas.openxmlformats.org/drawingml/2006/main">
            <a:off x="1624820" y="1524000"/>
            <a:ext cx="894236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26865-601F-4920-9CED-A993E95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     Подготовка     Обучение     Оценка</a:t>
            </a:r>
          </a:p>
        </p:txBody>
      </p:sp>
    </p:spTree>
    <p:extLst>
      <p:ext uri="{BB962C8B-B14F-4D97-AF65-F5344CB8AC3E}">
        <p14:creationId xmlns:p14="http://schemas.microsoft.com/office/powerpoint/2010/main" val="285922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FBB82-8F61-4455-A20D-CB1F553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8C45B-8393-47E4-81EF-BE75E88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AFFEE-ADB0-426C-A20F-ED85BE3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871A3-A750-4DA9-A486-97FE400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ED916-5378-4821-80A5-BE416D4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ОБЗОР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D2482-480E-44B2-B21F-8FFD274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140E7-A2B0-405E-901D-694DFED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285875" cy="1428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77B255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ML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24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00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953625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DD8D1-ED48-46E0-947D-763135B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SMOTE создаёт синтетические примеры редкого класса только внутри обучающей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1680990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14E0F-1CB1-4FCF-AE57-5C8585B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87DD3-0D90-4DA9-B3C7-67694CE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Обучение и проверка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45355-0DA1-4F3A-B6B3-2426538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5-кратная перекрёстная 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CC6DF-2FFA-48BB-821D-AEA29924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D312F-FFB3-46F4-884A-54CF05B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18563-1DB6-4182-A8A9-90E9A95C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F183E-22CD-494A-8C6C-8C28745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75C7A-C320-44D4-9154-048CACBE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7D228-3D15-46DD-9601-1E570D3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EF2A9-0F79-479B-A4EA-9A4079C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46BB5-0FA0-4181-9577-4876EEE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2392E-9E78-4B7F-8E72-AD1FA002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D3A"/>
          </a:solidFill>
          <a:ln xmlns:a="http://schemas.openxmlformats.org/drawingml/2006/main" w="19050">
            <a:solidFill>
              <a:srgbClr val="17171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0AEE1-3ABD-4AC2-9E6B-8214B061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9714C-8E21-49FB-9362-072130A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 каждой итерации 80% данных обучают модель, 20% проверяют её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FDBDF-5494-44ED-8DE0-A9E45631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436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4676D"/>
                </a:solidFill>
                <a:latin typeface="Arial"/>
                <a:ea typeface="Arial"/>
                <a:cs typeface="Arial"/>
              </a:rPr>
              <a:t>Random Forest: 100 деревьев</a:t>
            </a:r>
          </a:p>
        </p:txBody>
      </p:sp>
    </p:spTree>
    <p:extLst>
      <p:ext uri="{BB962C8B-B14F-4D97-AF65-F5344CB8AC3E}">
        <p14:creationId xmlns:p14="http://schemas.microsoft.com/office/powerpoint/2010/main" val="2101881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E67D2-147C-4ABC-ADD2-D7DEECD5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A8FF6-86A7-4E7D-91C3-1E19A90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Результат официального примера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7DE62-3D1D-4614-BC28-45E6CA9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86417-87A4-4C96-BE90-8896468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D800"/>
                </a:solidFill>
                <a:latin typeface="Arial"/>
                <a:ea typeface="Arial"/>
                <a:cs typeface="Arial"/>
              </a:rPr>
              <a:t>93,8%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24DA5-E6EB-4D71-819E-ADCC55B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E0754-CB4D-4404-A22D-E6B2739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476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B28D7-2D1D-46CF-94EC-F4FEDBA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C599F-470B-4210-8BDE-80923E6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71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7D8E8-1F99-4101-945A-15F259E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64676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4676D"/>
                </a:solidFill>
                <a:latin typeface="Arial"/>
                <a:ea typeface="Arial"/>
                <a:cs typeface="Arial"/>
              </a:rPr>
              <a:t>Из-за дисбаланса классов accuracy оценивают вместе с ROC, precision и recall</a:t>
            </a:r>
          </a:p>
        </p:txBody>
      </p:sp>
    </p:spTree>
    <p:extLst>
      <p:ext uri="{BB962C8B-B14F-4D97-AF65-F5344CB8AC3E}">
        <p14:creationId xmlns:p14="http://schemas.microsoft.com/office/powerpoint/2010/main" val="1494938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E400A-BAA7-4EAF-B282-CF9774F2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B7259-6D07-42C4-AD6C-FAEF00A7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Применение модели к новым клиентам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2974fce554932"/>
          <a:stretch xmlns:a="http://schemas.openxmlformats.org/drawingml/2006/main"/>
        </p:blipFill>
        <p:spPr>
          <a:xfrm xmlns:a="http://schemas.openxmlformats.org/drawingml/2006/main">
            <a:off x="523875" y="1761204"/>
            <a:ext cx="5334000" cy="3621342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b99e7844b4611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71625"/>
            <a:ext cx="5429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24074-9AAD-467F-AA4F-0E997B5E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Workflow расчёта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D0E34-7EAC-4448-A794-FCDE811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Риск по каждому клиенту</a:t>
            </a:r>
          </a:p>
        </p:txBody>
      </p:sp>
    </p:spTree>
    <p:extLst>
      <p:ext uri="{BB962C8B-B14F-4D97-AF65-F5344CB8AC3E}">
        <p14:creationId xmlns:p14="http://schemas.microsoft.com/office/powerpoint/2010/main" val="1370222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C4B1-6FE2-4EFD-9148-1F35D667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4796C-D1B2-4A96-B959-713E501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проверять перед внедрением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33736-393F-4D82-9E21-CD6672E6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E6DD4-3CFC-481F-8442-39936CB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19272-FEEA-4A2A-8FE9-F2B18A8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качество редкого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утечка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изменение распределений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EE409-2E69-459C-B7F8-34714F0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4762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B7C86-91E3-4FE8-B5FB-3715AFE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БИЗНЕС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CACA8-487B-4CB3-A6E4-C5A7CF78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стоимость контакта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цена пропущенного ухода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порог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1047406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DA26F-3EE6-4EC1-AFE0-DA40C6DF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D338F-8C26-400D-9A3E-8C66696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Сильные стороны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436A8-70A8-4BB4-A6AE-22D16D43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F7AF5-F544-458E-AE1E-EAE79AC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2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9E965-688C-4CC6-B1D9-5ECEE9E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наглядные процессы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повторяемая аналитика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команды разного профиля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9199A-4138-468B-837A-581D1347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716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УЧЕСТЬ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46898-8BEB-46B5-AC98-3321765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476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D4F25-9B47-4906-B4EC-70FD2F66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3943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ресурсы рабочего ПК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настройку Spark и БД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лицензию для Hub</a:t>
            </a:r>
          </a:p>
        </p:txBody>
      </p:sp>
    </p:spTree>
    <p:extLst>
      <p:ext uri="{BB962C8B-B14F-4D97-AF65-F5344CB8AC3E}">
        <p14:creationId xmlns:p14="http://schemas.microsoft.com/office/powerpoint/2010/main" val="13612934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E2AF2-578D-4698-9DE3-DC6EE352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4F5D-5BFB-4C97-858A-77815F2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8EA5F-E9F9-4928-BB00-961A0E4B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KNIME превращает анализ данных в понятный и исполняемый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A7EC8-ED04-4322-B64A-4C720477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6DE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9134C-CDE4-45A9-A8CB-1D7BF90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4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3C56D-88DB-4ACC-A169-3A648A5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0C6D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4095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FFFF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C4469-F8C9-41EB-B830-3A69744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>
                <a:solidFill>
                  <a:srgbClr val="FFD80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D800"/>
                </a:solidFill>
                <a:latin typeface="Arial"/>
                <a:ea typeface="Arial"/>
                <a:cs typeface="Arial"/>
              </a:rPr>
              <a:t>Основные источники: knime.com и docs.knime.com</a:t>
            </a:r>
          </a:p>
        </p:txBody>
      </p:sp>
    </p:spTree>
    <p:extLst>
      <p:ext uri="{BB962C8B-B14F-4D97-AF65-F5344CB8AC3E}">
        <p14:creationId xmlns:p14="http://schemas.microsoft.com/office/powerpoint/2010/main" val="2010088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2026-09-13T08:43:41.4380000Z</dcterms:created>
  <dcterms:modified xsi:type="dcterms:W3CDTF">2026-09-13T08:43:41.4380000Z</dcterms:modified>
</coreProperties>
</file>