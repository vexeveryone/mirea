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e6cf97375c47c6" /><Relationship Type="http://schemas.openxmlformats.org/officeDocument/2006/relationships/extended-properties" Target="/docProps/app.xml" Id="R0bd45507a6214599" /><Relationship Type="http://schemas.openxmlformats.org/officeDocument/2006/relationships/officeDocument" Target="/ppt/presentation.xml" Id="R4bd082f908e8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7c7605f4b9498b"/>
  </p:sldMasterIdLst>
  <p:notesMasterIdLst>
    <p:notesMasterId xmlns:r="http://schemas.openxmlformats.org/officeDocument/2006/relationships" r:id="R61d814f7611c4f8d"/>
  </p:notesMasterIdLst>
  <p:sldIdLst>
    <p:sldId xmlns:r="http://schemas.openxmlformats.org/officeDocument/2006/relationships" id="256" r:id="R707d40141cd2470a"/>
    <p:sldId xmlns:r="http://schemas.openxmlformats.org/officeDocument/2006/relationships" id="257" r:id="R66de911bb6ee41c2"/>
    <p:sldId xmlns:r="http://schemas.openxmlformats.org/officeDocument/2006/relationships" id="258" r:id="R30e0d3eee1ad48c0"/>
    <p:sldId xmlns:r="http://schemas.openxmlformats.org/officeDocument/2006/relationships" id="259" r:id="Rc477bcf3918a4101"/>
    <p:sldId xmlns:r="http://schemas.openxmlformats.org/officeDocument/2006/relationships" id="260" r:id="R4dbb8a01aba9493b"/>
    <p:sldId xmlns:r="http://schemas.openxmlformats.org/officeDocument/2006/relationships" id="261" r:id="Rd35331d12d31431d"/>
    <p:sldId xmlns:r="http://schemas.openxmlformats.org/officeDocument/2006/relationships" id="262" r:id="R4ea29e9a35644d1e"/>
    <p:sldId xmlns:r="http://schemas.openxmlformats.org/officeDocument/2006/relationships" id="263" r:id="Rbd019f4d03804461"/>
    <p:sldId xmlns:r="http://schemas.openxmlformats.org/officeDocument/2006/relationships" id="264" r:id="R6303617441604476"/>
    <p:sldId xmlns:r="http://schemas.openxmlformats.org/officeDocument/2006/relationships" id="265" r:id="Rde2cfaed0e9244da"/>
    <p:sldId xmlns:r="http://schemas.openxmlformats.org/officeDocument/2006/relationships" id="266" r:id="R2b63145272be4599"/>
    <p:sldId xmlns:r="http://schemas.openxmlformats.org/officeDocument/2006/relationships" id="267" r:id="Rf2ef9c8579c047dd"/>
    <p:sldId xmlns:r="http://schemas.openxmlformats.org/officeDocument/2006/relationships" id="268" r:id="R136736292d5040a0"/>
    <p:sldId xmlns:r="http://schemas.openxmlformats.org/officeDocument/2006/relationships" id="269" r:id="R12db21ac5b4c4fcf"/>
    <p:sldId xmlns:r="http://schemas.openxmlformats.org/officeDocument/2006/relationships" id="270" r:id="R8d6a02e7f4474dfc"/>
    <p:sldId xmlns:r="http://schemas.openxmlformats.org/officeDocument/2006/relationships" id="271" r:id="Ra8e3b206326e4e7c"/>
    <p:sldId xmlns:r="http://schemas.openxmlformats.org/officeDocument/2006/relationships" id="272" r:id="Re69ea3fff3f1406e"/>
    <p:sldId xmlns:r="http://schemas.openxmlformats.org/officeDocument/2006/relationships" id="273" r:id="Rb33ef3da3d014a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375a994b1a443e" /><Relationship Type="http://schemas.openxmlformats.org/officeDocument/2006/relationships/slideMaster" Target="/ppt/slideMasters/slideMaster1.xml" Id="R197c7605f4b9498b" /><Relationship Type="http://schemas.openxmlformats.org/officeDocument/2006/relationships/notesMaster" Target="/ppt/notesMasters/notesMaster1.xml" Id="R61d814f7611c4f8d" /><Relationship Type="http://schemas.openxmlformats.org/officeDocument/2006/relationships/presProps" Target="/ppt/presProps.xml" Id="R14bc367aee4e4448" /><Relationship Type="http://schemas.openxmlformats.org/officeDocument/2006/relationships/tableStyles" Target="/ppt/tableStyles.xml" Id="R9139dc122c0e409b" /><Relationship Type="http://schemas.openxmlformats.org/officeDocument/2006/relationships/slide" Target="/ppt/slides/slide1.xml" Id="R707d40141cd2470a" /><Relationship Type="http://schemas.openxmlformats.org/officeDocument/2006/relationships/slide" Target="/ppt/slides/slide2.xml" Id="R66de911bb6ee41c2" /><Relationship Type="http://schemas.openxmlformats.org/officeDocument/2006/relationships/slide" Target="/ppt/slides/slide3.xml" Id="R30e0d3eee1ad48c0" /><Relationship Type="http://schemas.openxmlformats.org/officeDocument/2006/relationships/slide" Target="/ppt/slides/slide4.xml" Id="Rc477bcf3918a4101" /><Relationship Type="http://schemas.openxmlformats.org/officeDocument/2006/relationships/slide" Target="/ppt/slides/slide5.xml" Id="R4dbb8a01aba9493b" /><Relationship Type="http://schemas.openxmlformats.org/officeDocument/2006/relationships/slide" Target="/ppt/slides/slide6.xml" Id="Rd35331d12d31431d" /><Relationship Type="http://schemas.openxmlformats.org/officeDocument/2006/relationships/slide" Target="/ppt/slides/slide7.xml" Id="R4ea29e9a35644d1e" /><Relationship Type="http://schemas.openxmlformats.org/officeDocument/2006/relationships/slide" Target="/ppt/slides/slide8.xml" Id="Rbd019f4d03804461" /><Relationship Type="http://schemas.openxmlformats.org/officeDocument/2006/relationships/slide" Target="/ppt/slides/slide9.xml" Id="R6303617441604476" /><Relationship Type="http://schemas.openxmlformats.org/officeDocument/2006/relationships/slide" Target="/ppt/slides/slide10.xml" Id="Rde2cfaed0e9244da" /><Relationship Type="http://schemas.openxmlformats.org/officeDocument/2006/relationships/slide" Target="/ppt/slides/slide11.xml" Id="R2b63145272be4599" /><Relationship Type="http://schemas.openxmlformats.org/officeDocument/2006/relationships/slide" Target="/ppt/slides/slide12.xml" Id="Rf2ef9c8579c047dd" /><Relationship Type="http://schemas.openxmlformats.org/officeDocument/2006/relationships/slide" Target="/ppt/slides/slide13.xml" Id="R136736292d5040a0" /><Relationship Type="http://schemas.openxmlformats.org/officeDocument/2006/relationships/slide" Target="/ppt/slides/slide14.xml" Id="R12db21ac5b4c4fcf" /><Relationship Type="http://schemas.openxmlformats.org/officeDocument/2006/relationships/slide" Target="/ppt/slides/slide15.xml" Id="R8d6a02e7f4474dfc" /><Relationship Type="http://schemas.openxmlformats.org/officeDocument/2006/relationships/slide" Target="/ppt/slides/slide16.xml" Id="Ra8e3b206326e4e7c" /><Relationship Type="http://schemas.openxmlformats.org/officeDocument/2006/relationships/slide" Target="/ppt/slides/slide17.xml" Id="Re69ea3fff3f1406e" /><Relationship Type="http://schemas.openxmlformats.org/officeDocument/2006/relationships/slide" Target="/ppt/slides/slide18.xml" Id="Rb33ef3da3d014a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c69b586114a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e0e2c21644728" /><Relationship Type="http://schemas.openxmlformats.org/officeDocument/2006/relationships/notesMaster" Target="/ppt/notesMasters/notesMaster1.xml" Id="R7b0fdbb1b7cd4d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56ad08d6404513" /><Relationship Type="http://schemas.openxmlformats.org/officeDocument/2006/relationships/notesMaster" Target="/ppt/notesMasters/notesMaster1.xml" Id="R06ca6ad0e16647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100f6f27804185" /><Relationship Type="http://schemas.openxmlformats.org/officeDocument/2006/relationships/notesMaster" Target="/ppt/notesMasters/notesMaster1.xml" Id="R3e8146511bc044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736983f0af4be5" /><Relationship Type="http://schemas.openxmlformats.org/officeDocument/2006/relationships/notesMaster" Target="/ppt/notesMasters/notesMaster1.xml" Id="R790a5bdfe0a441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fd1e1c2fb546fb" /><Relationship Type="http://schemas.openxmlformats.org/officeDocument/2006/relationships/notesMaster" Target="/ppt/notesMasters/notesMaster1.xml" Id="R0fd624bcf8a3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f162ba39064c13" /><Relationship Type="http://schemas.openxmlformats.org/officeDocument/2006/relationships/notesMaster" Target="/ppt/notesMasters/notesMaster1.xml" Id="R950cfe9fa72947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49612558d4c42" /><Relationship Type="http://schemas.openxmlformats.org/officeDocument/2006/relationships/notesMaster" Target="/ppt/notesMasters/notesMaster1.xml" Id="R2a06c3bf31af40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fb3cf808ec412c" /><Relationship Type="http://schemas.openxmlformats.org/officeDocument/2006/relationships/notesMaster" Target="/ppt/notesMasters/notesMaster1.xml" Id="R4b0c958587be49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d12312c9254aac" /><Relationship Type="http://schemas.openxmlformats.org/officeDocument/2006/relationships/notesMaster" Target="/ppt/notesMasters/notesMaster1.xml" Id="R1945e72b762045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65d2560ae240fa" /><Relationship Type="http://schemas.openxmlformats.org/officeDocument/2006/relationships/notesMaster" Target="/ppt/notesMasters/notesMaster1.xml" Id="Rfd6f1ade31d243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cbf21ada9544f1" /><Relationship Type="http://schemas.openxmlformats.org/officeDocument/2006/relationships/notesMaster" Target="/ppt/notesMasters/notesMaster1.xml" Id="R12d573b1698443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6efa4687d24c76" /><Relationship Type="http://schemas.openxmlformats.org/officeDocument/2006/relationships/notesMaster" Target="/ppt/notesMasters/notesMaster1.xml" Id="R6a37f294865542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96800a541041ab" /><Relationship Type="http://schemas.openxmlformats.org/officeDocument/2006/relationships/notesMaster" Target="/ppt/notesMasters/notesMaster1.xml" Id="R198c3a3673364e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25f0e89891416b" /><Relationship Type="http://schemas.openxmlformats.org/officeDocument/2006/relationships/notesMaster" Target="/ppt/notesMasters/notesMaster1.xml" Id="R6b3a77ab315f42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830e13cd3a4dd9" /><Relationship Type="http://schemas.openxmlformats.org/officeDocument/2006/relationships/notesMaster" Target="/ppt/notesMasters/notesMaster1.xml" Id="Rcaf2c376947d46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7cfd8b93864c99" /><Relationship Type="http://schemas.openxmlformats.org/officeDocument/2006/relationships/notesMaster" Target="/ppt/notesMasters/notesMaster1.xml" Id="R103554fd1b2742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a2f9d18eba4977" /><Relationship Type="http://schemas.openxmlformats.org/officeDocument/2006/relationships/notesMaster" Target="/ppt/notesMasters/notesMaster1.xml" Id="R9e2b5e04704f49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6df147625f4da7" /><Relationship Type="http://schemas.openxmlformats.org/officeDocument/2006/relationships/notesMaster" Target="/ppt/notesMasters/notesMaster1.xml" Id="Rb95143e1525b47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Сегодня я разберу KNIME Analytics Platform как инструмент анализа данных. Сначала покажу, какую основную задачу решает платформа и как устроен визуальный рабочий процесс. Затем разберу прикладной пример прогнозирования оттока клиентов, включая подготовку данных, обучение модели, проверку качества и применение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Доклад отвечает на два вопроса. Первый вопрос касается назначения инструмента. KNIME помогает собрать анализ в виде исполняемой схемы, где видны источники данных, преобразования и итог. Второй вопрос практический. Мы проследим, как такая схема решает задачу прогнозирования оттока клиентов.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Analytics Platform распространяется бесплатно и имеет открытый исходный код. Пользователь собирает анализ на рабочем поле из узлов. Платформа охватывает загрузку и объединение данных, преобразования, визуализацию и машинное обучение. На официальном сайте указано более трёхсот подключений к источникам данных и сервисам.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https://www.knime.com/get-started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Главная задача KNIME состоит в том, чтобы превратить разрозненные операции анализа в повторяемый рабочий процесс. Схема показывает, откуда пришли данные, какие преобразования выполнены, какая модель обучена и куда передан результат. Такой workflow можно запускать целиком, частями или по отдельным узлам, а затем повторять на новых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https://www.knime.com/why-visual-workflows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Узел в KNIME представляет отдельную задачу. Это может быть чтение файла, фильтрация строк, обучение модели или построение визуализации. Входные и выходные порты передают не только таблицы, но также модели, подключения к базам и параметры. Состояние узла показывает, настроен ли он, выполнен ли успешно или требует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Платформа объединяет разные способы работы. Аналитик может использовать готовые узлы без программирования, а для специальных алгоритмов подключить Python или R. Компоненты позволяют упаковать часть схемы в повторно используемый блок. Такой подход удобен, когда в одной команде работают специалисты с разным уровнем подготовки.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https://docs.knime.com/ap/latest/python_installation_guide/index.html</a:t>
            </a:r>
          </a:p>
          <a:p xmlns:a="http://schemas.openxmlformats.org/drawingml/2006/main">
            <a:r>
              <a:t>https://docs.knime.com/ap/latest/analytics_platform_components_guide/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не означает, что весь объём обязательно загружается в память одного компьютера. Часть операций можно выполнять в базе данных, а Big Data Extensions интегрируют Spark и экосистему Hadoop. Документация указывает поддержку HDFS, Hive, Impala, форматов Parquet и ORC, а расширение Spark предоставляет более шестидесяти узлов для обработки и аналитики.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https://www.knime.com/knime-analytics-platform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На рабочем компьютере KNIME Analytics Platform позволяет бесплатно создавать и запускать workflow. Для совместной работы, версий и промышленного исполнения используется KNIME Hub. В Business Hub доступны расписания, интерактивные приложения, сервисы и триггеры. Это важное разграничение, потому что локальная платформа и серверная эксплуатация относятся к разным уровням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https://www.knime.com/knime-hub-pricing</a:t>
            </a:r>
          </a:p>
          <a:p xmlns:a="http://schemas.openxmlformats.org/drawingml/2006/main">
            <a:r>
              <a:t>https://docs.knime.com/hub/latest/business_hub_deployments_guide/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применяют не только для машинного обучения. В одной и той же среде можно автоматизировать регулярные отчёты, прогнозировать спрос, искать аномалии, анализировать тексты и строить модели обслуживания оборудования. Далее мы подробно рассмотрим один пример, потому что он хорошо показывает полный цикл работы платформы.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https://www.knime.com/blog/machine-learning-in-marketing-analytics</a:t>
            </a:r>
          </a:p>
          <a:p xmlns:a="http://schemas.openxmlformats.org/drawingml/2006/main">
            <a:r>
              <a:t>https://www.knime.com/templates/churn-prediction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В официальном примере используется телеком-набор из трёх тысяч трёхсот тридцати трёх клиентов и двадцати одного признака. Данные о звонках и характеристики договора хранятся в разных файлах. Целевая переменная показывает, ушёл клиент или остался. Класс оттока составляет примерно четырнадцать процентов, поэтому данные несбалансированы.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На схеме виден полный учебный workflow KNIME. Слева загружаются два файла и объединяются записи клиентов. В центре выполняется исследование и подготовка данных. Затем запускается перекрёстная проверка модели случайного леса. Справа узлы Scorer и ROC оценивают качество. Визуальная структура позволяет обсуждать весь процесс на одном экране.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Изображение: https://www.knime.com/sites/default/files/public/1-predicting-customer-churn-marketing-analytics.png</a:t>
            </a:r>
          </a:p>
          <a:p xmlns:a="http://schemas.openxmlformats.org/drawingml/2006/main">
            <a:r>
              <a:t>Описание: 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Сначала записи из двух файлов объединяются по идентификатору клиента. Затем KNIME приводит целевую колонку к подходящему типу и помогает исследовать распределения. Из-за малого числа ушедших клиентов применяется SMOTE, который создаёт синтетические примеры меньшего класса. В реальном проекте такую балансировку выполняют только на обучающей части, чтобы не допустить утечку информации в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https://www.knime.com/blog/four-basic-steps-in-data-preparation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Модель случайного леса содержит сто деревьев. Для более надёжной оценки KNIME помещает блок обучения и прогнозирования в цикл из пяти итераций. Каждый раз четыре части данных используются для обучения, а одна часть для проверки. Узел X-Aggregator собирает прогнозы всех итераций, после чего Scorer и ROC рассчитывают метрики.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Авторы официального примера получили общую точность 93,8 процента и AUC 0,89. Эти значения показывают, что модель хорошо различает клиентов с разным риском. Однако одна accuracy может вводить в заблуждение при дисбалансе классов. Поэтому необходимо дополнительно смотреть ROC-кривую, precision, recall и цену ошибок для бизнеса.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После обучения модель сохраняется и используется в отдельном workflow. Новые клиентские данные поступают через CSV Reader, Random Forest Predictor рассчитывает вероятность оттока, а компонент визуализации показывает результат. В официальной демонстрации из пяти новых клиентов один получает высокий риск и выделяется на панели. Такой список можно передать службе удержания клиентов.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Изображения: https://www.knime.com/sites/default/files/public/2-predicting-customer-churn-marketing-analytics.png</a:t>
            </a:r>
          </a:p>
          <a:p xmlns:a="http://schemas.openxmlformats.org/drawingml/2006/main">
            <a:r>
              <a:t>https://www.knime.com/sites/default/files/public/3-predicting-customer-churn-marketing-analytics.png</a:t>
            </a:r>
          </a:p>
          <a:p xmlns:a="http://schemas.openxmlformats.org/drawingml/2006/main">
            <a:r>
              <a:t>Описание: 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Перед внедрением оценивают не только общую точность. Важно проверить recall для ушедших клиентов, исключить утечку данных и следить за изменением распределений после запуска. Бизнес-порог выбирают с учётом стоимости контакта и потерь от пропущенного ухода. KNIME помогает связать техническую оценку с последующим правилом действия в одном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Сильная сторона KNIME заключается в прозрачности процесса и возможности повторного запуска. Платформа особенно полезна для смешанных команд, где часть участников работает с готовыми узлами, а часть добавляет код. Ограничения связаны с инфраструктурой. Большие объёмы требуют базы или распределённой среды, а совместная промышленная эксплуатация часто требует KNIME 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https://www.knime.com/knime-hub-pricing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Итак, KNIME решает задачу построения прозрачного и повторяемого конвейера анализа. В примере с оттоком один workflow готовит данные и обучает модель, а другой применяет её к новым клиентам. Для больших объёмов платформа переносит работу в базу, Spark или Hadoop. Главное преимущество состоит в том, что логика анализа остаётся видимой и проверяемой.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65e91f745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f6dbb02c9049f5" /><Relationship Type="http://schemas.openxmlformats.org/officeDocument/2006/relationships/slideLayout" Target="/ppt/slideLayouts/slideLayout1.xml" Id="Raec6767627c7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c6767627c7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4052530854780" /><Relationship Type="http://schemas.openxmlformats.org/officeDocument/2006/relationships/image" Target="/ppt/media/image.png" Id="R848fc95f5d724dcf" /><Relationship Type="http://schemas.openxmlformats.org/officeDocument/2006/relationships/notesSlide" Target="/ppt/notesSlides/notesSlide1.xml" Id="R0dcfb77eb7764b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8f419ba5c4e55" /><Relationship Type="http://schemas.openxmlformats.org/officeDocument/2006/relationships/notesSlide" Target="/ppt/notesSlides/notesSlide2.xml" Id="R5a402a3e0f1642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82d5697904b11" /><Relationship Type="http://schemas.openxmlformats.org/officeDocument/2006/relationships/notesSlide" Target="/ppt/notesSlides/notesSlide3.xml" Id="Rf81e21e3fcae49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97aacf7eb457d" /><Relationship Type="http://schemas.openxmlformats.org/officeDocument/2006/relationships/notesSlide" Target="/ppt/notesSlides/notesSlide4.xml" Id="Rc02922efabf7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a6f46ccb445d3" /><Relationship Type="http://schemas.openxmlformats.org/officeDocument/2006/relationships/notesSlide" Target="/ppt/notesSlides/notesSlide5.xml" Id="Rb9c3e62fb22c42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4f2826aa2429d" /><Relationship Type="http://schemas.openxmlformats.org/officeDocument/2006/relationships/notesSlide" Target="/ppt/notesSlides/notesSlide6.xml" Id="Rd39d73a390a74d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ef667ef614454" /><Relationship Type="http://schemas.openxmlformats.org/officeDocument/2006/relationships/notesSlide" Target="/ppt/notesSlides/notesSlide7.xml" Id="Rcedf85def40a40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a1d9733414d53" /><Relationship Type="http://schemas.openxmlformats.org/officeDocument/2006/relationships/notesSlide" Target="/ppt/notesSlides/notesSlide8.xml" Id="R33c64121cb1b46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61ba59ac44edf" /><Relationship Type="http://schemas.openxmlformats.org/officeDocument/2006/relationships/notesSlide" Target="/ppt/notesSlides/notesSlide9.xml" Id="Rc2654d6cfbba41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03a2279814a8f" /><Relationship Type="http://schemas.openxmlformats.org/officeDocument/2006/relationships/chart" Target="/ppt/slides/charts/chart1.xml" Id="Rea59fe5ab9384191" /><Relationship Type="http://schemas.openxmlformats.org/officeDocument/2006/relationships/notesSlide" Target="/ppt/notesSlides/notesSlide10.xml" Id="R6aaa30abc09e4f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196670d1a42b4" /><Relationship Type="http://schemas.openxmlformats.org/officeDocument/2006/relationships/image" Target="/ppt/media/image2.png" Id="R1534c175cece42fa" /><Relationship Type="http://schemas.openxmlformats.org/officeDocument/2006/relationships/notesSlide" Target="/ppt/notesSlides/notesSlide11.xml" Id="R79872752d4b648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673c6c4604491" /><Relationship Type="http://schemas.openxmlformats.org/officeDocument/2006/relationships/notesSlide" Target="/ppt/notesSlides/notesSlide12.xml" Id="Rf51e11a8dc174c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abe7188e040be" /><Relationship Type="http://schemas.openxmlformats.org/officeDocument/2006/relationships/notesSlide" Target="/ppt/notesSlides/notesSlide13.xml" Id="R3a1af08270d84b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2fd00243741cb" /><Relationship Type="http://schemas.openxmlformats.org/officeDocument/2006/relationships/notesSlide" Target="/ppt/notesSlides/notesSlide14.xml" Id="Rcf334cc9f3e248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4ca2d02bb44eb" /><Relationship Type="http://schemas.openxmlformats.org/officeDocument/2006/relationships/image" Target="/ppt/media/image3.png" Id="Rde5b782209a54234" /><Relationship Type="http://schemas.openxmlformats.org/officeDocument/2006/relationships/image" Target="/ppt/media/image4.png" Id="Rdbc3d3bc0da24f70" /><Relationship Type="http://schemas.openxmlformats.org/officeDocument/2006/relationships/notesSlide" Target="/ppt/notesSlides/notesSlide15.xml" Id="Rc8d6f0fe2d344b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edd80bf624f48" /><Relationship Type="http://schemas.openxmlformats.org/officeDocument/2006/relationships/notesSlide" Target="/ppt/notesSlides/notesSlide16.xml" Id="Rb4f64c7d8e0945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caee834b64dee" /><Relationship Type="http://schemas.openxmlformats.org/officeDocument/2006/relationships/notesSlide" Target="/ppt/notesSlides/notesSlide17.xml" Id="R85f748c0801f45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3b706ee0e43bc" /><Relationship Type="http://schemas.openxmlformats.org/officeDocument/2006/relationships/notesSlide" Target="/ppt/notesSlides/notesSlide18.xml" Id="Rc3f5ed3cfef94916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Доля клиентов</c:v>
          </c:tx>
          <c:dPt>
            <c:idx val="0"/>
            <c:spPr>
              <a:solidFill xmlns:a="http://schemas.openxmlformats.org/drawingml/2006/main">
                <a:srgbClr val="3F7CAC"/>
              </a:solidFill>
            </c:spPr>
          </c:dPt>
          <c:dPt>
            <c:idx val="1"/>
            <c:spPr>
              <a:solidFill xmlns:a="http://schemas.openxmlformats.org/drawingml/2006/main">
                <a:srgbClr val="F18D3A"/>
              </a:solidFill>
            </c:spPr>
          </c:dPt>
          <c:cat>
            <c:strLit>
              <c:ptCount val="2"/>
              <c:pt idx="0">
                <c:v>Остались</c:v>
              </c:pt>
              <c:pt idx="1">
                <c:v>Ушли</c:v>
              </c:pt>
            </c:strLit>
          </c:cat>
          <c:val>
            <c:numLit>
              <c:formatCode>General</c:formatCode>
              <c:ptCount val="2"/>
              <c:pt idx="0">
                <c:v>86</c:v>
              </c:pt>
              <c:pt idx="1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fc95f5d724d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BAE28-5C89-4B72-B151-E9F3575B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0B0B"/>
              </a:gs>
              <a:gs pos="100000">
                <a:srgbClr val="0B0B0B">
                  <a:alpha val="86667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77846-C1DB-4063-AB98-5FCEA23C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334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Технологии и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инструментарий анализа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больших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B7446-3C1B-4B20-8DEF-D8CF8B6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KNIME Analytics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571C5-E64A-4B7C-A560-41141574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Визуальные рабочие процессы от данных до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244019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9DD4F-D4E1-4DA1-A7B6-C65E2DDC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FEEB5-5390-4EFF-97E9-C4861036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Два вопроса доклада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5E98E-AE4F-47E5-84E7-01E9013D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79BB7-2EB2-4656-BE65-07F1BB5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69101-3E6B-4178-8B17-75CA18CC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Основная задача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FFE7B-FD52-4FAA-90C4-E1BE0523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Визуальный workflow для повторяемого анализа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AFBF4-A9C9-4186-BB06-1B581316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8349F-3B25-4AF0-97FB-F094ADDA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AD284-84B9-4AA5-84FD-787707EF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Прикладной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83AFD-F182-4B87-B5B7-0AC54CFC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Прогноз оттока на исторических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52703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FC7B4-E59A-4F06-8696-90A94A25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33FDD-E555-49A9-80FE-9B627AE0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KNIME Analytics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0AE11-F8BC-4AA5-8611-C968F001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Свободная платформа с открытым исходным кодом для визуального анализа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146E8-8505-4ECB-8025-9FA05B6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F159B-9BFF-43B5-B2F2-D2099BD5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86501-4B72-4A24-8F6A-5A094901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682AB-C557-4378-83C9-FA14BECE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4048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91250" y="4048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048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25608-C837-4F1C-96D2-0B2EE98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300+ подключений к источникам и сервисам</a:t>
            </a:r>
          </a:p>
        </p:txBody>
      </p:sp>
    </p:spTree>
    <p:extLst>
      <p:ext uri="{BB962C8B-B14F-4D97-AF65-F5344CB8AC3E}">
        <p14:creationId xmlns:p14="http://schemas.microsoft.com/office/powerpoint/2010/main" val="1201537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4939E-1F78-400B-A295-BCACF77B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422C3-B809-4EC8-8E57-67976DE2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Основная задача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C9E68-C750-48F8-9F8A-4F8B1AA0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Собрать повторяемый анализ как наглядную исполняемую схему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10AB6-8A24-4090-9128-06A4EAA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ВВОД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E3D94-C2DB-489A-9CAC-D5ED2B36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ЧИСТКА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AD655-47CE-4E86-A343-72D7A6A4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16686-C2BB-4762-B533-162942FE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D417B-4C45-4236-9331-45E01923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76625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81250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1487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48500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8212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4BC26-16F9-4A3D-9AF5-1173C012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хранит порядок действий, настройки узлов и связи между ними</a:t>
            </a:r>
          </a:p>
        </p:txBody>
      </p:sp>
    </p:spTree>
    <p:extLst>
      <p:ext uri="{BB962C8B-B14F-4D97-AF65-F5344CB8AC3E}">
        <p14:creationId xmlns:p14="http://schemas.microsoft.com/office/powerpoint/2010/main" val="559971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24E2C-9C03-4256-A097-A36DC307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3DA1D-E933-4545-A0AB-59C44F2F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Узлы и связи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76479-DD00-47EC-BB01-A0D1CF11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CSV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187F8-8229-460A-8D09-D2E5257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ROW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89471-D16A-43CF-A561-AD2CB6C1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SCORER</a:t>
            </a:r>
          </a:p>
        </p:txBody>
      </p: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62325" y="32385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32385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1A97B-8B0B-4DE0-97D2-E425DB8C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Каждый узел выполняет одну операцию. Порты передают таблицы, модели или параметры.</a:t>
            </a:r>
          </a:p>
        </p:txBody>
      </p:sp>
    </p:spTree>
    <p:extLst>
      <p:ext uri="{BB962C8B-B14F-4D97-AF65-F5344CB8AC3E}">
        <p14:creationId xmlns:p14="http://schemas.microsoft.com/office/powerpoint/2010/main" val="2045750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5FD90-5F39-4348-90C0-6779B892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33871-1FAD-47D9-B612-421968CA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Единая среда анализа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DCC58-1C77-4926-967E-1B30630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KNIME</a:t>
            </a:r>
          </a:p>
          <a:p xmlns:a="http://schemas.openxmlformats.org/drawingml/2006/main">
            <a:pPr algn="ctr">
              <a:defRPr sz="36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СХЕМА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59268-EFB8-439B-A6B9-EA99FF71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ФАЙЛЫ И БД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25D82-DB41-4B76-B9C5-70C52589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PYTHON И 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4525-8A45-4BA0-B18A-8717EADE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66875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 И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AA73D-2583-4CF1-AF3F-D21848EB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91000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3400425" y="2238375"/>
            <a:ext cx="11239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400425" y="3429000"/>
            <a:ext cx="11239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2" name=""/>
          <p:cNvCxnSpPr>
            <a:stCxn xmlns:a="http://schemas.openxmlformats.org/drawingml/2006/main" id="3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667625" y="2238375"/>
            <a:ext cx="11239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3" name=""/>
          <p:cNvCxnSpPr>
            <a:stCxn xmlns:a="http://schemas.openxmlformats.org/drawingml/2006/main" id="3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67625" y="3429000"/>
            <a:ext cx="11239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CC7FA-99BB-45F2-A31F-B885C0A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6262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No-code и low-code дополняются кодом там, где он действительно нужен</a:t>
            </a:r>
          </a:p>
        </p:txBody>
      </p:sp>
    </p:spTree>
    <p:extLst>
      <p:ext uri="{BB962C8B-B14F-4D97-AF65-F5344CB8AC3E}">
        <p14:creationId xmlns:p14="http://schemas.microsoft.com/office/powerpoint/2010/main" val="543157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6E77A-9834-4124-AFBA-CC3C96CE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0C398-3835-43E0-A0FC-84261B55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с большими данными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EA220-650C-420A-A587-1D6D1CE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Вычисления размещаются ближе к данным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9D218-C6B2-40D5-B60B-0E3901E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FFED5-FDAE-4171-AA27-AB46E1EF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БАЗЕ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39552-4C7F-424B-993C-D8ECFC3F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0D93E-EBDE-4584-BF77-FFE038A7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файлы и память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14AF5-036A-4C91-B447-1342A205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и pushdown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8C9D-6340-4E5F-89FE-3913924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Hadoop и Databricks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6DD30-FD67-4DAF-B556-AE67851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769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Parquet, ORC, HDFS, Hive, Impala</a:t>
            </a:r>
          </a:p>
        </p:txBody>
      </p:sp>
    </p:spTree>
    <p:extLst>
      <p:ext uri="{BB962C8B-B14F-4D97-AF65-F5344CB8AC3E}">
        <p14:creationId xmlns:p14="http://schemas.microsoft.com/office/powerpoint/2010/main" val="1883498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F38AA-A34E-4B9E-97F5-EA1C220C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F08AA-5E20-455F-9F33-9306F3B2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 прототипа к эксплуатации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FD1B2-971F-488D-8039-B05DA409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ДЕСКТОП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F81A3-2DAB-4D11-AAD4-977B7E3F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A701C-483D-4591-B8D9-DE5A7399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56198-5CF2-42AA-9E23-48FAAE6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создание и локальный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52469-EEA5-4C7B-98FE-C0229818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версии, расписание, сервисы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69FE6-4FFC-443F-94E9-5F9A194D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data app, API, отчёт</a:t>
            </a:r>
          </a:p>
        </p:txBody>
      </p:sp>
    </p:spTree>
    <p:extLst>
      <p:ext uri="{BB962C8B-B14F-4D97-AF65-F5344CB8AC3E}">
        <p14:creationId xmlns:p14="http://schemas.microsoft.com/office/powerpoint/2010/main" val="19023568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40BCC-6B81-4EB4-AD5E-74763842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64A36-0AF3-4264-87F4-6F3A8FDD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Прикладные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46AC2-8806-4818-9454-33C221F2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AB0B7-3607-46F7-8D15-117DBE06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СПРОС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55058-81C3-466A-AA17-7B72CDF4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АНОМАЛИИ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C634C-1D5A-4F44-B621-8E87CC8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CC1F3-BE64-4644-8AF2-47D6C918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DCB35-1382-4A19-B5F1-A2EE65EF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77B255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</p:spTree>
    <p:extLst>
      <p:ext uri="{BB962C8B-B14F-4D97-AF65-F5344CB8AC3E}">
        <p14:creationId xmlns:p14="http://schemas.microsoft.com/office/powerpoint/2010/main" val="6746676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2F872-82E0-4A69-A4F6-5F693998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56918-1A5C-426D-BAFB-0C5F60F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Кейс: прогноз оттока клиентов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45B78-07D5-4616-9E27-B31AF47B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Цель: оценить вероятность ухода каждого абонента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4762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59fe5ab938419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53CEE-EE0D-4D19-9CB7-25A2187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86%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9F5B1-B410-4C79-8957-CFA89382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3F7CA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F7CAC"/>
                </a:solidFill>
                <a:latin typeface="Arial"/>
                <a:ea typeface="Arial"/>
                <a:cs typeface="Arial"/>
              </a:rPr>
              <a:t>остались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AAACB-4D0E-499E-89A2-ABD17A32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4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18D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18D3A"/>
                </a:solidFill>
                <a:latin typeface="Arial"/>
                <a:ea typeface="Arial"/>
                <a:cs typeface="Arial"/>
              </a:rPr>
              <a:t>14% ушли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36FA0-5BEE-41E3-84D0-BCB8F054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ЗВОНКИ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70B48-007A-40DD-AE78-0160CEB9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ДОГОВОР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B48E0-7D3E-48CC-8589-4BB0759B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ПРОФИЛЬ</a:t>
            </a:r>
          </a:p>
        </p:txBody>
      </p:sp>
      <p:cxnSp>
        <p:nvCxnSpPr>
          <p:cNvPr id="24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620000" y="3619500"/>
            <a:ext cx="1428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9048750" y="3619500"/>
            <a:ext cx="1428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12144-978D-4EB5-B857-736DDB99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864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3 333 клиента, 21 признак</a:t>
            </a:r>
          </a:p>
        </p:txBody>
      </p:sp>
    </p:spTree>
    <p:extLst>
      <p:ext uri="{BB962C8B-B14F-4D97-AF65-F5344CB8AC3E}">
        <p14:creationId xmlns:p14="http://schemas.microsoft.com/office/powerpoint/2010/main" val="13567490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64DAC-921A-4C7C-A144-345DC775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A1596-1BF8-488E-A48E-C124AA5F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Учебный workflow целиком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4c175cece42fa"/>
          <a:stretch xmlns:a="http://schemas.openxmlformats.org/drawingml/2006/main"/>
        </p:blipFill>
        <p:spPr>
          <a:xfrm xmlns:a="http://schemas.openxmlformats.org/drawingml/2006/main">
            <a:off x="1624820" y="1524000"/>
            <a:ext cx="894236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392C9-F353-4310-87EC-638E3EC6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     Подготовка     Обучение     Оценка</a:t>
            </a:r>
          </a:p>
        </p:txBody>
      </p:sp>
    </p:spTree>
    <p:extLst>
      <p:ext uri="{BB962C8B-B14F-4D97-AF65-F5344CB8AC3E}">
        <p14:creationId xmlns:p14="http://schemas.microsoft.com/office/powerpoint/2010/main" val="1633839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8094C-F296-40C2-AF21-44EEE480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EF8F3-0A56-4A58-BB98-5E32808E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Подготовка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6A0F2-59C0-4C12-8E46-2BE61190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90A18-440C-4D0E-AA86-1CD2A2F6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ТИПЫ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79E80-311D-419E-829C-22ED6931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ОБЗОР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104E1-754C-4451-9CB8-CDAA93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SMOTE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3763B-4A42-4627-A5E7-69C53F44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28875"/>
            <a:ext cx="1285875" cy="1428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77B255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241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006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9536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D0BD2-CB07-4146-9229-B6C84C8C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SMOTE создаёт синтетические примеры редкого класса только внутри обучающей выборки</a:t>
            </a:r>
          </a:p>
        </p:txBody>
      </p:sp>
    </p:spTree>
    <p:extLst>
      <p:ext uri="{BB962C8B-B14F-4D97-AF65-F5344CB8AC3E}">
        <p14:creationId xmlns:p14="http://schemas.microsoft.com/office/powerpoint/2010/main" val="13550174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27D6E-2AC9-4EC2-873F-BA10C7C3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4AD69-91D5-430A-B5D5-5D61EB83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Обучение и проверка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47255-82E9-4FA8-A70E-C530D0D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5-кратная перекрёстная проверка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57B0B-EB32-4AE0-8C9F-3B7DABE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32426-7E7F-458C-9F70-3449B677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31F08-2E0B-4242-A836-AE690897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D9109-B98C-4F4B-939D-04824775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43F76-64AF-44E4-91F6-9C60BC6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81DA9-CB0A-45CE-8EA3-92A179BF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3D053-5531-49A4-8DAF-EF0D6067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31109-FDC4-4250-8FB8-C12147D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8DABE-0920-42C7-8A5B-2678854E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AF3F5-8748-4A1C-BA43-DC1D4B7C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703EA-188D-4895-BC73-59EE197B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каждой итерации 80% данных обучают модель, 20% проверяют её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8477C-B54E-4751-A1D3-064A32E1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436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Random Forest: 100 деревьев</a:t>
            </a:r>
          </a:p>
        </p:txBody>
      </p:sp>
    </p:spTree>
    <p:extLst>
      <p:ext uri="{BB962C8B-B14F-4D97-AF65-F5344CB8AC3E}">
        <p14:creationId xmlns:p14="http://schemas.microsoft.com/office/powerpoint/2010/main" val="15922526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22002-3D3F-402A-B3AA-7B43CC7C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7C91A-3E3E-4E92-997C-10095584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Результат официального примера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1B2DF-7433-4308-8CB4-72065F79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476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3B045-4BEC-4097-8DE7-CCA7F2C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93,8%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0E9C0-CC6B-47D7-AD74-D9BC6EAF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E9312-AE94-4CC7-B609-DDA2B10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4476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F4884-D62D-4DC5-8D63-ACDF85A9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288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0,89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7EF4D-3FF6-44D6-A5DE-D98EF7D0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71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6B3EE-EF09-465C-B2F0-192B4DD1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Из-за дисбаланса классов accuracy оценивают вместе с ROC, precision и recall</a:t>
            </a:r>
          </a:p>
        </p:txBody>
      </p:sp>
    </p:spTree>
    <p:extLst>
      <p:ext uri="{BB962C8B-B14F-4D97-AF65-F5344CB8AC3E}">
        <p14:creationId xmlns:p14="http://schemas.microsoft.com/office/powerpoint/2010/main" val="13902929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51580-5040-4923-8275-81C83566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E1A17-DA31-4815-A88A-CE2D949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Применение модели к новым клиентам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b782209a54234"/>
          <a:stretch xmlns:a="http://schemas.openxmlformats.org/drawingml/2006/main"/>
        </p:blipFill>
        <p:spPr>
          <a:xfrm xmlns:a="http://schemas.openxmlformats.org/drawingml/2006/main">
            <a:off x="523875" y="1761204"/>
            <a:ext cx="5334000" cy="3621342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3d3bc0da24f70"/>
          <a:srcRect xmlns:a="http://schemas.openxmlformats.org/drawingml/2006/main" l="0" t="1136" r="0" b="1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71625"/>
            <a:ext cx="542925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D70D9-71E1-4FB0-B109-C9571A9F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Workflow расчёта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C8A7D-147F-4AFF-8192-ECF1E6C2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150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Риск по каждому клиенту</a:t>
            </a:r>
          </a:p>
        </p:txBody>
      </p:sp>
    </p:spTree>
    <p:extLst>
      <p:ext uri="{BB962C8B-B14F-4D97-AF65-F5344CB8AC3E}">
        <p14:creationId xmlns:p14="http://schemas.microsoft.com/office/powerpoint/2010/main" val="515909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108F5-7649-4F45-B5F6-94D1D8F3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F828E-AEDF-4F5D-A058-368CA6F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проверять перед внедрением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78409-EF6D-429A-B0DB-A2D2C9BF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36046-0F7E-4C07-B9D3-34E2AA35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4425D-CED2-4765-A659-C3471A47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качество редкого класса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утечка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изменение распределений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B3205-6A6E-477D-B382-08C76297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4762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DADBC-15DA-4E1B-A2EE-3115686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БИЗНЕС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49D08-027D-4E0D-A886-11A13872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стоимость контакта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цена пропущенного ухода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порог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14348941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35794-ADFC-47C4-BC30-ED231B80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88C6-2325-451A-91CE-FD50FB9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Сильные стороны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2E562-A8F5-4AB4-84C3-C1CD9CF0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ПОДХОДИТ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2C9A7-EF6B-41F2-8817-8109EDFD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4CFB6-8E23-4C0F-9C36-C8D956E1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943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наглядные процессы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повторяемая аналитика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команды разного профиля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73EDF-99C7-4D7D-8191-3C168862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71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УЧЕСТЬ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981C1-A2B6-4FC8-B876-A195E368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AA354-A2B1-44A8-8A57-E837C93D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3943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ресурсы рабочего ПК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настройку Spark и БД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лицензию для Hub</a:t>
            </a:r>
          </a:p>
        </p:txBody>
      </p:sp>
    </p:spTree>
    <p:extLst>
      <p:ext uri="{BB962C8B-B14F-4D97-AF65-F5344CB8AC3E}">
        <p14:creationId xmlns:p14="http://schemas.microsoft.com/office/powerpoint/2010/main" val="16148324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6DF14-2B4A-41E0-A5A6-6C05B1C7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43E7A-15A5-4FBD-ACAC-95ACC9D7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4DF23-F834-47AB-95B9-DF84148C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 превращает анализ данных в понятный и исполняемый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63634-6F72-4D8E-A9F7-6FA63F6D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25033-5A5A-47C8-A7B0-75EBA79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F5B40-0F27-40BD-A277-FFD2D375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4095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4095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7D90A-C824-445E-8CC3-E897BBB7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D800"/>
                </a:solidFill>
                <a:latin typeface="Arial"/>
                <a:ea typeface="Arial"/>
                <a:cs typeface="Arial"/>
              </a:rPr>
              <a:t>Основные источники: knime.com и docs.knime.com</a:t>
            </a:r>
          </a:p>
        </p:txBody>
      </p:sp>
    </p:spTree>
    <p:extLst>
      <p:ext uri="{BB962C8B-B14F-4D97-AF65-F5344CB8AC3E}">
        <p14:creationId xmlns:p14="http://schemas.microsoft.com/office/powerpoint/2010/main" val="720841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2026-09-13T08:44:28.2530000Z</dcterms:created>
  <dcterms:modified xsi:type="dcterms:W3CDTF">2026-09-13T08:44:28.2530000Z</dcterms:modified>
</coreProperties>
</file>