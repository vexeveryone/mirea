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b0867b08724b23" /><Relationship Type="http://schemas.openxmlformats.org/officeDocument/2006/relationships/extended-properties" Target="/docProps/app.xml" Id="R65624ac521544dd7" /><Relationship Type="http://schemas.openxmlformats.org/officeDocument/2006/relationships/officeDocument" Target="/ppt/presentation.xml" Id="R974085b9e8c444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509a856c5142e5"/>
  </p:sldMasterIdLst>
  <p:notesMasterIdLst>
    <p:notesMasterId xmlns:r="http://schemas.openxmlformats.org/officeDocument/2006/relationships" r:id="R7ccd7a31589f4757"/>
  </p:notesMasterIdLst>
  <p:sldIdLst>
    <p:sldId xmlns:r="http://schemas.openxmlformats.org/officeDocument/2006/relationships" id="256" r:id="Raf99053888c141a8"/>
    <p:sldId xmlns:r="http://schemas.openxmlformats.org/officeDocument/2006/relationships" id="257" r:id="R3e97755c50074c97"/>
    <p:sldId xmlns:r="http://schemas.openxmlformats.org/officeDocument/2006/relationships" id="258" r:id="R31ad5f49da944a56"/>
    <p:sldId xmlns:r="http://schemas.openxmlformats.org/officeDocument/2006/relationships" id="259" r:id="Ra4e7899dba0c4074"/>
    <p:sldId xmlns:r="http://schemas.openxmlformats.org/officeDocument/2006/relationships" id="260" r:id="Rdb0c66e4a3304ef8"/>
    <p:sldId xmlns:r="http://schemas.openxmlformats.org/officeDocument/2006/relationships" id="261" r:id="Ra80676d3b91a4bbd"/>
    <p:sldId xmlns:r="http://schemas.openxmlformats.org/officeDocument/2006/relationships" id="262" r:id="R06273d6b2c634747"/>
    <p:sldId xmlns:r="http://schemas.openxmlformats.org/officeDocument/2006/relationships" id="263" r:id="R3b0214d6b8634d04"/>
    <p:sldId xmlns:r="http://schemas.openxmlformats.org/officeDocument/2006/relationships" id="264" r:id="Rf753ca4a4b0b4086"/>
    <p:sldId xmlns:r="http://schemas.openxmlformats.org/officeDocument/2006/relationships" id="265" r:id="R08fe9ecc4f124902"/>
    <p:sldId xmlns:r="http://schemas.openxmlformats.org/officeDocument/2006/relationships" id="266" r:id="Ra19bbde3e1fc438e"/>
    <p:sldId xmlns:r="http://schemas.openxmlformats.org/officeDocument/2006/relationships" id="267" r:id="R301758171f0e45b0"/>
    <p:sldId xmlns:r="http://schemas.openxmlformats.org/officeDocument/2006/relationships" id="268" r:id="R30e95d2beb964118"/>
    <p:sldId xmlns:r="http://schemas.openxmlformats.org/officeDocument/2006/relationships" id="269" r:id="Rac5418ce1c0f4807"/>
    <p:sldId xmlns:r="http://schemas.openxmlformats.org/officeDocument/2006/relationships" id="270" r:id="R2ecd20d5bdc54946"/>
    <p:sldId xmlns:r="http://schemas.openxmlformats.org/officeDocument/2006/relationships" id="271" r:id="Ra512a32b25794ccd"/>
    <p:sldId xmlns:r="http://schemas.openxmlformats.org/officeDocument/2006/relationships" id="272" r:id="R77f21b2d47ea4d05"/>
    <p:sldId xmlns:r="http://schemas.openxmlformats.org/officeDocument/2006/relationships" id="273" r:id="R1f558b9b0a2f49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c5577c63114465" /><Relationship Type="http://schemas.openxmlformats.org/officeDocument/2006/relationships/slideMaster" Target="/ppt/slideMasters/slideMaster1.xml" Id="R50509a856c5142e5" /><Relationship Type="http://schemas.openxmlformats.org/officeDocument/2006/relationships/notesMaster" Target="/ppt/notesMasters/notesMaster1.xml" Id="R7ccd7a31589f4757" /><Relationship Type="http://schemas.openxmlformats.org/officeDocument/2006/relationships/presProps" Target="/ppt/presProps.xml" Id="Reda6f7f2db5e4f05" /><Relationship Type="http://schemas.openxmlformats.org/officeDocument/2006/relationships/tableStyles" Target="/ppt/tableStyles.xml" Id="Ref5e88ed452d43af" /><Relationship Type="http://schemas.openxmlformats.org/officeDocument/2006/relationships/slide" Target="/ppt/slides/slide1.xml" Id="Raf99053888c141a8" /><Relationship Type="http://schemas.openxmlformats.org/officeDocument/2006/relationships/slide" Target="/ppt/slides/slide2.xml" Id="R3e97755c50074c97" /><Relationship Type="http://schemas.openxmlformats.org/officeDocument/2006/relationships/slide" Target="/ppt/slides/slide3.xml" Id="R31ad5f49da944a56" /><Relationship Type="http://schemas.openxmlformats.org/officeDocument/2006/relationships/slide" Target="/ppt/slides/slide4.xml" Id="Ra4e7899dba0c4074" /><Relationship Type="http://schemas.openxmlformats.org/officeDocument/2006/relationships/slide" Target="/ppt/slides/slide5.xml" Id="Rdb0c66e4a3304ef8" /><Relationship Type="http://schemas.openxmlformats.org/officeDocument/2006/relationships/slide" Target="/ppt/slides/slide6.xml" Id="Ra80676d3b91a4bbd" /><Relationship Type="http://schemas.openxmlformats.org/officeDocument/2006/relationships/slide" Target="/ppt/slides/slide7.xml" Id="R06273d6b2c634747" /><Relationship Type="http://schemas.openxmlformats.org/officeDocument/2006/relationships/slide" Target="/ppt/slides/slide8.xml" Id="R3b0214d6b8634d04" /><Relationship Type="http://schemas.openxmlformats.org/officeDocument/2006/relationships/slide" Target="/ppt/slides/slide9.xml" Id="Rf753ca4a4b0b4086" /><Relationship Type="http://schemas.openxmlformats.org/officeDocument/2006/relationships/slide" Target="/ppt/slides/slide10.xml" Id="R08fe9ecc4f124902" /><Relationship Type="http://schemas.openxmlformats.org/officeDocument/2006/relationships/slide" Target="/ppt/slides/slide11.xml" Id="Ra19bbde3e1fc438e" /><Relationship Type="http://schemas.openxmlformats.org/officeDocument/2006/relationships/slide" Target="/ppt/slides/slide12.xml" Id="R301758171f0e45b0" /><Relationship Type="http://schemas.openxmlformats.org/officeDocument/2006/relationships/slide" Target="/ppt/slides/slide13.xml" Id="R30e95d2beb964118" /><Relationship Type="http://schemas.openxmlformats.org/officeDocument/2006/relationships/slide" Target="/ppt/slides/slide14.xml" Id="Rac5418ce1c0f4807" /><Relationship Type="http://schemas.openxmlformats.org/officeDocument/2006/relationships/slide" Target="/ppt/slides/slide15.xml" Id="R2ecd20d5bdc54946" /><Relationship Type="http://schemas.openxmlformats.org/officeDocument/2006/relationships/slide" Target="/ppt/slides/slide16.xml" Id="Ra512a32b25794ccd" /><Relationship Type="http://schemas.openxmlformats.org/officeDocument/2006/relationships/slide" Target="/ppt/slides/slide17.xml" Id="R77f21b2d47ea4d05" /><Relationship Type="http://schemas.openxmlformats.org/officeDocument/2006/relationships/slide" Target="/ppt/slides/slide18.xml" Id="R1f558b9b0a2f49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9795d47bac46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a49ed956444b1d" /><Relationship Type="http://schemas.openxmlformats.org/officeDocument/2006/relationships/notesMaster" Target="/ppt/notesMasters/notesMaster1.xml" Id="Rb8d46e412b5842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ee6fd84cf84dfb" /><Relationship Type="http://schemas.openxmlformats.org/officeDocument/2006/relationships/notesMaster" Target="/ppt/notesMasters/notesMaster1.xml" Id="Ra39576fc9f7f49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e928cd5b364ce1" /><Relationship Type="http://schemas.openxmlformats.org/officeDocument/2006/relationships/notesMaster" Target="/ppt/notesMasters/notesMaster1.xml" Id="Rc211d56afe6d41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8c8c056e2b4021" /><Relationship Type="http://schemas.openxmlformats.org/officeDocument/2006/relationships/notesMaster" Target="/ppt/notesMasters/notesMaster1.xml" Id="R725e217a926648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261597c4fc4ce7" /><Relationship Type="http://schemas.openxmlformats.org/officeDocument/2006/relationships/notesMaster" Target="/ppt/notesMasters/notesMaster1.xml" Id="R3ec49ac47c2240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25265c0de64b47" /><Relationship Type="http://schemas.openxmlformats.org/officeDocument/2006/relationships/notesMaster" Target="/ppt/notesMasters/notesMaster1.xml" Id="R1224062a95f84a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1d2a9be1b54b81" /><Relationship Type="http://schemas.openxmlformats.org/officeDocument/2006/relationships/notesMaster" Target="/ppt/notesMasters/notesMaster1.xml" Id="Rae816d226f5743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ca0700434c44b4" /><Relationship Type="http://schemas.openxmlformats.org/officeDocument/2006/relationships/notesMaster" Target="/ppt/notesMasters/notesMaster1.xml" Id="R8086bd683c7a4e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2d92aadf104177" /><Relationship Type="http://schemas.openxmlformats.org/officeDocument/2006/relationships/notesMaster" Target="/ppt/notesMasters/notesMaster1.xml" Id="R3e5e93b5aed841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cfd14ba0034571" /><Relationship Type="http://schemas.openxmlformats.org/officeDocument/2006/relationships/notesMaster" Target="/ppt/notesMasters/notesMaster1.xml" Id="R8c61756a6ac64d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e2d2932d8a45fa" /><Relationship Type="http://schemas.openxmlformats.org/officeDocument/2006/relationships/notesMaster" Target="/ppt/notesMasters/notesMaster1.xml" Id="Rb9c3f798446c47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776b9267f24d0f" /><Relationship Type="http://schemas.openxmlformats.org/officeDocument/2006/relationships/notesMaster" Target="/ppt/notesMasters/notesMaster1.xml" Id="R27f7fa9b6f7a41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ddd9665ec7469c" /><Relationship Type="http://schemas.openxmlformats.org/officeDocument/2006/relationships/notesMaster" Target="/ppt/notesMasters/notesMaster1.xml" Id="Rdcf9af4dc34540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e4cc6e275b4572" /><Relationship Type="http://schemas.openxmlformats.org/officeDocument/2006/relationships/notesMaster" Target="/ppt/notesMasters/notesMaster1.xml" Id="R5cfc47372b4a48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4e869482f140eb" /><Relationship Type="http://schemas.openxmlformats.org/officeDocument/2006/relationships/notesMaster" Target="/ppt/notesMasters/notesMaster1.xml" Id="Rae76e56429334f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f9e9d5a4264a3b" /><Relationship Type="http://schemas.openxmlformats.org/officeDocument/2006/relationships/notesMaster" Target="/ppt/notesMasters/notesMaster1.xml" Id="R716eb0afda9e48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eebc7a50044d28" /><Relationship Type="http://schemas.openxmlformats.org/officeDocument/2006/relationships/notesMaster" Target="/ppt/notesMasters/notesMaster1.xml" Id="R7007a7f34cba40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36b10581044ecf" /><Relationship Type="http://schemas.openxmlformats.org/officeDocument/2006/relationships/notesMaster" Target="/ppt/notesMasters/notesMaster1.xml" Id="Rfa2768d8afa24d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Сегодня я разберу KNIME Analytics Platform как инструмент анализа данных. Сначала покажу, какую основную задачу решает платформа и как устроен визуальный рабочий процесс. Затем разберу прикладной пример прогнозирования оттока клиентов, включая подготовку данных, обучение модели, проверку качества и применение результата.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Доклад отвечает на два вопроса. Первый вопрос касается назначения инструмента. KNIME помогает собрать анализ в виде исполняемой схемы, где видны источники данных, преобразования и итог. Второй вопрос практический. Мы проследим, как такая схема решает задачу прогнозирования оттока клиентов.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KNIME Analytics Platform распространяется бесплатно и имеет открытый исходный код. Пользователь собирает анализ на рабочем поле из узлов. Платформа охватывает загрузку и объединение данных, преобразования, визуализацию и машинное обучение. На официальном сайте указано более трёхсот подключений к источникам данных и сервисам.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https://www.knime.com/get-started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Главная задача KNIME состоит в том, чтобы превратить разрозненные операции анализа в повторяемый рабочий процесс. Схема показывает, откуда пришли данные, какие преобразования выполнены, какая модель обучена и куда передан результат. Такой workflow можно запускать целиком, частями или по отдельным узлам, а затем повторять на новых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https://www.knime.com/why-visual-workflows</a:t>
            </a:r>
          </a:p>
          <a:p xmlns:a="http://schemas.openxmlformats.org/drawingml/2006/main">
            <a:r>
              <a:t>https://docs.knime.com/ap/latest/analytics_platform_user_guide/index.html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Узел в KNIME представляет отдельную задачу. Это может быть чтение файла, фильтрация строк, обучение модели или построение визуализации. Входные и выходные порты передают не только таблицы, но также модели, подключения к базам и параметры. Состояние узла показывает, настроен ли он, выполнен ли успешно или требует исправления.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https://docs.knime.com/ap/latest/analytics_platform_user_guide/index.html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Платформа объединяет разные способы работы. Аналитик может использовать готовые узлы без программирования, а для специальных алгоритмов подключить Python или R. Компоненты позволяют упаковать часть схемы в повторно используемый блок. Такой подход удобен, когда в одной команде работают специалисты с разным уровнем подготовки.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https://docs.knime.com/ap/latest/python_installation_guide/index.html</a:t>
            </a:r>
          </a:p>
          <a:p xmlns:a="http://schemas.openxmlformats.org/drawingml/2006/main">
            <a:r>
              <a:t>https://docs.knime.com/ap/latest/analytics_platform_components_guide/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KNIME не означает, что весь объём обязательно загружается в память одного компьютера. Часть операций можно выполнять в базе данных, а Big Data Extensions интегрируют Spark и экосистему Hadoop. Документация указывает поддержку HDFS, Hive, Impala, форматов Parquet и ORC, а расширение Spark предоставляет более шестидесяти узлов для обработки и аналитики.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https://docs.knime.com/ap/latest/bigdata_extensions_user_guide/</a:t>
            </a:r>
          </a:p>
          <a:p xmlns:a="http://schemas.openxmlformats.org/drawingml/2006/main">
            <a:r>
              <a:t>https://www.knime.com/knime-analytics-platform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На рабочем компьютере KNIME Analytics Platform позволяет бесплатно создавать и запускать workflow. Для совместной работы, версий и промышленного исполнения используется KNIME Hub. В Business Hub доступны расписания, интерактивные приложения, сервисы и триггеры. Это важное разграничение, потому что локальная платформа и серверная эксплуатация относятся к разным уровням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https://www.knime.com/knime-hub-pricing</a:t>
            </a:r>
          </a:p>
          <a:p xmlns:a="http://schemas.openxmlformats.org/drawingml/2006/main">
            <a:r>
              <a:t>https://docs.knime.com/hub/latest/business_hub_deployments_guide/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KNIME применяют не только для машинного обучения. В одной и той же среде можно автоматизировать регулярные отчёты, прогнозировать спрос, искать аномалии, анализировать тексты и строить модели обслуживания оборудования. Далее мы подробно рассмотрим один пример, потому что он хорошо показывает полный цикл работы платформы.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https://www.knime.com/blog/machine-learning-in-marketing-analytics</a:t>
            </a:r>
          </a:p>
          <a:p xmlns:a="http://schemas.openxmlformats.org/drawingml/2006/main">
            <a:r>
              <a:t>https://www.knime.com/templates/churn-prediction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В официальном примере используется телеком-набор из трёх тысяч трёхсот тридцати трёх клиентов и двадцати одного признака. Данные о звонках и характеристики договора хранятся в разных файлах. Целевая переменная показывает, ушёл клиент или остался. Класс оттока составляет примерно четырнадцать процентов, поэтому данные несбалансированы.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  <a:p xmlns:a="http://schemas.openxmlformats.org/drawingml/2006/main">
            <a:r>
              <a:t>https://www.knime.com/blog/visual-scoring-techniques-for-classification-models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На схеме виден полный учебный workflow KNIME. Слева загружаются два файла и объединяются записи клиентов. В центре выполняется исследование и подготовка данных. Затем запускается перекрёстная проверка модели случайного леса. Справа узлы Scorer и ROC оценивают качество. Визуальная структура позволяет обсуждать весь процесс на одном экране.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Изображение: https://www.knime.com/sites/default/files/public/1-predicting-customer-churn-marketing-analytics.png</a:t>
            </a:r>
          </a:p>
          <a:p xmlns:a="http://schemas.openxmlformats.org/drawingml/2006/main">
            <a:r>
              <a:t>Описание: 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Сначала записи из двух файлов объединяются по идентификатору клиента. Затем KNIME приводит целевую колонку к подходящему типу и помогает исследовать распределения. Из-за малого числа ушедших клиентов применяется SMOTE, который создаёт синтетические примеры меньшего класса. В реальном проекте такую балансировку выполняют только на обучающей части, чтобы не допустить утечку информации в проверку.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  <a:p xmlns:a="http://schemas.openxmlformats.org/drawingml/2006/main">
            <a:r>
              <a:t>https://www.knime.com/blog/four-basic-steps-in-data-preparation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Модель случайного леса содержит сто деревьев. Для более надёжной оценки KNIME помещает блок обучения и прогнозирования в цикл из пяти итераций. Каждый раз четыре части данных используются для обучения, а одна часть для проверки. Узел X-Aggregator собирает прогнозы всех итераций, после чего Scorer и ROC рассчитывают метрики.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Авторы официального примера получили общую точность 93,8 процента и AUC 0,89. Эти значения показывают, что модель хорошо различает клиентов с разным риском. Однако одна accuracy может вводить в заблуждение при дисбалансе классов. Поэтому необходимо дополнительно смотреть ROC-кривую, precision, recall и цену ошибок для бизнеса.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  <a:p xmlns:a="http://schemas.openxmlformats.org/drawingml/2006/main">
            <a:r>
              <a:t>https://www.knime.com/blog/visual-scoring-techniques-for-classification-models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После обучения модель сохраняется и используется в отдельном workflow. Новые клиентские данные поступают через CSV Reader, Random Forest Predictor рассчитывает вероятность оттока, а компонент визуализации показывает результат. В официальной демонстрации из пяти новых клиентов один получает высокий риск и выделяется на панели. Такой список можно передать службе удержания клиентов.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Изображения: https://www.knime.com/sites/default/files/public/2-predicting-customer-churn-marketing-analytics.png</a:t>
            </a:r>
          </a:p>
          <a:p xmlns:a="http://schemas.openxmlformats.org/drawingml/2006/main">
            <a:r>
              <a:t>https://www.knime.com/sites/default/files/public/3-predicting-customer-churn-marketing-analytics.png</a:t>
            </a:r>
          </a:p>
          <a:p xmlns:a="http://schemas.openxmlformats.org/drawingml/2006/main">
            <a:r>
              <a:t>Описание: 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Перед внедрением оценивают не только общую точность. Важно проверить recall для ушедших клиентов, исключить утечку данных и следить за изменением распределений после запуска. Бизнес-порог выбирают с учётом стоимости контакта и потерь от пропущенного ухода. KNIME помогает связать техническую оценку с последующим правилом действия в одном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https://www.knime.com/blog/visual-scoring-techniques-for-classification-models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Сильная сторона KNIME заключается в прозрачности процесса и возможности повторного запуска. Платформа особенно полезна для смешанных команд, где часть участников работает с готовыми узлами, а часть добавляет код. Ограничения связаны с инфраструктурой. Большие объёмы требуют базы или распределённой среды, а совместная промышленная эксплуатация часто требует KNIME Hub.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https://docs.knime.com/ap/latest/bigdata_extensions_user_guide/</a:t>
            </a:r>
          </a:p>
          <a:p xmlns:a="http://schemas.openxmlformats.org/drawingml/2006/main">
            <a:r>
              <a:t>https://www.knime.com/knime-hub-pricing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Итак, KNIME решает задачу построения прозрачного и повторяемого конвейера анализа. В примере с оттоком один workflow готовит данные и обучает модель, а другой применяет её к новым клиентам. Для больших объёмов платформа переносит работу в базу, Spark или Hadoop. Главное преимущество состоит в том, что логика анализа остаётся видимой и проверяемой.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https://docs.knime.com/ap/latest/analytics_platform_user_guide/index.html</a:t>
            </a:r>
          </a:p>
          <a:p xmlns:a="http://schemas.openxmlformats.org/drawingml/2006/main">
            <a:r>
              <a:t>https://docs.knime.com/ap/latest/bigdata_extensions_user_guide/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7d9a0b5314c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465c70c28f48af" /><Relationship Type="http://schemas.openxmlformats.org/officeDocument/2006/relationships/slideLayout" Target="/ppt/slideLayouts/slideLayout1.xml" Id="R071d6af1cc3940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1d6af1cc3940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003ac9a00449d" /><Relationship Type="http://schemas.openxmlformats.org/officeDocument/2006/relationships/image" Target="/ppt/media/image.png" Id="Rb48fbf7a805c4045" /><Relationship Type="http://schemas.openxmlformats.org/officeDocument/2006/relationships/notesSlide" Target="/ppt/notesSlides/notesSlide1.xml" Id="R3490679f90724b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7fe94f30f4231" /><Relationship Type="http://schemas.openxmlformats.org/officeDocument/2006/relationships/notesSlide" Target="/ppt/notesSlides/notesSlide2.xml" Id="Raee0f7903d5d48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f50d065a14222" /><Relationship Type="http://schemas.openxmlformats.org/officeDocument/2006/relationships/notesSlide" Target="/ppt/notesSlides/notesSlide3.xml" Id="R89768856660d47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84d76320e447f" /><Relationship Type="http://schemas.openxmlformats.org/officeDocument/2006/relationships/notesSlide" Target="/ppt/notesSlides/notesSlide4.xml" Id="Rfcd94a56c44348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a017799234416" /><Relationship Type="http://schemas.openxmlformats.org/officeDocument/2006/relationships/notesSlide" Target="/ppt/notesSlides/notesSlide5.xml" Id="Ra7c27e738f4d45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bd20908374256" /><Relationship Type="http://schemas.openxmlformats.org/officeDocument/2006/relationships/notesSlide" Target="/ppt/notesSlides/notesSlide6.xml" Id="R41b4c6a9c50a45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bf767daff4786" /><Relationship Type="http://schemas.openxmlformats.org/officeDocument/2006/relationships/notesSlide" Target="/ppt/notesSlides/notesSlide7.xml" Id="R2aad4411e54840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a78616c1647d0" /><Relationship Type="http://schemas.openxmlformats.org/officeDocument/2006/relationships/notesSlide" Target="/ppt/notesSlides/notesSlide8.xml" Id="Rbca1d729460b47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02df2866b4da8" /><Relationship Type="http://schemas.openxmlformats.org/officeDocument/2006/relationships/notesSlide" Target="/ppt/notesSlides/notesSlide9.xml" Id="R9b4190f5ca6f43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cbbcd819140fe" /><Relationship Type="http://schemas.openxmlformats.org/officeDocument/2006/relationships/chart" Target="/ppt/slides/charts/chart1.xml" Id="Ra1a6957623c84077" /><Relationship Type="http://schemas.openxmlformats.org/officeDocument/2006/relationships/notesSlide" Target="/ppt/notesSlides/notesSlide10.xml" Id="R82f7de1d6fed49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2d58ca51b4068" /><Relationship Type="http://schemas.openxmlformats.org/officeDocument/2006/relationships/image" Target="/ppt/media/image2.png" Id="R5e714616c5fa4a12" /><Relationship Type="http://schemas.openxmlformats.org/officeDocument/2006/relationships/notesSlide" Target="/ppt/notesSlides/notesSlide11.xml" Id="Rd6b8eccf5dfe4c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aba23d7b84868" /><Relationship Type="http://schemas.openxmlformats.org/officeDocument/2006/relationships/notesSlide" Target="/ppt/notesSlides/notesSlide12.xml" Id="Rf3782d0be6d643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f6bbc694b4330" /><Relationship Type="http://schemas.openxmlformats.org/officeDocument/2006/relationships/notesSlide" Target="/ppt/notesSlides/notesSlide13.xml" Id="R003612d754814f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00c5599cb4000" /><Relationship Type="http://schemas.openxmlformats.org/officeDocument/2006/relationships/notesSlide" Target="/ppt/notesSlides/notesSlide14.xml" Id="R088287133f2246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6ae281526423c" /><Relationship Type="http://schemas.openxmlformats.org/officeDocument/2006/relationships/image" Target="/ppt/media/image3.png" Id="Rc4d76ba292474b7c" /><Relationship Type="http://schemas.openxmlformats.org/officeDocument/2006/relationships/image" Target="/ppt/media/image4.png" Id="R2b4bada9fc894bf1" /><Relationship Type="http://schemas.openxmlformats.org/officeDocument/2006/relationships/notesSlide" Target="/ppt/notesSlides/notesSlide15.xml" Id="R93bcf1f6b5b844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32d7007db4e45" /><Relationship Type="http://schemas.openxmlformats.org/officeDocument/2006/relationships/notesSlide" Target="/ppt/notesSlides/notesSlide16.xml" Id="R0306f3e6e7614e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35db3dc6346c8" /><Relationship Type="http://schemas.openxmlformats.org/officeDocument/2006/relationships/notesSlide" Target="/ppt/notesSlides/notesSlide17.xml" Id="R79cf87331a6243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c750f405e44f9" /><Relationship Type="http://schemas.openxmlformats.org/officeDocument/2006/relationships/notesSlide" Target="/ppt/notesSlides/notesSlide18.xml" Id="R7278876f7451405a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Доля клиентов</c:v>
          </c:tx>
          <c:dPt>
            <c:idx val="0"/>
            <c:spPr>
              <a:solidFill xmlns:a="http://schemas.openxmlformats.org/drawingml/2006/main">
                <a:srgbClr val="3F7CAC"/>
              </a:solidFill>
            </c:spPr>
          </c:dPt>
          <c:dPt>
            <c:idx val="1"/>
            <c:spPr>
              <a:solidFill xmlns:a="http://schemas.openxmlformats.org/drawingml/2006/main">
                <a:srgbClr val="F18D3A"/>
              </a:solidFill>
            </c:spPr>
          </c:dPt>
          <c:cat>
            <c:strLit>
              <c:ptCount val="2"/>
              <c:pt idx="0">
                <c:v>Остались</c:v>
              </c:pt>
              <c:pt idx="1">
                <c:v>Ушли</c:v>
              </c:pt>
            </c:strLit>
          </c:cat>
          <c:val>
            <c:numLit>
              <c:formatCode>General</c:formatCode>
              <c:ptCount val="2"/>
              <c:pt idx="0">
                <c:v>86</c:v>
              </c:pt>
              <c:pt idx="1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30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2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3000">
              <a:solidFill>
                <a:srgbClr val="171717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fbf7a805c404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4C5CF-D44E-4041-A4E1-A20078F5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0B0B"/>
              </a:gs>
              <a:gs pos="100000">
                <a:srgbClr val="0B0B0B">
                  <a:alpha val="86667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A0296-2882-44EE-8A79-D0EA298F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334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Технологии и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инструментарий анализа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больших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7E340-33A5-4F5D-AC66-6CABB2AE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KNIME Analytics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AB21A-109C-4B93-B92F-75184431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Визуальные рабочие процессы от данных до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157800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A6ABD-B65B-4778-AEB7-AEADEF6D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17521-F028-45B7-9ACE-706C5723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Два вопроса доклада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3AA2A-67BD-414E-8623-2BCC475E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953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2A0A2-89B2-4934-9A73-46043A5B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114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641EA-7796-4AFE-93C5-4FDFDF44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095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Основная задача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09B44-27B8-4C6F-BF5B-2C2AA957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визуальный workflow превращает данные в воспроизводимый процесс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BFCC7-96E1-46AC-B711-95BC461F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953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11994-50B3-44D3-A66C-B3C833FB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114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9AF13-3EE8-4DD7-A1B7-C32B01EC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4095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Прикладной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E7DB5-06D8-437E-8E0B-8FE1AFC4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0055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Прогноз оттока клиентов на основе исторических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362114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A9FF0-C9B8-4B7E-99CB-10601637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7A355-3E59-4FD1-9C32-B52F46CC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KNIME Analytics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A4E95-201B-4711-9B14-DB5A6AFB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Свободная платформа с открытым исходным кодом для визуального анализа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E8B28-CE6A-4B04-9164-F124C7D2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56F67-6DB1-4ADE-9A3A-9213B2FA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BD802-DDBB-4C45-9A37-0B2F9954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3BE87-B406-488B-8E80-0F1FF219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ОТЧЁТ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4048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arrow" w="med" len="me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191250" y="4048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arrow" w="med" len="med"/>
          </a:ln>
        </p:spPr>
      </p:cxn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40481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4D5D3-F3BF-447B-9CA1-12D591CF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300+ подключений к источникам и сервисам</a:t>
            </a:r>
          </a:p>
        </p:txBody>
      </p:sp>
    </p:spTree>
    <p:extLst>
      <p:ext uri="{BB962C8B-B14F-4D97-AF65-F5344CB8AC3E}">
        <p14:creationId xmlns:p14="http://schemas.microsoft.com/office/powerpoint/2010/main" val="1025753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FC656-3A4E-43F7-B247-A2DAB11C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B8675-A7AA-4180-A0C3-EF23832B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Основная задача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4B5DA-76D4-455C-85BD-A2B5E8A1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Собрать повторяемый анализ как наглядную исполняемую схему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5240A-3205-4503-89C3-581E6C32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ПОЛУЧИТЬ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6AD4B-68C9-486F-BDC2-D7DBA616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ОЧИСТИТЬ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5F964-F91D-4C67-A0B0-26C6D374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ОБУЧИТЬ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3F0B6-A620-4532-B32B-BD44E028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643FC-3D7D-4538-9605-9A58DF53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76625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ПРИМЕНИТЬ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81250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14875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48500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82125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1E61E-8BEE-48FB-966D-AE2B8E50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 хранит порядок действий, настройки узлов и связи между ними</a:t>
            </a:r>
          </a:p>
        </p:txBody>
      </p:sp>
    </p:spTree>
    <p:extLst>
      <p:ext uri="{BB962C8B-B14F-4D97-AF65-F5344CB8AC3E}">
        <p14:creationId xmlns:p14="http://schemas.microsoft.com/office/powerpoint/2010/main" val="808961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10078-1C32-458F-86BE-AEF853A4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7C040-902F-4ECB-85A7-78D72DF3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Узлы и связи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B2E78-DF48-486D-9D61-8C9739E6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CSV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5774B-ADFB-4F9B-AD3D-6E3BF6D0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38375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ROW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6DEAD-E34E-4A07-B291-499DCCAE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SCORER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62325" y="323850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34250" y="323850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83EDD-9A6F-479C-B1A6-42B06DA1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C436C-B603-4586-B4C3-E6860326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выход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E8190-2C74-44BB-891A-4A48D3A9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Каждый узел выполняет одну операцию. Порты передают таблицы, модели или параметры.</a:t>
            </a:r>
          </a:p>
        </p:txBody>
      </p:sp>
    </p:spTree>
    <p:extLst>
      <p:ext uri="{BB962C8B-B14F-4D97-AF65-F5344CB8AC3E}">
        <p14:creationId xmlns:p14="http://schemas.microsoft.com/office/powerpoint/2010/main" val="7711524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B6326-286A-42D6-B97B-2B018D07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BABAC-A9EE-4AA1-9701-0A380CAD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Единая среда анализа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3B8DF-A009-4C75-BB08-93E4A78F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3143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KNIME</a:t>
            </a:r>
          </a:p>
          <a:p xmlns:a="http://schemas.openxmlformats.org/drawingml/2006/main">
            <a:pPr algn="ctr">
              <a:defRPr sz="36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784DE-EDE5-4675-8EA1-E2E316D1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ФАЙЛЫ И БД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5D132-EF89-4370-9820-FC71A1E6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PYTHON И 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6DDB2-D055-4532-9D84-E0FA5A93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66875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ML И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07356-698D-4ABA-8664-3D2A4D4B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91000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ОТЧЁТЫ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3400425" y="2238375"/>
            <a:ext cx="112395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3400425" y="3429000"/>
            <a:ext cx="11239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</a:ln>
        </p:spPr>
      </p:cxnSp>
      <p:cxnSp>
        <p:nvCxnSpPr>
          <p:cNvPr id="22" name=""/>
          <p:cNvCxnSpPr>
            <a:stCxn xmlns:a="http://schemas.openxmlformats.org/drawingml/2006/main" id="3" idx="6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7667625" y="2238375"/>
            <a:ext cx="112395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</a:ln>
        </p:spPr>
      </p:cxnSp>
      <p:cxnSp>
        <p:nvCxnSpPr>
          <p:cNvPr id="23" name=""/>
          <p:cNvCxnSpPr>
            <a:stCxn xmlns:a="http://schemas.openxmlformats.org/drawingml/2006/main" id="3" idx="6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67625" y="3429000"/>
            <a:ext cx="11239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99D96-E643-498F-A634-4DE4BD93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6262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No-code и low-code дополняются кодом там, где он действительно нужен</a:t>
            </a:r>
          </a:p>
        </p:txBody>
      </p:sp>
    </p:spTree>
    <p:extLst>
      <p:ext uri="{BB962C8B-B14F-4D97-AF65-F5344CB8AC3E}">
        <p14:creationId xmlns:p14="http://schemas.microsoft.com/office/powerpoint/2010/main" val="7007547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73371-D3DB-4784-8FBB-9D578842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9E72A-9753-4F6F-8C9F-5EE2611C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 с большими данными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B858B-D28C-479B-ABDA-7C1A70F3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Вычисления размещаются ближе к данным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05923-1045-43E7-867B-361B702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FA03D-C2F4-4069-80A9-2C815D97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 БАЗЕ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93156-26EB-44F0-89D9-6CF5CBDA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98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SPARK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D6172-2C78-481E-BB73-4411020A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файлы и память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D6CE5-F548-4E39-B940-FCB45ECC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196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и pushdown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AB94B-9BCD-4EF8-A1FA-7FB9387F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196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Hadoop и Databricks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29C5A-BB70-4914-A2FC-67EAF382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6769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Parquet, ORC, HDFS, Hive, Impala</a:t>
            </a:r>
          </a:p>
        </p:txBody>
      </p:sp>
    </p:spTree>
    <p:extLst>
      <p:ext uri="{BB962C8B-B14F-4D97-AF65-F5344CB8AC3E}">
        <p14:creationId xmlns:p14="http://schemas.microsoft.com/office/powerpoint/2010/main" val="275966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AA6AB-291E-4532-84BA-8FD9CCB9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572FC-F0D6-4BE1-9948-7FAF3D72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 прототипа к эксплуатации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43384-85E5-4E90-9847-DCEB7DE8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ANALYTICS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A0568-AF9C-4D14-9386-ACA086B5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KNIME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CD119-CCBA-417B-9171-F7CABECC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ПОТРЕБИТЕЛЬ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24250" y="3333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3333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4EB7D-344D-4037-BDB3-A5BA7C01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создание и локальный запуск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8BF6D-867B-4A15-828C-035853B9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72000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версии, расписание, сервисы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B4299-E15F-46F2-A096-E5694878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0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data app, API, отчёт</a:t>
            </a:r>
          </a:p>
        </p:txBody>
      </p:sp>
    </p:spTree>
    <p:extLst>
      <p:ext uri="{BB962C8B-B14F-4D97-AF65-F5344CB8AC3E}">
        <p14:creationId xmlns:p14="http://schemas.microsoft.com/office/powerpoint/2010/main" val="1400571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57EE5-8A95-4550-8AA0-FEB73D53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1AA1A-F4FE-4C03-AF77-46B28F00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Прикладные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9782C-2730-47BD-8374-FAC66187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5121C-AAAC-4A11-A9A3-90EE96B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СПРОС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BBEB8-6732-488A-8284-86A95C31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АНОМАЛИИ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E01E-A5D3-4B53-84EB-4415AAFA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ТЕКСТ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B6D10-65CF-42BA-96DD-F2D1CD9B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43375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ОБСЛУЖИВАНИЕ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10F93-48BE-4185-90EE-0901E985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77B255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ОТЧЁТЫ</a:t>
            </a:r>
          </a:p>
        </p:txBody>
      </p:sp>
    </p:spTree>
    <p:extLst>
      <p:ext uri="{BB962C8B-B14F-4D97-AF65-F5344CB8AC3E}">
        <p14:creationId xmlns:p14="http://schemas.microsoft.com/office/powerpoint/2010/main" val="2797784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A93A9-2439-4965-A99A-388CA2B8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BA0E8-BD62-4A73-9DC1-16C183ED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Кейс: прогноз оттока клиентов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C8D21-F78E-4769-846C-EBF425F9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Цель: оценить вероятность ухода каждого абонента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4762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a6957623c8407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5B697-C81E-437E-AB08-AD3E48CB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ЗВОНКИ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768D0-3BBA-427C-A538-023C1807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ДОГОВОР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266C3-1164-4B2A-AB6E-13E7EBAB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ПРОФИЛЬ</a:t>
            </a:r>
          </a:p>
        </p:txBody>
      </p:sp>
      <p:cxnSp>
        <p:nvCxnSpPr>
          <p:cNvPr id="18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620000" y="3619500"/>
            <a:ext cx="142875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64676D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9048750" y="3619500"/>
            <a:ext cx="142875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64676D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8B792-0720-4797-B7E5-32C79A42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864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3 333 клиента, 21 признак</a:t>
            </a:r>
          </a:p>
        </p:txBody>
      </p:sp>
    </p:spTree>
    <p:extLst>
      <p:ext uri="{BB962C8B-B14F-4D97-AF65-F5344CB8AC3E}">
        <p14:creationId xmlns:p14="http://schemas.microsoft.com/office/powerpoint/2010/main" val="9945633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F4BC5-F5BE-4CE4-BA7F-03179EBB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0B82A-E5CD-40F0-B303-E15CB07E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Учебный workflow целиком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14616c5fa4a12"/>
          <a:stretch xmlns:a="http://schemas.openxmlformats.org/drawingml/2006/main"/>
        </p:blipFill>
        <p:spPr>
          <a:xfrm xmlns:a="http://schemas.openxmlformats.org/drawingml/2006/main">
            <a:off x="1624820" y="1524000"/>
            <a:ext cx="8942360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FE99D-98EB-45A2-92B1-7845252A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     Подготовка     Обучение     Оценка</a:t>
            </a:r>
          </a:p>
        </p:txBody>
      </p:sp>
    </p:spTree>
    <p:extLst>
      <p:ext uri="{BB962C8B-B14F-4D97-AF65-F5344CB8AC3E}">
        <p14:creationId xmlns:p14="http://schemas.microsoft.com/office/powerpoint/2010/main" val="15340408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39399-ED96-40C9-9D46-5769496E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D9A9F-DAA9-4476-9CDD-72BDA3B9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Подготовка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E3988-7CC7-404C-8660-BE4C66DA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JOIN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A236E-DBDF-4C20-98E3-7111EC3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ТИПЫ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25DD9-2871-49A5-87AA-9F825643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ОБЗОР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11686-04C5-460E-B80E-5B696BA9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SMOTE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485FE-899A-4890-8378-0D7B1981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428875"/>
            <a:ext cx="1285875" cy="1428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77B255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ML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5241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arrow" w="med" len="med"/>
          </a:ln>
        </p:spPr>
      </p:cxn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006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arrow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arrow" w="med" len="med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9536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12C9F-22E7-437B-9CCE-72DEF5AF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SMOTE создаёт синтетические примеры редкого класса только внутри обучающей выборки</a:t>
            </a:r>
          </a:p>
        </p:txBody>
      </p:sp>
    </p:spTree>
    <p:extLst>
      <p:ext uri="{BB962C8B-B14F-4D97-AF65-F5344CB8AC3E}">
        <p14:creationId xmlns:p14="http://schemas.microsoft.com/office/powerpoint/2010/main" val="2498974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35809-B755-44B7-B5C6-5A811EF8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66A23-3C2A-428A-9B61-A91C66AC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Обучение и проверка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4EBD5-A479-4FDC-9DB9-AF5A6E5E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5-кратная перекрёстная проверка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6880A-FFD1-4822-8E5F-5FC4BD41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41848-DE57-437F-A477-D0921155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CA1EA-5DC3-45F1-8724-471A7688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E31F2-6953-4D3A-911E-C1D08761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E660A-A507-4B12-B972-64380ED2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D9830-DF81-4F3A-8B10-F101C4F0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BD1DA-0951-4667-BD9A-FDD44B54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AD436-3339-40EA-A222-517DDAFE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A842D-A3F5-4983-87BF-BEE494A3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2A223-93D4-4662-9420-E5FAB6C4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6FD41-DD25-419C-9A9B-236B9CB3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 каждой итерации 80% данных обучают модель, 20% проверяют её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22B22-11BC-401B-9DB3-C0E281A3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436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Random Forest: 100 деревьев</a:t>
            </a:r>
          </a:p>
        </p:txBody>
      </p:sp>
    </p:spTree>
    <p:extLst>
      <p:ext uri="{BB962C8B-B14F-4D97-AF65-F5344CB8AC3E}">
        <p14:creationId xmlns:p14="http://schemas.microsoft.com/office/powerpoint/2010/main" val="9494271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C4840-DB01-4753-867E-84B931EF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21F66-9070-4CBB-A15A-C9F74002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Результат официального примера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140B1-CF1E-40E6-BA60-20E2EC7D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476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A8CD0-ED8C-4612-96AB-790A3AA1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93,8%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A0671-C9AD-4C7F-9AEB-6D37D651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1316D-4651-4153-A424-69A6D460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4476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32BB7-BC7C-420F-8D63-F2DC007C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2887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0,89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7B506-E9B2-40BA-BAEA-F63586D1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71875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26DD1-8533-4A99-883C-43A54C5B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Из-за дисбаланса классов accuracy оценивают вместе с ROC, precision и recall</a:t>
            </a:r>
          </a:p>
        </p:txBody>
      </p:sp>
    </p:spTree>
    <p:extLst>
      <p:ext uri="{BB962C8B-B14F-4D97-AF65-F5344CB8AC3E}">
        <p14:creationId xmlns:p14="http://schemas.microsoft.com/office/powerpoint/2010/main" val="19883365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30063-25AF-4520-8735-E8B4720D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CC4CF-DB06-4736-AB2B-9CE9B610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Применение модели к новым клиентам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76ba292474b7c"/>
          <a:stretch xmlns:a="http://schemas.openxmlformats.org/drawingml/2006/main"/>
        </p:blipFill>
        <p:spPr>
          <a:xfrm xmlns:a="http://schemas.openxmlformats.org/drawingml/2006/main">
            <a:off x="523875" y="1761204"/>
            <a:ext cx="5334000" cy="3621342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bada9fc894bf1"/>
          <a:srcRect xmlns:a="http://schemas.openxmlformats.org/drawingml/2006/main" l="0" t="1136" r="0" b="1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571625"/>
            <a:ext cx="542925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94D17-64F4-4C09-8D97-9A6B868D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Workflow расчёта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5EE20-ACB5-48DA-8B42-3D077F2F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150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Риск по каждому клиенту</a:t>
            </a:r>
          </a:p>
        </p:txBody>
      </p:sp>
    </p:spTree>
    <p:extLst>
      <p:ext uri="{BB962C8B-B14F-4D97-AF65-F5344CB8AC3E}">
        <p14:creationId xmlns:p14="http://schemas.microsoft.com/office/powerpoint/2010/main" val="5021183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FB73E-F28B-4B10-9553-3674B0A0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61512-390D-436C-8F2C-EC7325A2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проверять перед внедрением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1C902-39BF-438B-8FC8-BC4F7C53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A3DA0-F078-43ED-A67F-1D20860E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37D0F-65DC-4B63-8342-E20CADEC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качество редкого класса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утечка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изменение распределений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9E889-B2B2-4CDF-A311-603F307C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19250"/>
            <a:ext cx="4762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D7915-8525-421D-88E1-F548739E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БИЗНЕС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45B9B-F7A6-433B-B18B-CAF8532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стоимость контакта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цена пропущенного ухода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порог 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1145197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F5C8B-9F29-4401-92C8-CB0E4984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5B4E0-4CDB-4D94-B502-9FC88725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Сильные стороны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1D93C-0D1A-4988-8249-894E7583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ПОДХОДИТ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5E09A-EA28-4186-AFD7-B3E7452F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476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E39E3-F398-4A66-9BF3-61718903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39433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наглядные процессы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повторяемая аналитика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команды разного профиля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916EB-AEEF-44F1-9C37-5B9B4ABC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716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УЧЕСТЬ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29475-05D7-4151-A3C9-6BB16D31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4476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F12F6-0C50-436B-8290-350EF266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39433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ресурсы рабочего ПК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настройку Spark и БД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лицензию для Hub</a:t>
            </a:r>
          </a:p>
        </p:txBody>
      </p:sp>
    </p:spTree>
    <p:extLst>
      <p:ext uri="{BB962C8B-B14F-4D97-AF65-F5344CB8AC3E}">
        <p14:creationId xmlns:p14="http://schemas.microsoft.com/office/powerpoint/2010/main" val="19562495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D5420-7978-46D8-8ED1-0534D9B1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E221A-2B64-4EB5-B31A-AEF98D34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Вывод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84EA2-45A9-46A6-BBB6-3118CF7B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KNIME превращает анализ данных в понятный и исполняемый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27C20-3D10-4794-9C53-76F5AB68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77DFD-C39E-405E-B3DA-EEB87987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C93FF-2FDA-4524-A875-1872C731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4095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FFFFFF"/>
            </a:solidFill>
            <a:prstDash val="solid"/>
            <a:headEnd type="arrow" w="med" len="med"/>
          </a:ln>
        </p:spPr>
      </p:cxn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4095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FFFFFF"/>
            </a:solidFill>
            <a:prstDash val="solid"/>
            <a:head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DD7A2-6BA1-469D-95E5-F15E02CF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D800"/>
                </a:solidFill>
                <a:latin typeface="Arial"/>
                <a:ea typeface="Arial"/>
                <a:cs typeface="Arial"/>
              </a:rPr>
              <a:t>Основные источники: knime.com и docs.knime.com</a:t>
            </a:r>
          </a:p>
        </p:txBody>
      </p:sp>
    </p:spTree>
    <p:extLst>
      <p:ext uri="{BB962C8B-B14F-4D97-AF65-F5344CB8AC3E}">
        <p14:creationId xmlns:p14="http://schemas.microsoft.com/office/powerpoint/2010/main" val="1882578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2026-09-13T08:41:53.2200000Z</dcterms:created>
  <dcterms:modified xsi:type="dcterms:W3CDTF">2026-09-13T08:41:53.2200000Z</dcterms:modified>
</coreProperties>
</file>