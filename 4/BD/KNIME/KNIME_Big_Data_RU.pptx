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f745a269f4b18" /><Relationship Type="http://schemas.openxmlformats.org/officeDocument/2006/relationships/extended-properties" Target="/docProps/app.xml" Id="R9a13f71965fd4314" /><Relationship Type="http://schemas.openxmlformats.org/officeDocument/2006/relationships/officeDocument" Target="/ppt/presentation.xml" Id="R64a620658a5a47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3aa442c30840ec"/>
  </p:sldMasterIdLst>
  <p:notesMasterIdLst>
    <p:notesMasterId xmlns:r="http://schemas.openxmlformats.org/officeDocument/2006/relationships" r:id="R39121b597b104ace"/>
  </p:notesMasterIdLst>
  <p:sldIdLst>
    <p:sldId xmlns:r="http://schemas.openxmlformats.org/officeDocument/2006/relationships" id="256" r:id="R47e443c6c7b64adf"/>
    <p:sldId xmlns:r="http://schemas.openxmlformats.org/officeDocument/2006/relationships" id="257" r:id="Rb0d762d826c440d9"/>
    <p:sldId xmlns:r="http://schemas.openxmlformats.org/officeDocument/2006/relationships" id="258" r:id="R8672b88111194771"/>
    <p:sldId xmlns:r="http://schemas.openxmlformats.org/officeDocument/2006/relationships" id="259" r:id="Rdebb065125c948b3"/>
    <p:sldId xmlns:r="http://schemas.openxmlformats.org/officeDocument/2006/relationships" id="260" r:id="Rfc1c0bfe032d4247"/>
    <p:sldId xmlns:r="http://schemas.openxmlformats.org/officeDocument/2006/relationships" id="261" r:id="R06d5436074b846cd"/>
    <p:sldId xmlns:r="http://schemas.openxmlformats.org/officeDocument/2006/relationships" id="262" r:id="Rf695ba8862f846ac"/>
    <p:sldId xmlns:r="http://schemas.openxmlformats.org/officeDocument/2006/relationships" id="263" r:id="R98ce5dd6be0e4be8"/>
    <p:sldId xmlns:r="http://schemas.openxmlformats.org/officeDocument/2006/relationships" id="264" r:id="Ra86c249bc71d494f"/>
    <p:sldId xmlns:r="http://schemas.openxmlformats.org/officeDocument/2006/relationships" id="265" r:id="R8c47e3f5dddd4b92"/>
    <p:sldId xmlns:r="http://schemas.openxmlformats.org/officeDocument/2006/relationships" id="266" r:id="Re6587b9b0e314260"/>
    <p:sldId xmlns:r="http://schemas.openxmlformats.org/officeDocument/2006/relationships" id="267" r:id="R16b106f87bda4a5b"/>
    <p:sldId xmlns:r="http://schemas.openxmlformats.org/officeDocument/2006/relationships" id="268" r:id="Rf84f3121cd114ba3"/>
    <p:sldId xmlns:r="http://schemas.openxmlformats.org/officeDocument/2006/relationships" id="269" r:id="Re73465bc53284acc"/>
    <p:sldId xmlns:r="http://schemas.openxmlformats.org/officeDocument/2006/relationships" id="270" r:id="R2e5c6463169a4bfc"/>
    <p:sldId xmlns:r="http://schemas.openxmlformats.org/officeDocument/2006/relationships" id="271" r:id="R44bbaac3d90c4b20"/>
    <p:sldId xmlns:r="http://schemas.openxmlformats.org/officeDocument/2006/relationships" id="272" r:id="R0b2e1ec32027451a"/>
    <p:sldId xmlns:r="http://schemas.openxmlformats.org/officeDocument/2006/relationships" id="273" r:id="Rafd6598e530e40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15732813d244b2" /><Relationship Type="http://schemas.openxmlformats.org/officeDocument/2006/relationships/slideMaster" Target="/ppt/slideMasters/slideMaster1.xml" Id="R113aa442c30840ec" /><Relationship Type="http://schemas.openxmlformats.org/officeDocument/2006/relationships/notesMaster" Target="/ppt/notesMasters/notesMaster1.xml" Id="R39121b597b104ace" /><Relationship Type="http://schemas.openxmlformats.org/officeDocument/2006/relationships/presProps" Target="/ppt/presProps.xml" Id="R9d0f1eb4c51a4505" /><Relationship Type="http://schemas.openxmlformats.org/officeDocument/2006/relationships/tableStyles" Target="/ppt/tableStyles.xml" Id="Rb9c09eb758b848dd" /><Relationship Type="http://schemas.openxmlformats.org/officeDocument/2006/relationships/slide" Target="/ppt/slides/slide1.xml" Id="R47e443c6c7b64adf" /><Relationship Type="http://schemas.openxmlformats.org/officeDocument/2006/relationships/slide" Target="/ppt/slides/slide2.xml" Id="Rb0d762d826c440d9" /><Relationship Type="http://schemas.openxmlformats.org/officeDocument/2006/relationships/slide" Target="/ppt/slides/slide3.xml" Id="R8672b88111194771" /><Relationship Type="http://schemas.openxmlformats.org/officeDocument/2006/relationships/slide" Target="/ppt/slides/slide4.xml" Id="Rdebb065125c948b3" /><Relationship Type="http://schemas.openxmlformats.org/officeDocument/2006/relationships/slide" Target="/ppt/slides/slide5.xml" Id="Rfc1c0bfe032d4247" /><Relationship Type="http://schemas.openxmlformats.org/officeDocument/2006/relationships/slide" Target="/ppt/slides/slide6.xml" Id="R06d5436074b846cd" /><Relationship Type="http://schemas.openxmlformats.org/officeDocument/2006/relationships/slide" Target="/ppt/slides/slide7.xml" Id="Rf695ba8862f846ac" /><Relationship Type="http://schemas.openxmlformats.org/officeDocument/2006/relationships/slide" Target="/ppt/slides/slide8.xml" Id="R98ce5dd6be0e4be8" /><Relationship Type="http://schemas.openxmlformats.org/officeDocument/2006/relationships/slide" Target="/ppt/slides/slide9.xml" Id="Ra86c249bc71d494f" /><Relationship Type="http://schemas.openxmlformats.org/officeDocument/2006/relationships/slide" Target="/ppt/slides/slide10.xml" Id="R8c47e3f5dddd4b92" /><Relationship Type="http://schemas.openxmlformats.org/officeDocument/2006/relationships/slide" Target="/ppt/slides/slide11.xml" Id="Re6587b9b0e314260" /><Relationship Type="http://schemas.openxmlformats.org/officeDocument/2006/relationships/slide" Target="/ppt/slides/slide12.xml" Id="R16b106f87bda4a5b" /><Relationship Type="http://schemas.openxmlformats.org/officeDocument/2006/relationships/slide" Target="/ppt/slides/slide13.xml" Id="Rf84f3121cd114ba3" /><Relationship Type="http://schemas.openxmlformats.org/officeDocument/2006/relationships/slide" Target="/ppt/slides/slide14.xml" Id="Re73465bc53284acc" /><Relationship Type="http://schemas.openxmlformats.org/officeDocument/2006/relationships/slide" Target="/ppt/slides/slide15.xml" Id="R2e5c6463169a4bfc" /><Relationship Type="http://schemas.openxmlformats.org/officeDocument/2006/relationships/slide" Target="/ppt/slides/slide16.xml" Id="R44bbaac3d90c4b20" /><Relationship Type="http://schemas.openxmlformats.org/officeDocument/2006/relationships/slide" Target="/ppt/slides/slide17.xml" Id="R0b2e1ec32027451a" /><Relationship Type="http://schemas.openxmlformats.org/officeDocument/2006/relationships/slide" Target="/ppt/slides/slide18.xml" Id="Rafd6598e530e40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766ef3f0e14e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1794c802348b4" /><Relationship Type="http://schemas.openxmlformats.org/officeDocument/2006/relationships/notesMaster" Target="/ppt/notesMasters/notesMaster1.xml" Id="R7143afea63ba4d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6d1dbb01d7459a" /><Relationship Type="http://schemas.openxmlformats.org/officeDocument/2006/relationships/notesMaster" Target="/ppt/notesMasters/notesMaster1.xml" Id="Rcba8afede43141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8f5a1600c9494a" /><Relationship Type="http://schemas.openxmlformats.org/officeDocument/2006/relationships/notesMaster" Target="/ppt/notesMasters/notesMaster1.xml" Id="Re00cd09d46ce40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0ffead51f447d2" /><Relationship Type="http://schemas.openxmlformats.org/officeDocument/2006/relationships/notesMaster" Target="/ppt/notesMasters/notesMaster1.xml" Id="Rf64b7e6328b842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361b0c9e564a1c" /><Relationship Type="http://schemas.openxmlformats.org/officeDocument/2006/relationships/notesMaster" Target="/ppt/notesMasters/notesMaster1.xml" Id="Rd0956780f70540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c513b04ed8489a" /><Relationship Type="http://schemas.openxmlformats.org/officeDocument/2006/relationships/notesMaster" Target="/ppt/notesMasters/notesMaster1.xml" Id="R25b255428c5f4b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72accec7854451" /><Relationship Type="http://schemas.openxmlformats.org/officeDocument/2006/relationships/notesMaster" Target="/ppt/notesMasters/notesMaster1.xml" Id="R9a937ac8d54245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3c802c48754c4a" /><Relationship Type="http://schemas.openxmlformats.org/officeDocument/2006/relationships/notesMaster" Target="/ppt/notesMasters/notesMaster1.xml" Id="R56e92c654d2b44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23989655214fe8" /><Relationship Type="http://schemas.openxmlformats.org/officeDocument/2006/relationships/notesMaster" Target="/ppt/notesMasters/notesMaster1.xml" Id="Rb8cc7091982847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ec9f8ba2764f5e" /><Relationship Type="http://schemas.openxmlformats.org/officeDocument/2006/relationships/notesMaster" Target="/ppt/notesMasters/notesMaster1.xml" Id="R92b4ab93d32742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69068b88a7478d" /><Relationship Type="http://schemas.openxmlformats.org/officeDocument/2006/relationships/notesMaster" Target="/ppt/notesMasters/notesMaster1.xml" Id="R17a91551f2274a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5c47eb53864e48" /><Relationship Type="http://schemas.openxmlformats.org/officeDocument/2006/relationships/notesMaster" Target="/ppt/notesMasters/notesMaster1.xml" Id="R106904044dfa4b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a7ec9dbeda48c5" /><Relationship Type="http://schemas.openxmlformats.org/officeDocument/2006/relationships/notesMaster" Target="/ppt/notesMasters/notesMaster1.xml" Id="R4084746e66f443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8da2ec1b0f44c7" /><Relationship Type="http://schemas.openxmlformats.org/officeDocument/2006/relationships/notesMaster" Target="/ppt/notesMasters/notesMaster1.xml" Id="R18a4bf53bc194b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5ca0508ff64820" /><Relationship Type="http://schemas.openxmlformats.org/officeDocument/2006/relationships/notesMaster" Target="/ppt/notesMasters/notesMaster1.xml" Id="R0fbe1380e4634c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d0cad26e0d41ef" /><Relationship Type="http://schemas.openxmlformats.org/officeDocument/2006/relationships/notesMaster" Target="/ppt/notesMasters/notesMaster1.xml" Id="Re70dee13ba664c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6cf8556b484614" /><Relationship Type="http://schemas.openxmlformats.org/officeDocument/2006/relationships/notesMaster" Target="/ppt/notesMasters/notesMaster1.xml" Id="R4c0ffb903a7a45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82ffa603e24e11" /><Relationship Type="http://schemas.openxmlformats.org/officeDocument/2006/relationships/notesMaster" Target="/ppt/notesMasters/notesMaster1.xml" Id="R3ca99f4263f2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Сегодня я разберу KNIME Analytics Platform как инструмент анализа данных. Сначала покажу, какую основную задачу решает платформа и как устроен визуальный рабочий процесс. Затем разберу прикладной пример прогнозирования оттока клиентов, включая подготовку данных, обучение модели, проверку качества и применение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Доклад отвечает на два вопроса. Первый вопрос касается назначения инструмента. KNIME помогает собрать анализ в виде исполняемой схемы, где видны источники данных, преобразования и итог. Второй вопрос практический. Мы проследим, как такая схема решает задачу прогнозирования оттока клиентов.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Analytics Platform распространяется бесплатно и имеет открытый исходный код. Пользователь собирает анализ на рабочем поле из узлов. Платформа охватывает загрузку и объединение данных, преобразования, визуализацию и машинное обучение. На официальном сайте указано более трёхсот подключений к источникам данных и сервисам.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https://www.knime.com/get-started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Главная задача KNIME состоит в том, чтобы превратить разрозненные операции анализа в повторяемый рабочий процесс. Схема показывает, откуда пришли данные, какие преобразования выполнены, какая модель обучена и куда передан результат. Такой workflow можно запускать целиком, частями или по отдельным узлам, а затем повторять на новых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https://www.knime.com/why-visual-workflows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Узел в KNIME представляет отдельную задачу. Это может быть чтение файла, фильтрация строк, обучение модели или построение визуализации. Входные и выходные порты передают не только таблицы, но также модели, подключения к базам и параметры. Состояние узла показывает, настроен ли он, выполнен ли успешно или требует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Платформа объединяет разные способы работы. Аналитик может использовать готовые узлы без программирования, а для специальных алгоритмов подключить Python или R. Компоненты позволяют упаковать часть схемы в повторно используемый блок. Такой подход удобен, когда в одной команде работают специалисты с разным уровнем подготовки.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https://docs.knime.com/ap/latest/python_installation_guide/index.html</a:t>
            </a:r>
          </a:p>
          <a:p xmlns:a="http://schemas.openxmlformats.org/drawingml/2006/main">
            <a:r>
              <a:t>https://docs.knime.com/ap/latest/analytics_platform_components_guide/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не означает, что весь объём обязательно загружается в память одного компьютера. Часть операций можно выполнять в базе данных, а Big Data Extensions интегрируют Spark и экосистему Hadoop. Документация указывает поддержку HDFS, Hive, Impala, форматов Parquet и ORC, а расширение Spark предоставляет более шестидесяти узлов для обработки и аналитики.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https://www.knime.com/knime-analytics-platform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На рабочем компьютере KNIME Analytics Platform позволяет бесплатно создавать и запускать workflow. Для совместной работы, версий и промышленного исполнения используется KNIME Hub. В Business Hub доступны расписания, интерактивные приложения, сервисы и триггеры. Это важное разграничение, потому что локальная платформа и серверная эксплуатация относятся к разным уровням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https://www.knime.com/knime-hub-pricing</a:t>
            </a:r>
          </a:p>
          <a:p xmlns:a="http://schemas.openxmlformats.org/drawingml/2006/main">
            <a:r>
              <a:t>https://docs.knime.com/hub/latest/business_hub_deployments_guide/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применяют не только для машинного обучения. В одной и той же среде можно автоматизировать регулярные отчёты, прогнозировать спрос, искать аномалии, анализировать тексты и строить модели обслуживания оборудования. Далее мы подробно рассмотрим один пример, потому что он хорошо показывает полный цикл работы платформы.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https://www.knime.com/blog/machine-learning-in-marketing-analytics</a:t>
            </a:r>
          </a:p>
          <a:p xmlns:a="http://schemas.openxmlformats.org/drawingml/2006/main">
            <a:r>
              <a:t>https://www.knime.com/templates/churn-prediction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В официальном примере используется телеком-набор из трёх тысяч трёхсот тридцати трёх клиентов и двадцати одного признака. Данные о звонках и характеристики договора хранятся в разных файлах. Целевая переменная показывает, ушёл клиент или остался. Класс оттока составляет примерно четырнадцать процентов, поэтому данные несбалансированы.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На схеме виден полный учебный workflow KNIME. Слева загружаются два файла и объединяются записи клиентов. В центре выполняется исследование и подготовка данных. Затем запускается перекрёстная проверка модели случайного леса. Справа узлы Scorer и ROC оценивают качество. Визуальная структура позволяет обсуждать весь процесс на одном экране.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Изображение: https://www.knime.com/sites/default/files/public/1-predicting-customer-churn-marketing-analytics.png</a:t>
            </a:r>
          </a:p>
          <a:p xmlns:a="http://schemas.openxmlformats.org/drawingml/2006/main">
            <a:r>
              <a:t>Описание: 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Сначала записи из двух файлов объединяются по идентификатору клиента. Затем KNIME приводит целевую колонку к подходящему типу и помогает исследовать распределения. Из-за малого числа ушедших клиентов применяется SMOTE, который создаёт синтетические примеры меньшего класса. В реальном проекте такую балансировку выполняют только на обучающей части, чтобы не допустить утечку информации в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https://www.knime.com/blog/four-basic-steps-in-data-preparation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Модель случайного леса содержит сто деревьев. Для более надёжной оценки KNIME помещает блок обучения и прогнозирования в цикл из пяти итераций. Каждый раз четыре части данных используются для обучения, а одна часть для проверки. Узел X-Aggregator собирает прогнозы всех итераций, после чего Scorer и ROC рассчитывают метрики.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Авторы официального примера получили общую точность 93,8 процента и AUC 0,89. Эти значения показывают, что модель хорошо различает клиентов с разным риском. Однако одна accuracy может вводить в заблуждение при дисбалансе классов. Поэтому необходимо дополнительно смотреть ROC-кривую, precision, recall и цену ошибок для бизнеса.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После обучения модель сохраняется и используется в отдельном workflow. Новые клиентские данные поступают через CSV Reader, Random Forest Predictor рассчитывает вероятность оттока, а компонент визуализации показывает результат. В официальной демонстрации из пяти новых клиентов один получает высокий риск и выделяется на панели. Такой список можно передать службе удержания клиентов.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Изображения: https://www.knime.com/sites/default/files/public/2-predicting-customer-churn-marketing-analytics.png</a:t>
            </a:r>
          </a:p>
          <a:p xmlns:a="http://schemas.openxmlformats.org/drawingml/2006/main">
            <a:r>
              <a:t>https://www.knime.com/sites/default/files/public/3-predicting-customer-churn-marketing-analytics.png</a:t>
            </a:r>
          </a:p>
          <a:p xmlns:a="http://schemas.openxmlformats.org/drawingml/2006/main">
            <a:r>
              <a:t>Описание: 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Перед внедрением оценивают не только общую точность. Важно проверить recall для ушедших клиентов, исключить утечку данных и следить за изменением распределений после запуска. Бизнес-порог выбирают с учётом стоимости контакта и потерь от пропущенного ухода. KNIME помогает связать техническую оценку с последующим правилом действия в одном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Сильная сторона KNIME заключается в прозрачности процесса и возможности повторного запуска. Платформа особенно полезна для смешанных команд, где часть участников работает с готовыми узлами, а часть добавляет код. Ограничения связаны с инфраструктурой. Большие объёмы требуют базы или распределённой среды, а совместная промышленная эксплуатация часто требует KNIME 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https://www.knime.com/knime-hub-pricing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Итак, KNIME решает задачу построения прозрачного и повторяемого конвейера анализа. В примере с оттоком один workflow готовит данные и обучает модель, а другой применяет её к новым клиентам. Для больших объёмов платформа переносит работу в базу, Spark или Hadoop. Главное преимущество состоит в том, что логика анализа остаётся видимой и проверяемой.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e284ee2824a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e222eecbc94a2c" /><Relationship Type="http://schemas.openxmlformats.org/officeDocument/2006/relationships/slideLayout" Target="/ppt/slideLayouts/slideLayout1.xml" Id="R44d9dfb13a994b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d9dfb13a994b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5bb850be84c92" /><Relationship Type="http://schemas.openxmlformats.org/officeDocument/2006/relationships/image" Target="/ppt/media/image.png" Id="Rcca6cb8e081746a0" /><Relationship Type="http://schemas.openxmlformats.org/officeDocument/2006/relationships/notesSlide" Target="/ppt/notesSlides/notesSlide1.xml" Id="R1e647ed4e13b4d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88ad7470c48af" /><Relationship Type="http://schemas.openxmlformats.org/officeDocument/2006/relationships/notesSlide" Target="/ppt/notesSlides/notesSlide2.xml" Id="Rb21ee1ac16544c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a4838d99d40d2" /><Relationship Type="http://schemas.openxmlformats.org/officeDocument/2006/relationships/notesSlide" Target="/ppt/notesSlides/notesSlide3.xml" Id="R730fc1986a1b4c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1d5e8821347e5" /><Relationship Type="http://schemas.openxmlformats.org/officeDocument/2006/relationships/notesSlide" Target="/ppt/notesSlides/notesSlide4.xml" Id="Raab2af43c2e74f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5766160c3488f" /><Relationship Type="http://schemas.openxmlformats.org/officeDocument/2006/relationships/notesSlide" Target="/ppt/notesSlides/notesSlide5.xml" Id="R6d6942279fbe41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8e792932d43d1" /><Relationship Type="http://schemas.openxmlformats.org/officeDocument/2006/relationships/notesSlide" Target="/ppt/notesSlides/notesSlide6.xml" Id="Rbef9b0980b96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2b32551cf4cc2" /><Relationship Type="http://schemas.openxmlformats.org/officeDocument/2006/relationships/notesSlide" Target="/ppt/notesSlides/notesSlide7.xml" Id="Red01db71b5214a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09302b5464eef" /><Relationship Type="http://schemas.openxmlformats.org/officeDocument/2006/relationships/notesSlide" Target="/ppt/notesSlides/notesSlide8.xml" Id="R0b507b7bf89547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edec07dfb4daa" /><Relationship Type="http://schemas.openxmlformats.org/officeDocument/2006/relationships/notesSlide" Target="/ppt/notesSlides/notesSlide9.xml" Id="R13de6b21738244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a09c076204b19" /><Relationship Type="http://schemas.openxmlformats.org/officeDocument/2006/relationships/chart" Target="/ppt/slides/charts/chart1.xml" Id="Rae0fc0a67f9e4884" /><Relationship Type="http://schemas.openxmlformats.org/officeDocument/2006/relationships/notesSlide" Target="/ppt/notesSlides/notesSlide10.xml" Id="Re196fd8c055345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094e5f4ce4a20" /><Relationship Type="http://schemas.openxmlformats.org/officeDocument/2006/relationships/image" Target="/ppt/media/image2.png" Id="R639b991656614067" /><Relationship Type="http://schemas.openxmlformats.org/officeDocument/2006/relationships/notesSlide" Target="/ppt/notesSlides/notesSlide11.xml" Id="R2fc645a12e914e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5dd77f4704c98" /><Relationship Type="http://schemas.openxmlformats.org/officeDocument/2006/relationships/notesSlide" Target="/ppt/notesSlides/notesSlide12.xml" Id="Rc5bfdf0b6bad43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d280ebc314f6b" /><Relationship Type="http://schemas.openxmlformats.org/officeDocument/2006/relationships/notesSlide" Target="/ppt/notesSlides/notesSlide13.xml" Id="R1b34216f2b6744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3f2675430433c" /><Relationship Type="http://schemas.openxmlformats.org/officeDocument/2006/relationships/notesSlide" Target="/ppt/notesSlides/notesSlide14.xml" Id="Rb2a483ad5dca41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f9bbab84644c0" /><Relationship Type="http://schemas.openxmlformats.org/officeDocument/2006/relationships/image" Target="/ppt/media/image3.png" Id="R1c6e599477944927" /><Relationship Type="http://schemas.openxmlformats.org/officeDocument/2006/relationships/image" Target="/ppt/media/image4.png" Id="Re877d219bfdc427c" /><Relationship Type="http://schemas.openxmlformats.org/officeDocument/2006/relationships/notesSlide" Target="/ppt/notesSlides/notesSlide15.xml" Id="R84ba37b3753140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e4a1c04c94ee9" /><Relationship Type="http://schemas.openxmlformats.org/officeDocument/2006/relationships/notesSlide" Target="/ppt/notesSlides/notesSlide16.xml" Id="R1c55365eaf8c49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4c066e6b54327" /><Relationship Type="http://schemas.openxmlformats.org/officeDocument/2006/relationships/notesSlide" Target="/ppt/notesSlides/notesSlide17.xml" Id="Rad840f3a996547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04e18c1f24e56" /><Relationship Type="http://schemas.openxmlformats.org/officeDocument/2006/relationships/notesSlide" Target="/ppt/notesSlides/notesSlide18.xml" Id="Rf72b47997ac0422d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Доля клиентов</c:v>
          </c:tx>
          <c:dPt>
            <c:idx val="0"/>
            <c:spPr>
              <a:solidFill xmlns:a="http://schemas.openxmlformats.org/drawingml/2006/main">
                <a:srgbClr val="3F7CAC"/>
              </a:solidFill>
            </c:spPr>
          </c:dPt>
          <c:dPt>
            <c:idx val="1"/>
            <c:spPr>
              <a:solidFill xmlns:a="http://schemas.openxmlformats.org/drawingml/2006/main">
                <a:srgbClr val="F18D3A"/>
              </a:solidFill>
            </c:spPr>
          </c:dPt>
          <c:cat>
            <c:strLit>
              <c:ptCount val="2"/>
              <c:pt idx="0">
                <c:v>Остались</c:v>
              </c:pt>
              <c:pt idx="1">
                <c:v>Ушли</c:v>
              </c:pt>
            </c:strLit>
          </c:cat>
          <c:val>
            <c:numLit>
              <c:formatCode>General</c:formatCode>
              <c:ptCount val="2"/>
              <c:pt idx="0">
                <c:v>86</c:v>
              </c:pt>
              <c:pt idx="1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6cb8e081746a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4E3FF-A8A3-4A81-81AD-00C32B30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0B0B"/>
              </a:gs>
              <a:gs pos="100000">
                <a:srgbClr val="0B0B0B">
                  <a:alpha val="86667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47027-43EF-4772-BBA3-8D1E1758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334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Технологии и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инструментарий анализа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больших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22BBF-9916-4E36-8255-B21E9922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KNIME Analytics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BB8FF-A8C2-4644-9336-C5FA966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Визуальные рабочие процессы от данных до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962251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10FD6-5164-4A37-BA01-342D8230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1224F-4966-4FE6-9F3E-68DBE78F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Два вопроса доклада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208D2-DC97-4DD4-911F-9DF71452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5A000-136B-4EF1-8111-2BD5B075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114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56479-6344-4FE9-9A61-581B9A0B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Основная задача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EA0D7-14BC-4559-ABFB-D146DD98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Визуальный workflow для повторяемого анализа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9E025-058E-44A3-A248-7CB26780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A1267-F5A2-4A2B-9B19-CE45B75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114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F2A2F-109C-45EE-9A85-E41496B0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Прикладной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ECAA6-A20B-49A9-8433-30CE7164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Прогноз оттока на исторических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56725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E01BF-9046-45A5-935B-BC62BFAF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8AB72-A540-4E5F-BE15-9ECD5769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KNIME Analytics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5E2D5-81C1-41FD-A004-D3CF6F9C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Свободная платформа с открытым исходным кодом для визуального анализа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C2529-98EE-4137-A451-B21BE707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EDB86-2DEB-4731-AE7D-ADC76434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BEE3E-90CC-4AAA-AF4E-C42C0DA1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DB99A-5727-4B4E-9638-B2F1C755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4048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191250" y="4048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048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922E0-C0FD-47F7-87A6-9F811D9F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300+ подключений к источникам и сервисам</a:t>
            </a:r>
          </a:p>
        </p:txBody>
      </p:sp>
    </p:spTree>
    <p:extLst>
      <p:ext uri="{BB962C8B-B14F-4D97-AF65-F5344CB8AC3E}">
        <p14:creationId xmlns:p14="http://schemas.microsoft.com/office/powerpoint/2010/main" val="567457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F758F-CADC-4AFA-BF3C-1EDE60AF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49323-3608-4D7B-967C-63FB9C61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Основная задача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2858D-7BDC-4804-B7DE-9641724E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Собрать повторяемый анализ как наглядную исполняемую схему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58F20-4D7B-4561-8B9C-64CC6086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ВВОД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34BA3-F433-4F2E-B1ED-CEFDB073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ЧИСТКА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3F6B0-2282-4EE2-B224-9C2AD039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CBDB1-8390-403C-A28C-AC22D5BD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72FF6-93F9-4085-B6CD-8F06914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76625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81250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14875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48500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82125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C8B18-EF63-4B06-8050-825BE5E4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хранит порядок действий, настройки узлов и связи между ними</a:t>
            </a:r>
          </a:p>
        </p:txBody>
      </p:sp>
    </p:spTree>
    <p:extLst>
      <p:ext uri="{BB962C8B-B14F-4D97-AF65-F5344CB8AC3E}">
        <p14:creationId xmlns:p14="http://schemas.microsoft.com/office/powerpoint/2010/main" val="1484504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0C497-3F89-44F2-9317-38F60DA7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2B773-FA3B-42B0-8717-E4A6907E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Узлы и связи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AE868-9BC3-440E-BF7F-B59C244B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CSV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3C240-2E64-4AE6-A5B5-FE769CD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ROW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4B434-02C7-488B-9AA6-15939336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SCORER</a:t>
            </a:r>
          </a:p>
        </p:txBody>
      </p: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62325" y="323850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34250" y="323850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9FD1F-39C5-4DDD-9772-62603C5F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Каждый узел выполняет одну операцию. Порты передают таблицы, модели или параметры.</a:t>
            </a:r>
          </a:p>
        </p:txBody>
      </p:sp>
    </p:spTree>
    <p:extLst>
      <p:ext uri="{BB962C8B-B14F-4D97-AF65-F5344CB8AC3E}">
        <p14:creationId xmlns:p14="http://schemas.microsoft.com/office/powerpoint/2010/main" val="1464449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49361-48E7-442D-9CD7-920EB148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A86C7-212C-4DED-9B81-A03F3ADB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Единая среда анализа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CF4AE-366F-4F5E-8CC6-2DABB14A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KNIME</a:t>
            </a:r>
          </a:p>
          <a:p xmlns:a="http://schemas.openxmlformats.org/drawingml/2006/main">
            <a:pPr algn="ctr">
              <a:defRPr sz="36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СХЕМА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9C4DF-CF20-4762-B8A2-3ACA0967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ФАЙЛЫ И БД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BED66-DF9C-452E-8113-079CA2C5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PYTHON И 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40AC3-B2CC-46C9-9744-D96C57E2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66875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 И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1BBB2-60E1-4ED1-BADA-4156311A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91000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ОТЧЁТЫ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3400425" y="2238375"/>
            <a:ext cx="11239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3400425" y="3429000"/>
            <a:ext cx="11239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2" name=""/>
          <p:cNvCxnSpPr>
            <a:stCxn xmlns:a="http://schemas.openxmlformats.org/drawingml/2006/main" id="3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667625" y="2238375"/>
            <a:ext cx="11239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3" name=""/>
          <p:cNvCxnSpPr>
            <a:stCxn xmlns:a="http://schemas.openxmlformats.org/drawingml/2006/main" id="3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67625" y="3429000"/>
            <a:ext cx="11239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0894F-6DC2-4A1A-9859-A051A55E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6262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No-code и low-code дополняются кодом там, где он действительно нужен</a:t>
            </a:r>
          </a:p>
        </p:txBody>
      </p:sp>
    </p:spTree>
    <p:extLst>
      <p:ext uri="{BB962C8B-B14F-4D97-AF65-F5344CB8AC3E}">
        <p14:creationId xmlns:p14="http://schemas.microsoft.com/office/powerpoint/2010/main" val="1471302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0CA68-E516-404C-94E1-765234C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20E5C-0091-4DBE-9658-3F82C52F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с большими данными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E3DD7-1360-4A8B-80EF-9B32D86B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Вычисления размещаются ближе к данным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F427E-3550-4802-946F-DF762752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70790-8A36-4363-8DFF-50716955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БАЗЕ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6516A-D238-4101-913D-67028C9D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5ED09-A2F2-4E65-BA41-89C52726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файлы и память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76C48-E637-4A6D-A10C-AC2DD2BE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и pushdown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FF662-F228-4BBB-8C46-406F3AF8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Hadoop и Databricks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96482-5955-46B8-8C8E-91EB3255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769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Parquet, ORC, HDFS, Hive, Impala</a:t>
            </a:r>
          </a:p>
        </p:txBody>
      </p:sp>
    </p:spTree>
    <p:extLst>
      <p:ext uri="{BB962C8B-B14F-4D97-AF65-F5344CB8AC3E}">
        <p14:creationId xmlns:p14="http://schemas.microsoft.com/office/powerpoint/2010/main" val="1186373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FA8C3-47E4-4D36-8789-D3A2042B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2EE6B-1120-4E2C-AD34-64E4C8AA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 прототипа к эксплуатации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1BD8D-64E2-4BBC-94E1-9DDCA855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ДЕСКТОП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9B4B3-D259-4648-AF7E-6CB92024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D91DC-5747-4E84-A447-CB327665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84334-7BCD-458E-9054-2342146F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создание и локальный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C7F87-73A9-496C-87CB-A6EA7005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версии, расписание, сервисы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6EDB3-44A2-4B3B-9619-BEBC22FE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data app, API, отчёт</a:t>
            </a:r>
          </a:p>
        </p:txBody>
      </p:sp>
    </p:spTree>
    <p:extLst>
      <p:ext uri="{BB962C8B-B14F-4D97-AF65-F5344CB8AC3E}">
        <p14:creationId xmlns:p14="http://schemas.microsoft.com/office/powerpoint/2010/main" val="1256071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46475-F162-4E54-99B4-C59C2B8A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6DCD9-2E53-4357-95B8-7E897DD5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Прикладные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050F4-DE84-4EA9-B717-8DB2930B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20B11-3065-4F0E-8C9D-0849620D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СПРОС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223F0-DB76-41C0-B72D-FB57A416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АНОМАЛИИ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AAC4D-C741-4566-AF46-6912EC1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9B950-D878-4EA7-85B7-A3874B06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86FFA-CD2F-4950-B005-C1B7E83F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77B255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ОТЧЁТЫ</a:t>
            </a:r>
          </a:p>
        </p:txBody>
      </p:sp>
    </p:spTree>
    <p:extLst>
      <p:ext uri="{BB962C8B-B14F-4D97-AF65-F5344CB8AC3E}">
        <p14:creationId xmlns:p14="http://schemas.microsoft.com/office/powerpoint/2010/main" val="429132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26025-A642-4846-81DA-B7FF764B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3E405-0A8B-48B9-B423-51EC13EF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Кейс: прогноз оттока клиентов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229C9-C16C-47B9-B4EC-C934FC3A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Цель: оценить вероятность ухода каждого абонента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4762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0fc0a67f9e488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6A6DE-EBDF-4506-8E2A-6D7D7594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86%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46126-8CEA-4E11-860A-569865EA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3F7CA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F7CAC"/>
                </a:solidFill>
                <a:latin typeface="Arial"/>
                <a:ea typeface="Arial"/>
                <a:cs typeface="Arial"/>
              </a:rPr>
              <a:t>остались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6415B-F493-4B0D-A0BB-3E4AC1FA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34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18D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18D3A"/>
                </a:solidFill>
                <a:latin typeface="Arial"/>
                <a:ea typeface="Arial"/>
                <a:cs typeface="Arial"/>
              </a:rPr>
              <a:t>14% ушли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A4ED7-97BF-4B91-B0FE-3930475F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ЗВОНКИ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5334E-C5EA-4383-862E-68027BF3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ДОГОВОР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55E85-0664-4C16-9B6B-2BEE4A72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ПРОФИЛЬ</a:t>
            </a:r>
          </a:p>
        </p:txBody>
      </p:sp>
      <p:cxnSp>
        <p:nvCxnSpPr>
          <p:cNvPr id="24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620000" y="3619500"/>
            <a:ext cx="14287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9048750" y="3619500"/>
            <a:ext cx="14287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A42AC-45F1-4767-9DCF-3D5FEFB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864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3 333 клиента, 21 признак</a:t>
            </a:r>
          </a:p>
        </p:txBody>
      </p:sp>
    </p:spTree>
    <p:extLst>
      <p:ext uri="{BB962C8B-B14F-4D97-AF65-F5344CB8AC3E}">
        <p14:creationId xmlns:p14="http://schemas.microsoft.com/office/powerpoint/2010/main" val="480862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C3C02-1D58-4DA1-8D93-66A631AF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C06EB-6EC9-471C-8B81-F187F526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Учебный workflow целиком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b991656614067"/>
          <a:stretch xmlns:a="http://schemas.openxmlformats.org/drawingml/2006/main"/>
        </p:blipFill>
        <p:spPr>
          <a:xfrm xmlns:a="http://schemas.openxmlformats.org/drawingml/2006/main">
            <a:off x="1624820" y="1524000"/>
            <a:ext cx="8942360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27DC4-E30F-46F7-9890-B51F196E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     Подготовка     Обучение     Оценка</a:t>
            </a:r>
          </a:p>
        </p:txBody>
      </p:sp>
    </p:spTree>
    <p:extLst>
      <p:ext uri="{BB962C8B-B14F-4D97-AF65-F5344CB8AC3E}">
        <p14:creationId xmlns:p14="http://schemas.microsoft.com/office/powerpoint/2010/main" val="11643040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DDF0B-5EF4-4DCA-8CE7-322E5CF5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335A7-45DD-41BA-9EBE-BC072788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Подготовка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9DD39-95D3-420A-A3E7-661AE256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CCA88-2454-4F94-9AA8-FFBA91D8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ТИПЫ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54906-31ED-4D31-AAD0-63DA0CE9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ОБЗОР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5CA5A-1760-4E37-AEFC-6C308129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SMOTE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EE566-C720-4E31-8C01-A7F68419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28875"/>
            <a:ext cx="1285875" cy="1428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77B255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241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006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9536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2E2A6-C10A-4A3B-B701-06F025C0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SMOTE создаёт синтетические примеры редкого класса только внутри обучающей выборки</a:t>
            </a:r>
          </a:p>
        </p:txBody>
      </p:sp>
    </p:spTree>
    <p:extLst>
      <p:ext uri="{BB962C8B-B14F-4D97-AF65-F5344CB8AC3E}">
        <p14:creationId xmlns:p14="http://schemas.microsoft.com/office/powerpoint/2010/main" val="13399670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680E0-6F60-4667-9BA4-2846A0E5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BE9C3-CBDB-4825-9FD8-4165A17F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Обучение и проверка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5F87E-A761-49C5-AEC6-86B89C6F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5-кратная перекрёстная проверка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FDF99-7861-4134-890A-F61FFB7B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FFE64-BB44-4BED-B7A4-9FEAE693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CB1B7-C33B-4903-A387-3532A024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31987-4444-49BD-8E65-6D05E7D3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3CB96-9774-42CD-B81B-BC25EAEA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39DE2-8B2F-4ACB-8DA8-F1598224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41C2F-B43F-4841-B956-844E96A1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8BAE1-AD14-4225-985C-C5182283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C6827-250B-45F1-A6C9-6BC29578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F6B55-87B5-4143-B038-67762026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96D98-B382-435D-A387-25D381EB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каждой итерации 80% данных обучают модель, 20% проверяют её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DB34D-E1F2-4DE9-80C3-7A7B7092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436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Random Forest: 100 деревьев</a:t>
            </a:r>
          </a:p>
        </p:txBody>
      </p:sp>
    </p:spTree>
    <p:extLst>
      <p:ext uri="{BB962C8B-B14F-4D97-AF65-F5344CB8AC3E}">
        <p14:creationId xmlns:p14="http://schemas.microsoft.com/office/powerpoint/2010/main" val="2016595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4378C-E508-4966-8B38-0DF227D4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88772-019C-43A1-A018-686CF1AB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Результат официального примера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942F0-C558-4E7E-BD1F-BF4F21ED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476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E9C5C-803E-4F38-870F-A6D38824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93,8%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7BE40-751C-4F98-A067-14F67F50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63338-5862-4EB7-9595-93050D2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4476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E4518-A9D2-4D13-BD41-8DF5E087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288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0,89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9E01B-A2FE-4689-AF9A-0460261B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71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57319-AF32-4D6E-A440-64CEFB68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Из-за дисбаланса классов accuracy оценивают вместе с ROC, precision и recall</a:t>
            </a:r>
          </a:p>
        </p:txBody>
      </p:sp>
    </p:spTree>
    <p:extLst>
      <p:ext uri="{BB962C8B-B14F-4D97-AF65-F5344CB8AC3E}">
        <p14:creationId xmlns:p14="http://schemas.microsoft.com/office/powerpoint/2010/main" val="3806103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B80A5-C19D-4E80-B154-4662C7B4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0D5C7-0474-45D5-B5CA-29AEE220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Применение модели к новым клиентам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e599477944927"/>
          <a:stretch xmlns:a="http://schemas.openxmlformats.org/drawingml/2006/main"/>
        </p:blipFill>
        <p:spPr>
          <a:xfrm xmlns:a="http://schemas.openxmlformats.org/drawingml/2006/main">
            <a:off x="523875" y="1761204"/>
            <a:ext cx="5334000" cy="3621342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7d219bfdc427c"/>
          <a:srcRect xmlns:a="http://schemas.openxmlformats.org/drawingml/2006/main" l="0" t="1136" r="0" b="1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71625"/>
            <a:ext cx="542925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C669B-F613-4CF0-8D04-AD19D273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Workflow расчёта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1EFD8-2FA6-458C-A7D7-B18A1328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150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Риск по каждому клиенту</a:t>
            </a:r>
          </a:p>
        </p:txBody>
      </p:sp>
    </p:spTree>
    <p:extLst>
      <p:ext uri="{BB962C8B-B14F-4D97-AF65-F5344CB8AC3E}">
        <p14:creationId xmlns:p14="http://schemas.microsoft.com/office/powerpoint/2010/main" val="12878211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9D73E-06E8-4DC8-8B76-DC8D8FC1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B4616-A0C8-4C46-9CC8-D121CB92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проверять перед внедрением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AC729-44F2-49EA-A3D3-2155935B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A4543-EA61-426D-9C95-ACAFEAC0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1C57F-7B0F-4508-8461-2EEA307F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качество редкого класса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утечка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изменение распределений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F692E-19A9-4A89-9248-D5689929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19250"/>
            <a:ext cx="4762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50D74-1E47-4899-A7B7-1563CD3F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БИЗНЕС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B3E23-35A2-4062-B952-ED85C72A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стоимость контакта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цена пропущенного ухода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порог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19881376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80E90-28D6-4FAC-8F05-1AFA7116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B9A4B-D237-4560-8A3F-661B617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Сильные стороны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B131F-820B-473E-8C89-E6C113A3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ПОДХОДИТ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97A33-CB0E-40FB-A784-3E20D3E7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01107-1549-4F7D-A15D-8A181CA2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943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наглядные процессы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повторяемая аналитика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команды разного профиля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5A680-978F-4479-A83B-76CBFBAA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71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УЧЕСТЬ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D58AC-8F91-4EC2-8C32-0F26B2A9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55373-37D6-4CB8-A88D-676E2D11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3943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ресурсы рабочего ПК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настройку Spark и БД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лицензию для Hub</a:t>
            </a:r>
          </a:p>
        </p:txBody>
      </p:sp>
    </p:spTree>
    <p:extLst>
      <p:ext uri="{BB962C8B-B14F-4D97-AF65-F5344CB8AC3E}">
        <p14:creationId xmlns:p14="http://schemas.microsoft.com/office/powerpoint/2010/main" val="13403424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8A7AC-65B6-4070-AA5D-6A10B21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9EE29-B301-40B3-AAE7-93E3C77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C2ED9-6250-42EA-B910-0E23B2F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 превращает анализ данных в понятный и исполняемый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F894A-7724-4961-A505-F9B3589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C2B0D-F1C9-4876-AFD9-B1CDB532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74DF2-D21F-4715-9649-F93838A1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4095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4095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45CC6-1A26-4A79-8F4C-EEBBEA26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D800"/>
                </a:solidFill>
                <a:latin typeface="Arial"/>
                <a:ea typeface="Arial"/>
                <a:cs typeface="Arial"/>
              </a:rPr>
              <a:t>Основные источники: knime.com и docs.knime.com</a:t>
            </a:r>
          </a:p>
        </p:txBody>
      </p:sp>
    </p:spTree>
    <p:extLst>
      <p:ext uri="{BB962C8B-B14F-4D97-AF65-F5344CB8AC3E}">
        <p14:creationId xmlns:p14="http://schemas.microsoft.com/office/powerpoint/2010/main" val="469167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2026-09-13T08:45:41.7100000Z</dcterms:created>
  <dcterms:modified xsi:type="dcterms:W3CDTF">2026-09-13T08:45:41.7100000Z</dcterms:modified>
</coreProperties>
</file>