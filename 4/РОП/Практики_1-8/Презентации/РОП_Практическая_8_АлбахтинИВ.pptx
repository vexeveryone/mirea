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397c54b1104b97" /><Relationship Type="http://schemas.openxmlformats.org/officeDocument/2006/relationships/extended-properties" Target="/docProps/app.xml" Id="Rf489f83072f14fca" /><Relationship Type="http://schemas.openxmlformats.org/officeDocument/2006/relationships/officeDocument" Target="/ppt/presentation.xml" Id="R07fba91895ff4d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6a6e7b8b174cab"/>
  </p:sldMasterIdLst>
  <p:notesMasterIdLst>
    <p:notesMasterId xmlns:r="http://schemas.openxmlformats.org/officeDocument/2006/relationships" r:id="R276cf85ccfb94846"/>
  </p:notesMasterIdLst>
  <p:sldIdLst>
    <p:sldId xmlns:r="http://schemas.openxmlformats.org/officeDocument/2006/relationships" id="256" r:id="R430b7aecc48b4b07"/>
    <p:sldId xmlns:r="http://schemas.openxmlformats.org/officeDocument/2006/relationships" id="257" r:id="R0a7a889178534c43"/>
    <p:sldId xmlns:r="http://schemas.openxmlformats.org/officeDocument/2006/relationships" id="258" r:id="R429333c18aaf4254"/>
    <p:sldId xmlns:r="http://schemas.openxmlformats.org/officeDocument/2006/relationships" id="259" r:id="Re8088098be74401e"/>
    <p:sldId xmlns:r="http://schemas.openxmlformats.org/officeDocument/2006/relationships" id="260" r:id="Rf73cbe5829214376"/>
    <p:sldId xmlns:r="http://schemas.openxmlformats.org/officeDocument/2006/relationships" id="261" r:id="R53118e3855ab49c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4fdf62882d4288" /><Relationship Type="http://schemas.openxmlformats.org/officeDocument/2006/relationships/slideMaster" Target="/ppt/slideMasters/slideMaster1.xml" Id="Rc76a6e7b8b174cab" /><Relationship Type="http://schemas.openxmlformats.org/officeDocument/2006/relationships/notesMaster" Target="/ppt/notesMasters/notesMaster1.xml" Id="R276cf85ccfb94846" /><Relationship Type="http://schemas.openxmlformats.org/officeDocument/2006/relationships/presProps" Target="/ppt/presProps.xml" Id="R2f306e6e956940e0" /><Relationship Type="http://schemas.openxmlformats.org/officeDocument/2006/relationships/tableStyles" Target="/ppt/tableStyles.xml" Id="R9cbaa0b376c24489" /><Relationship Type="http://schemas.openxmlformats.org/officeDocument/2006/relationships/slide" Target="/ppt/slides/slide1.xml" Id="R430b7aecc48b4b07" /><Relationship Type="http://schemas.openxmlformats.org/officeDocument/2006/relationships/slide" Target="/ppt/slides/slide2.xml" Id="R0a7a889178534c43" /><Relationship Type="http://schemas.openxmlformats.org/officeDocument/2006/relationships/slide" Target="/ppt/slides/slide3.xml" Id="R429333c18aaf4254" /><Relationship Type="http://schemas.openxmlformats.org/officeDocument/2006/relationships/slide" Target="/ppt/slides/slide4.xml" Id="Re8088098be74401e" /><Relationship Type="http://schemas.openxmlformats.org/officeDocument/2006/relationships/slide" Target="/ppt/slides/slide5.xml" Id="Rf73cbe5829214376" /><Relationship Type="http://schemas.openxmlformats.org/officeDocument/2006/relationships/slide" Target="/ppt/slides/slide6.xml" Id="R53118e3855ab49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af3a94c30446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3ed600bdb9434f" /><Relationship Type="http://schemas.openxmlformats.org/officeDocument/2006/relationships/notesMaster" Target="/ppt/notesMasters/notesMaster1.xml" Id="R9b361a49934744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98892e56f44830" /><Relationship Type="http://schemas.openxmlformats.org/officeDocument/2006/relationships/notesMaster" Target="/ppt/notesMasters/notesMaster1.xml" Id="R96c39a8faab34a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9362d024ab4be7" /><Relationship Type="http://schemas.openxmlformats.org/officeDocument/2006/relationships/notesMaster" Target="/ppt/notesMasters/notesMaster1.xml" Id="R8191cabaf71f4f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2d2e827c734f4c" /><Relationship Type="http://schemas.openxmlformats.org/officeDocument/2006/relationships/notesMaster" Target="/ppt/notesMasters/notesMaster1.xml" Id="R6744348ef98642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d48486e8354c41" /><Relationship Type="http://schemas.openxmlformats.org/officeDocument/2006/relationships/notesMaster" Target="/ppt/notesMasters/notesMaster1.xml" Id="R844c7d80eb3b46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5eb0eb706e4f5b" /><Relationship Type="http://schemas.openxmlformats.org/officeDocument/2006/relationships/notesMaster" Target="/ppt/notesMasters/notesMaster1.xml" Id="Rc0699ca5fe7647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>При временном сбое сохраняется прежняя дата данных. Канал поставщика требует согласования.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>Потеря ответа требует сверки. Локальный ключ не гарантирует идемпотентность Ozon.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>OWASP Password Storage, Authorization и Transport Layer Security Cheat Sheets.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de6f9ac7d1446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8b9272123f493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2fff5f437d43c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82ea3a03c64a3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44943c9622454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9c5c15547f42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050FFC0-4572-4C42-AC38-96EC39CAF8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DA0BB4B-2F4A-4777-BE0D-86A2E5E7C9C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78360DC-08EC-43E7-8AAE-46A10A1625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FB31564-A7EB-49F6-8E51-C14818367B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1F592C8-F7B3-424A-AC99-782135020B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7F2ABD1-7943-4DBE-865E-ACE2BA7C75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9044AD0-3682-42CA-B0F3-ABB299825A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EF22038-1AFA-4D3C-AF5A-AC57AB1E581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9762F1D-E4CD-48B5-98C4-BE27CBFCDC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55FF583-D554-44FB-82FD-D719D3FC60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a9c03ab35b4029" /><Relationship Type="http://schemas.openxmlformats.org/officeDocument/2006/relationships/slideLayout" Target="/ppt/slideLayouts/slideLayout1.xml" Id="R36ccb8aa85494639" /><Relationship Type="http://schemas.openxmlformats.org/officeDocument/2006/relationships/slideLayout" Target="/ppt/slideLayouts/slideLayout2.xml" Id="Rd1206d5184124468" /><Relationship Type="http://schemas.openxmlformats.org/officeDocument/2006/relationships/slideLayout" Target="/ppt/slideLayouts/slideLayout3.xml" Id="Rddf9d553421e4a83" /><Relationship Type="http://schemas.openxmlformats.org/officeDocument/2006/relationships/slideLayout" Target="/ppt/slideLayouts/slideLayout4.xml" Id="Rc9133cf6ebf84b1b" /><Relationship Type="http://schemas.openxmlformats.org/officeDocument/2006/relationships/slideLayout" Target="/ppt/slideLayouts/slideLayout5.xml" Id="Rc41cf46c760747e7" /><Relationship Type="http://schemas.openxmlformats.org/officeDocument/2006/relationships/slideLayout" Target="/ppt/slideLayouts/slideLayout6.xml" Id="R3a622154577d48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ccb8aa85494639"/>
    <p:sldLayoutId xmlns:r="http://schemas.openxmlformats.org/officeDocument/2006/relationships" id="2147483650" r:id="Rd1206d5184124468"/>
    <p:sldLayoutId xmlns:r="http://schemas.openxmlformats.org/officeDocument/2006/relationships" id="2147483651" r:id="Rddf9d553421e4a83"/>
    <p:sldLayoutId xmlns:r="http://schemas.openxmlformats.org/officeDocument/2006/relationships" id="2147483652" r:id="Rc9133cf6ebf84b1b"/>
    <p:sldLayoutId xmlns:r="http://schemas.openxmlformats.org/officeDocument/2006/relationships" id="2147483653" r:id="Rc41cf46c760747e7"/>
    <p:sldLayoutId xmlns:r="http://schemas.openxmlformats.org/officeDocument/2006/relationships" id="2147483654" r:id="R3a622154577d48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d608d99488499e" /><Relationship Type="http://schemas.openxmlformats.org/officeDocument/2006/relationships/notesSlide" Target="/ppt/notesSlides/notesSlide1.xml" Id="R5dee5c9c7d7048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d185a0aad74dad" /><Relationship Type="http://schemas.openxmlformats.org/officeDocument/2006/relationships/notesSlide" Target="/ppt/notesSlides/notesSlide2.xml" Id="R0d7cd9fe4f2d49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5aecce23fa4d6f" /><Relationship Type="http://schemas.openxmlformats.org/officeDocument/2006/relationships/notesSlide" Target="/ppt/notesSlides/notesSlide3.xml" Id="R154bca7052d447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9414f48b904913" /><Relationship Type="http://schemas.openxmlformats.org/officeDocument/2006/relationships/notesSlide" Target="/ppt/notesSlides/notesSlide4.xml" Id="R97fe1086e67445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fba5041a504a87" /><Relationship Type="http://schemas.openxmlformats.org/officeDocument/2006/relationships/notesSlide" Target="/ppt/notesSlides/notesSlide5.xml" Id="Rf08f6d6b64ac4a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18df35a512403b" /><Relationship Type="http://schemas.openxmlformats.org/officeDocument/2006/relationships/notesSlide" Target="/ppt/notesSlides/notesSlide6.xml" Id="Re787e3abe1154a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3021D-C5E1-49C9-80E9-EE19134E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Практическое занятие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51DC3A-FFB5-4903-AB07-43EB6433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7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Интеграции и управление доступом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AC03EA-DB0B-41CE-8B1D-D3DC9B23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57625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Два сценария интеграции связывают внешний обмен с устойчивым состоянием системы.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AA54A5-D98E-46C7-82A3-8C841C82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721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Албахтин И.В.   ИНБО-12-23</a:t>
            </a:r>
          </a:p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Разработка обеспечивающих подсистем   2026</a:t>
            </a:r>
          </a:p>
        </p:txBody>
      </p:sp>
    </p:spTree>
    <p:extLst>
      <p:ext uri="{BB962C8B-B14F-4D97-AF65-F5344CB8AC3E}">
        <p14:creationId xmlns:p14="http://schemas.microsoft.com/office/powerpoint/2010/main" val="14387487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8DEEEF-55FA-43B1-AC37-70C5B12F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Обновление предложений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F8398C-E9A2-4E5F-B697-F395DB40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1381125"/>
            <a:ext cx="1562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latin typeface="Arial"/>
                <a:ea typeface="Arial"/>
                <a:cs typeface="Arial"/>
              </a:defRPr>
            </a:pPr>
            <a:r>
              <a:rPr sz="1725">
                <a:latin typeface="Arial"/>
                <a:ea typeface="Arial"/>
                <a:cs typeface="Arial"/>
              </a:rPr>
              <a:t>Склад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738BD4-67A7-442B-B3FA-CFF7BC16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66925"/>
            <a:ext cx="0" cy="36195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888888"/>
            </a:solidFill>
            <a:prstDash val="dash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E0A8C-0958-4B2B-B7BD-89125B53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325" y="1381125"/>
            <a:ext cx="1562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latin typeface="Arial"/>
                <a:ea typeface="Arial"/>
                <a:cs typeface="Arial"/>
              </a:defRPr>
            </a:pPr>
            <a:r>
              <a:rPr sz="1725">
                <a:latin typeface="Arial"/>
                <a:ea typeface="Arial"/>
                <a:cs typeface="Arial"/>
              </a:rPr>
              <a:t>Сервис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251551-76B1-4ED7-B2E4-25658048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7375" y="2066925"/>
            <a:ext cx="0" cy="36195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888888"/>
            </a:solidFill>
            <a:prstDash val="dash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1AFC5D-2625-4316-8F89-E60216C2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575" y="1381125"/>
            <a:ext cx="1562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latin typeface="Arial"/>
                <a:ea typeface="Arial"/>
                <a:cs typeface="Arial"/>
              </a:defRPr>
            </a:pPr>
            <a:r>
              <a:rPr sz="1725">
                <a:latin typeface="Arial"/>
                <a:ea typeface="Arial"/>
                <a:cs typeface="Arial"/>
              </a:rPr>
              <a:t>Адаптер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0A96FC-CCDE-458C-A32A-4ACF97E5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625" y="2066925"/>
            <a:ext cx="0" cy="36195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888888"/>
            </a:solidFill>
            <a:prstDash val="dash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BF2A53-08FC-4E72-8490-F5C76D20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1381125"/>
            <a:ext cx="1562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latin typeface="Arial"/>
                <a:ea typeface="Arial"/>
                <a:cs typeface="Arial"/>
              </a:defRPr>
            </a:pPr>
            <a:r>
              <a:rPr sz="1725">
                <a:latin typeface="Arial"/>
                <a:ea typeface="Arial"/>
                <a:cs typeface="Arial"/>
              </a:rPr>
              <a:t>Поставщик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BE7A36-815B-4DF5-8080-6C627FDE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066925"/>
            <a:ext cx="0" cy="36195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888888"/>
            </a:solidFill>
            <a:prstDash val="dash"/>
          </a:ln>
        </p:spPr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57C385-C3AF-47C1-96F4-00AA53060598}"/>
              </a:ext>
            </a:extLst>
          </p:cNvPr>
          <p:cNvCxnSpPr/>
          <p:nvPr/>
        </p:nvCxnSpPr>
        <p:spPr>
          <a:xfrm xmlns:a="http://schemas.openxmlformats.org/drawingml/2006/main">
            <a:off x="1000125" y="2505075"/>
            <a:ext cx="3397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EE5ABF-5B55-47A4-8703-5859E3C9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62175"/>
            <a:ext cx="328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Обновить данные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0206F8-37D5-4C26-A8EF-32208A94305F}"/>
              </a:ext>
            </a:extLst>
          </p:cNvPr>
          <p:cNvCxnSpPr/>
          <p:nvPr/>
        </p:nvCxnSpPr>
        <p:spPr>
          <a:xfrm xmlns:a="http://schemas.openxmlformats.org/drawingml/2006/main">
            <a:off x="4397375" y="3124200"/>
            <a:ext cx="3397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2A16B1-EF2E-475D-9AB8-78B7C9D3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781300"/>
            <a:ext cx="328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Запрос предложений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08FDF9-C3C4-489A-918B-C55E0FADCDED}"/>
              </a:ext>
            </a:extLst>
          </p:cNvPr>
          <p:cNvCxnSpPr/>
          <p:nvPr/>
        </p:nvCxnSpPr>
        <p:spPr>
          <a:xfrm xmlns:a="http://schemas.openxmlformats.org/drawingml/2006/main">
            <a:off x="7794625" y="3743325"/>
            <a:ext cx="3397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2A24C0-45AB-47E9-9B42-FD3BF47D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9875" y="3400425"/>
            <a:ext cx="328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HTTPS / формат</a:t>
            </a:r>
          </a:p>
        </p:txBody>
      </p: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0B0627-2284-42F1-AA35-ECD2EFBD5236}"/>
              </a:ext>
            </a:extLst>
          </p:cNvPr>
          <p:cNvCxnSpPr/>
          <p:nvPr/>
        </p:nvCxnSpPr>
        <p:spPr>
          <a:xfrm xmlns:a="http://schemas.openxmlformats.org/drawingml/2006/main">
            <a:off x="7794625" y="4362450"/>
            <a:ext cx="3397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11111"/>
            </a:solidFill>
            <a:prstDash val="dash"/>
            <a:head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FB90B3-BD31-43E4-9DB7-83FFF3F2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9875" y="4019550"/>
            <a:ext cx="328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Цена, остаток, дата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C5CEC4-6841-43FE-8DF9-3A8CA5CFB98D}"/>
              </a:ext>
            </a:extLst>
          </p:cNvPr>
          <p:cNvCxnSpPr/>
          <p:nvPr/>
        </p:nvCxnSpPr>
        <p:spPr>
          <a:xfrm xmlns:a="http://schemas.openxmlformats.org/drawingml/2006/main">
            <a:off x="4397375" y="4981575"/>
            <a:ext cx="3397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11111"/>
            </a:solidFill>
            <a:prstDash val="dash"/>
            <a:head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FF935B-A48E-4825-9C68-6161B829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4638675"/>
            <a:ext cx="328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Проверенные записи</a:t>
            </a:r>
          </a:p>
        </p:txBody>
      </p:sp>
    </p:spTree>
    <p:extLst>
      <p:ext uri="{BB962C8B-B14F-4D97-AF65-F5344CB8AC3E}">
        <p14:creationId xmlns:p14="http://schemas.microsoft.com/office/powerpoint/2010/main" val="15316817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00749E-4A85-43D2-8DC8-E76A6D54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Публикация карточки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CCAEBD-6790-49DE-84DE-CF40317D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1381125"/>
            <a:ext cx="1562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latin typeface="Arial"/>
                <a:ea typeface="Arial"/>
                <a:cs typeface="Arial"/>
              </a:defRPr>
            </a:pPr>
            <a:r>
              <a:rPr sz="1725">
                <a:latin typeface="Arial"/>
                <a:ea typeface="Arial"/>
                <a:cs typeface="Arial"/>
              </a:rPr>
              <a:t>Менеджер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8A39F6-92F5-4CB7-AEBF-F313F492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66925"/>
            <a:ext cx="0" cy="36195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888888"/>
            </a:solidFill>
            <a:prstDash val="dash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B048C9-A3E5-4F26-942C-40EC7414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325" y="1381125"/>
            <a:ext cx="1562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latin typeface="Arial"/>
                <a:ea typeface="Arial"/>
                <a:cs typeface="Arial"/>
              </a:defRPr>
            </a:pPr>
            <a:r>
              <a:rPr sz="1725">
                <a:latin typeface="Arial"/>
                <a:ea typeface="Arial"/>
                <a:cs typeface="Arial"/>
              </a:rPr>
              <a:t>API / БД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C18A18-DCB4-45B9-9A96-A4BA6276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7375" y="2066925"/>
            <a:ext cx="0" cy="36195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888888"/>
            </a:solidFill>
            <a:prstDash val="dash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A2FCF8-7EC7-4951-A89C-1FF521C0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575" y="1381125"/>
            <a:ext cx="1562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latin typeface="Arial"/>
                <a:ea typeface="Arial"/>
                <a:cs typeface="Arial"/>
              </a:defRPr>
            </a:pPr>
            <a:r>
              <a:rPr sz="1725">
                <a:latin typeface="Arial"/>
                <a:ea typeface="Arial"/>
                <a:cs typeface="Arial"/>
              </a:rPr>
              <a:t>Worker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C0ED58-A830-4C89-AE37-4B5ABE69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625" y="2066925"/>
            <a:ext cx="0" cy="36195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888888"/>
            </a:solidFill>
            <a:prstDash val="dash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77D848-AC74-445C-A298-12B33106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1381125"/>
            <a:ext cx="1562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latin typeface="Arial"/>
                <a:ea typeface="Arial"/>
                <a:cs typeface="Arial"/>
              </a:defRPr>
            </a:pPr>
            <a:r>
              <a:rPr sz="1725">
                <a:latin typeface="Arial"/>
                <a:ea typeface="Arial"/>
                <a:cs typeface="Arial"/>
              </a:rPr>
              <a:t>Ozon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1F7394-5131-4BDE-AE23-0ACB7F73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066925"/>
            <a:ext cx="0" cy="36195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888888"/>
            </a:solidFill>
            <a:prstDash val="dash"/>
          </a:ln>
        </p:spPr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3D6FAA-FF6F-45AE-8D7E-140890BBF982}"/>
              </a:ext>
            </a:extLst>
          </p:cNvPr>
          <p:cNvCxnSpPr/>
          <p:nvPr/>
        </p:nvCxnSpPr>
        <p:spPr>
          <a:xfrm xmlns:a="http://schemas.openxmlformats.org/drawingml/2006/main">
            <a:off x="1000125" y="2505075"/>
            <a:ext cx="3397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A771F5-208B-4BB7-8DBD-FD69928D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62175"/>
            <a:ext cx="328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Утвердить версию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3C0AD5-BB92-40D9-A062-B89BA64AAED7}"/>
              </a:ext>
            </a:extLst>
          </p:cNvPr>
          <p:cNvCxnSpPr/>
          <p:nvPr/>
        </p:nvCxnSpPr>
        <p:spPr>
          <a:xfrm xmlns:a="http://schemas.openxmlformats.org/drawingml/2006/main">
            <a:off x="4397375" y="3124200"/>
            <a:ext cx="3397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9E4CB9-ED96-4F74-AFD9-07A145B5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781300"/>
            <a:ext cx="328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Очередь и ключ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5B55FF-E504-4425-8F8C-536CAF515112}"/>
              </a:ext>
            </a:extLst>
          </p:cNvPr>
          <p:cNvCxnSpPr/>
          <p:nvPr/>
        </p:nvCxnSpPr>
        <p:spPr>
          <a:xfrm xmlns:a="http://schemas.openxmlformats.org/drawingml/2006/main">
            <a:off x="7794625" y="3743325"/>
            <a:ext cx="3397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94DB3E-5C37-4203-A9B5-1803CDBF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9875" y="3400425"/>
            <a:ext cx="328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HTTPS / JSON</a:t>
            </a:r>
          </a:p>
        </p:txBody>
      </p: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A076E7-2751-4202-B1FF-1D22164C9AF8}"/>
              </a:ext>
            </a:extLst>
          </p:cNvPr>
          <p:cNvCxnSpPr/>
          <p:nvPr/>
        </p:nvCxnSpPr>
        <p:spPr>
          <a:xfrm xmlns:a="http://schemas.openxmlformats.org/drawingml/2006/main">
            <a:off x="7794625" y="4362450"/>
            <a:ext cx="3397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11111"/>
            </a:solidFill>
            <a:prstDash val="dash"/>
            <a:head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267FD9-ED96-4817-AF8A-29D80762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9875" y="4019550"/>
            <a:ext cx="328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ID задачи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D6001F-688C-4632-8219-9F7C18147B9F}"/>
              </a:ext>
            </a:extLst>
          </p:cNvPr>
          <p:cNvCxnSpPr/>
          <p:nvPr/>
        </p:nvCxnSpPr>
        <p:spPr>
          <a:xfrm xmlns:a="http://schemas.openxmlformats.org/drawingml/2006/main">
            <a:off x="7794625" y="4981575"/>
            <a:ext cx="3397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FA916C-4A8E-4DBD-B49B-0748BC58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9875" y="4638675"/>
            <a:ext cx="328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Сверить результат</a:t>
            </a:r>
          </a:p>
        </p:txBody>
      </p:sp>
    </p:spTree>
    <p:extLst>
      <p:ext uri="{BB962C8B-B14F-4D97-AF65-F5344CB8AC3E}">
        <p14:creationId xmlns:p14="http://schemas.microsoft.com/office/powerpoint/2010/main" val="11036760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09F2F2-3A73-46E7-B4F0-ABF587B8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Разделение обязанностей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5DDA12-A55C-40A8-B9DF-D40F49DED4DF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476750"/>
                <a:gridCol w="3714750"/>
              </a:tblGrid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Роль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T w="9525">
                      <a:solidFill>
                        <a:srgbClr val="888888"/>
                      </a:solidFill>
                      <a:prstDash val="solid"/>
                    </a:lnT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Основное право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T w="9525">
                      <a:solidFill>
                        <a:srgbClr val="888888"/>
                      </a:solidFill>
                      <a:prstDash val="solid"/>
                    </a:lnT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Ограничение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T w="9525">
                      <a:solidFill>
                        <a:srgbClr val="888888"/>
                      </a:solidFill>
                      <a:prstDash val="solid"/>
                    </a:lnT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Менеджер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Утверждать и публиковать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Без управления ролями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Инженер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модельный ряд и массовая замена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Без автопубликации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Склад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Предложения и SKU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Без правил цены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Дизайнер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Контент и изображения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Без закупочных цен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Администратор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Доступ и аудит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Без бизнес-прав по умолчанию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22461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BD432E-5D76-44DF-AE98-DE6F53C3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Ошибки внешней операции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EC4D12-34D9-49DB-B0FA-DC905676C22E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6953250"/>
              </a:tblGrid>
              <a:tr h="914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Ситуация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T w="9525">
                      <a:solidFill>
                        <a:srgbClr val="888888"/>
                      </a:solidFill>
                      <a:prstDash val="solid"/>
                    </a:lnT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Решение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T w="9525">
                      <a:solidFill>
                        <a:srgbClr val="888888"/>
                      </a:solidFill>
                      <a:prstDash val="solid"/>
                    </a:lnT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Временный отказ: операция не принята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До трёх повторов актуальной версии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Неизвестный результат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UNCERTAIN и сверка до решения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Постоянная ошибка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FAILED и уведомление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Версия устарела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Новая проверка и утверждение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21822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97FFE7-DE15-43E1-855D-37A24106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Меры защиты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838AD6-D8CF-4D63-B2CE-522B2809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Argon2id, индивидуальные учётные записи и MFA администратора.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C863F9-611E-4B1E-A099-5798A66B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Серверная RBAC-проверка каждой операции, по умолчанию запрет.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2ED4A7-C70B-4782-9793-4923DF7F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TLS, защищённое хранение секретов, валидация ответов.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D1B9F4-97C7-4220-8DA5-92D0CC8D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Неизменяемый аудит и ежедневные резервные копии.</a:t>
            </a:r>
          </a:p>
        </p:txBody>
      </p:sp>
    </p:spTree>
    <p:extLst>
      <p:ext uri="{BB962C8B-B14F-4D97-AF65-F5344CB8AC3E}">
        <p14:creationId xmlns:p14="http://schemas.microsoft.com/office/powerpoint/2010/main" val="11170382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2026-10-25T21:23:11.7990000Z</dcterms:created>
  <dcterms:modified xsi:type="dcterms:W3CDTF">2026-10-25T21:23:11.7990000Z</dcterms:modified>
</coreProperties>
</file>