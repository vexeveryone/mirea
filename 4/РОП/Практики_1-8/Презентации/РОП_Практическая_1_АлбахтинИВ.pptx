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5e2f3a8b18492c" /><Relationship Type="http://schemas.openxmlformats.org/officeDocument/2006/relationships/extended-properties" Target="/docProps/app.xml" Id="Rb52e642570b44c52" /><Relationship Type="http://schemas.openxmlformats.org/officeDocument/2006/relationships/officeDocument" Target="/ppt/presentation.xml" Id="R77c35845733c4c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9450f2273c4e09"/>
  </p:sldMasterIdLst>
  <p:notesMasterIdLst>
    <p:notesMasterId xmlns:r="http://schemas.openxmlformats.org/officeDocument/2006/relationships" r:id="R016c37737e744a8b"/>
  </p:notesMasterIdLst>
  <p:sldIdLst>
    <p:sldId xmlns:r="http://schemas.openxmlformats.org/officeDocument/2006/relationships" id="256" r:id="R3339db0c1f6e4de4"/>
    <p:sldId xmlns:r="http://schemas.openxmlformats.org/officeDocument/2006/relationships" id="257" r:id="R95090b49b596466f"/>
    <p:sldId xmlns:r="http://schemas.openxmlformats.org/officeDocument/2006/relationships" id="258" r:id="R5255294d65b8476a"/>
    <p:sldId xmlns:r="http://schemas.openxmlformats.org/officeDocument/2006/relationships" id="259" r:id="Recf7868251d74ad0"/>
    <p:sldId xmlns:r="http://schemas.openxmlformats.org/officeDocument/2006/relationships" id="260" r:id="R4a52d6ad2bd14894"/>
    <p:sldId xmlns:r="http://schemas.openxmlformats.org/officeDocument/2006/relationships" id="261" r:id="R2308c76ee782402c"/>
    <p:sldId xmlns:r="http://schemas.openxmlformats.org/officeDocument/2006/relationships" id="262" r:id="R7220fb5847da44f0"/>
    <p:sldId xmlns:r="http://schemas.openxmlformats.org/officeDocument/2006/relationships" id="263" r:id="Rdde6c3455035495b"/>
    <p:sldId xmlns:r="http://schemas.openxmlformats.org/officeDocument/2006/relationships" id="264" r:id="Rde8d35cbbb0248ab"/>
    <p:sldId xmlns:r="http://schemas.openxmlformats.org/officeDocument/2006/relationships" id="265" r:id="Rb626c4a4caa94274"/>
    <p:sldId xmlns:r="http://schemas.openxmlformats.org/officeDocument/2006/relationships" id="266" r:id="Rffdbb753c54e4d34"/>
    <p:sldId xmlns:r="http://schemas.openxmlformats.org/officeDocument/2006/relationships" id="267" r:id="R7da969084b184dd3"/>
    <p:sldId xmlns:r="http://schemas.openxmlformats.org/officeDocument/2006/relationships" id="268" r:id="Rabc7771fd2db4db1"/>
    <p:sldId xmlns:r="http://schemas.openxmlformats.org/officeDocument/2006/relationships" id="269" r:id="R85989b8deb734e97"/>
    <p:sldId xmlns:r="http://schemas.openxmlformats.org/officeDocument/2006/relationships" id="270" r:id="Rebe2071472ae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25244b4cec44be" /><Relationship Type="http://schemas.openxmlformats.org/officeDocument/2006/relationships/slideMaster" Target="/ppt/slideMasters/slideMaster1.xml" Id="R7b9450f2273c4e09" /><Relationship Type="http://schemas.openxmlformats.org/officeDocument/2006/relationships/notesMaster" Target="/ppt/notesMasters/notesMaster1.xml" Id="R016c37737e744a8b" /><Relationship Type="http://schemas.openxmlformats.org/officeDocument/2006/relationships/presProps" Target="/ppt/presProps.xml" Id="R2156d3693a074e55" /><Relationship Type="http://schemas.openxmlformats.org/officeDocument/2006/relationships/tableStyles" Target="/ppt/tableStyles.xml" Id="R645fb3655d7c411d" /><Relationship Type="http://schemas.openxmlformats.org/officeDocument/2006/relationships/slide" Target="/ppt/slides/slide1.xml" Id="R3339db0c1f6e4de4" /><Relationship Type="http://schemas.openxmlformats.org/officeDocument/2006/relationships/slide" Target="/ppt/slides/slide2.xml" Id="R95090b49b596466f" /><Relationship Type="http://schemas.openxmlformats.org/officeDocument/2006/relationships/slide" Target="/ppt/slides/slide3.xml" Id="R5255294d65b8476a" /><Relationship Type="http://schemas.openxmlformats.org/officeDocument/2006/relationships/slide" Target="/ppt/slides/slide4.xml" Id="Recf7868251d74ad0" /><Relationship Type="http://schemas.openxmlformats.org/officeDocument/2006/relationships/slide" Target="/ppt/slides/slide5.xml" Id="R4a52d6ad2bd14894" /><Relationship Type="http://schemas.openxmlformats.org/officeDocument/2006/relationships/slide" Target="/ppt/slides/slide6.xml" Id="R2308c76ee782402c" /><Relationship Type="http://schemas.openxmlformats.org/officeDocument/2006/relationships/slide" Target="/ppt/slides/slide7.xml" Id="R7220fb5847da44f0" /><Relationship Type="http://schemas.openxmlformats.org/officeDocument/2006/relationships/slide" Target="/ppt/slides/slide8.xml" Id="Rdde6c3455035495b" /><Relationship Type="http://schemas.openxmlformats.org/officeDocument/2006/relationships/slide" Target="/ppt/slides/slide9.xml" Id="Rde8d35cbbb0248ab" /><Relationship Type="http://schemas.openxmlformats.org/officeDocument/2006/relationships/slide" Target="/ppt/slides/slide10.xml" Id="Rb626c4a4caa94274" /><Relationship Type="http://schemas.openxmlformats.org/officeDocument/2006/relationships/slide" Target="/ppt/slides/slide11.xml" Id="Rffdbb753c54e4d34" /><Relationship Type="http://schemas.openxmlformats.org/officeDocument/2006/relationships/slide" Target="/ppt/slides/slide12.xml" Id="R7da969084b184dd3" /><Relationship Type="http://schemas.openxmlformats.org/officeDocument/2006/relationships/slide" Target="/ppt/slides/slide13.xml" Id="Rabc7771fd2db4db1" /><Relationship Type="http://schemas.openxmlformats.org/officeDocument/2006/relationships/slide" Target="/ppt/slides/slide14.xml" Id="R85989b8deb734e97" /><Relationship Type="http://schemas.openxmlformats.org/officeDocument/2006/relationships/slide" Target="/ppt/slides/slide15.xml" Id="Rebe2071472ae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8f7bb1749f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2098748b0c4469" /><Relationship Type="http://schemas.openxmlformats.org/officeDocument/2006/relationships/notesMaster" Target="/ppt/notesMasters/notesMaster1.xml" Id="Ra1d84f6774eb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090346c80c49fc" /><Relationship Type="http://schemas.openxmlformats.org/officeDocument/2006/relationships/notesMaster" Target="/ppt/notesMasters/notesMaster1.xml" Id="R991e665ac5a3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c47fad0f04f87" /><Relationship Type="http://schemas.openxmlformats.org/officeDocument/2006/relationships/notesMaster" Target="/ppt/notesMasters/notesMaster1.xml" Id="R8a919fafe626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0fc4e12bb34f8d" /><Relationship Type="http://schemas.openxmlformats.org/officeDocument/2006/relationships/notesMaster" Target="/ppt/notesMasters/notesMaster1.xml" Id="R9a128fc288f0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c81badef374813" /><Relationship Type="http://schemas.openxmlformats.org/officeDocument/2006/relationships/notesMaster" Target="/ppt/notesMasters/notesMaster1.xml" Id="Rcbc34c2bd33a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4d6d283e5a4047" /><Relationship Type="http://schemas.openxmlformats.org/officeDocument/2006/relationships/notesMaster" Target="/ppt/notesMasters/notesMaster1.xml" Id="Rcc73e13f6ada44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a6416ae94470a" /><Relationship Type="http://schemas.openxmlformats.org/officeDocument/2006/relationships/notesMaster" Target="/ppt/notesMasters/notesMaster1.xml" Id="R065d9bd3118b4a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1ae56ca0014994" /><Relationship Type="http://schemas.openxmlformats.org/officeDocument/2006/relationships/notesMaster" Target="/ppt/notesMasters/notesMaster1.xml" Id="Rbedca6bf181f4b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88fd4212ab4232" /><Relationship Type="http://schemas.openxmlformats.org/officeDocument/2006/relationships/notesMaster" Target="/ppt/notesMasters/notesMaster1.xml" Id="Rb2ffa27e21f04a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9eaae13624e3c" /><Relationship Type="http://schemas.openxmlformats.org/officeDocument/2006/relationships/notesMaster" Target="/ppt/notesMasters/notesMaster1.xml" Id="Rf6aae260e241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d889dbc36a446d" /><Relationship Type="http://schemas.openxmlformats.org/officeDocument/2006/relationships/notesMaster" Target="/ppt/notesMasters/notesMaster1.xml" Id="Rf932ddb8933645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b2b37c975e41ad" /><Relationship Type="http://schemas.openxmlformats.org/officeDocument/2006/relationships/notesMaster" Target="/ppt/notesMasters/notesMaster1.xml" Id="Ra3216224e2534e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09943e46a4462f" /><Relationship Type="http://schemas.openxmlformats.org/officeDocument/2006/relationships/notesMaster" Target="/ppt/notesMasters/notesMaster1.xml" Id="R0abc039555984c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1fcf5ebb634c5c" /><Relationship Type="http://schemas.openxmlformats.org/officeDocument/2006/relationships/notesMaster" Target="/ppt/notesMasters/notesMaster1.xml" Id="R421e4f0c47b046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d2b00eaf5c4602" /><Relationship Type="http://schemas.openxmlformats.org/officeDocument/2006/relationships/notesMaster" Target="/ppt/notesMasters/notesMaster1.xml" Id="R91cedd680632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Оценки 0–5 являются экспертными и не заменяют измерения продуктов.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Оценки 0–5: девять критериев предыдущего слайда, равные веса. Средние округлены до 0,1 балла. 5,0 для целевой ИС — проектная оценка, не результат испытаний.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43ab4efac4d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61ea59a53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7b247c8a640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d4b5ce90e4b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b25c1210c43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90b09d60f49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1F7CE-583F-421D-8086-753800218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714FE8-3FE5-4564-9854-6482572B3E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C7A273-0968-47AE-B5B1-024835785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8585E0-28B0-4FF8-8586-3703B40EA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8754F3-09F2-48F5-A152-AFCAF6AAA6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E47ACC-E476-4A56-B469-0E7CA8B10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E5A97D-A7D8-4B85-AEF0-30CFD3734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7FA95C-2ECB-4555-9002-856DA28EBF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C310CC-8971-4C26-A7F8-26F2D2B49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51FC0-3C5C-4467-B359-699D2DCB94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d67bc2f9240fe" /><Relationship Type="http://schemas.openxmlformats.org/officeDocument/2006/relationships/slideLayout" Target="/ppt/slideLayouts/slideLayout1.xml" Id="Rb3c6d5402fc34753" /><Relationship Type="http://schemas.openxmlformats.org/officeDocument/2006/relationships/slideLayout" Target="/ppt/slideLayouts/slideLayout2.xml" Id="R3bf22100b7c945e8" /><Relationship Type="http://schemas.openxmlformats.org/officeDocument/2006/relationships/slideLayout" Target="/ppt/slideLayouts/slideLayout3.xml" Id="R9d880bbfc16b4c5f" /><Relationship Type="http://schemas.openxmlformats.org/officeDocument/2006/relationships/slideLayout" Target="/ppt/slideLayouts/slideLayout4.xml" Id="R4283155feab44bc4" /><Relationship Type="http://schemas.openxmlformats.org/officeDocument/2006/relationships/slideLayout" Target="/ppt/slideLayouts/slideLayout5.xml" Id="R5385ed6a79484cc3" /><Relationship Type="http://schemas.openxmlformats.org/officeDocument/2006/relationships/slideLayout" Target="/ppt/slideLayouts/slideLayout6.xml" Id="Re9b342d72623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6d5402fc34753"/>
    <p:sldLayoutId xmlns:r="http://schemas.openxmlformats.org/officeDocument/2006/relationships" id="2147483650" r:id="R3bf22100b7c945e8"/>
    <p:sldLayoutId xmlns:r="http://schemas.openxmlformats.org/officeDocument/2006/relationships" id="2147483651" r:id="R9d880bbfc16b4c5f"/>
    <p:sldLayoutId xmlns:r="http://schemas.openxmlformats.org/officeDocument/2006/relationships" id="2147483652" r:id="R4283155feab44bc4"/>
    <p:sldLayoutId xmlns:r="http://schemas.openxmlformats.org/officeDocument/2006/relationships" id="2147483653" r:id="R5385ed6a79484cc3"/>
    <p:sldLayoutId xmlns:r="http://schemas.openxmlformats.org/officeDocument/2006/relationships" id="2147483654" r:id="Re9b342d72623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a7bc1894a49ba" /><Relationship Type="http://schemas.openxmlformats.org/officeDocument/2006/relationships/notesSlide" Target="/ppt/notesSlides/notesSlide1.xml" Id="R20e99c37a9954f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e99ebd45a74a34" /><Relationship Type="http://schemas.openxmlformats.org/officeDocument/2006/relationships/notesSlide" Target="/ppt/notesSlides/notesSlide2.xml" Id="R26a625cf6ce74a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60dc5014547bc" /><Relationship Type="http://schemas.openxmlformats.org/officeDocument/2006/relationships/image" Target="/ppt/media/image.png" Id="Ra98e467d29f84e2f" /><Relationship Type="http://schemas.openxmlformats.org/officeDocument/2006/relationships/notesSlide" Target="/ppt/notesSlides/notesSlide3.xml" Id="Rec5775ab397c4d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662acbf984d0a" /><Relationship Type="http://schemas.openxmlformats.org/officeDocument/2006/relationships/image" Target="/ppt/media/image2.png" Id="R9ada389446754c73" /><Relationship Type="http://schemas.openxmlformats.org/officeDocument/2006/relationships/notesSlide" Target="/ppt/notesSlides/notesSlide4.xml" Id="Rd9f1b7670229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b88fa5a0d4cea" /><Relationship Type="http://schemas.openxmlformats.org/officeDocument/2006/relationships/image" Target="/ppt/media/image3.png" Id="Rec9d93d63278441d" /><Relationship Type="http://schemas.openxmlformats.org/officeDocument/2006/relationships/notesSlide" Target="/ppt/notesSlides/notesSlide5.xml" Id="R05b69c6271c5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526b7af56497e" /><Relationship Type="http://schemas.openxmlformats.org/officeDocument/2006/relationships/image" Target="/ppt/media/image4.png" Id="R3eed1a875b134d69" /><Relationship Type="http://schemas.openxmlformats.org/officeDocument/2006/relationships/notesSlide" Target="/ppt/notesSlides/notesSlide6.xml" Id="Rbd34a588695d4c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7b24b1f31489c" /><Relationship Type="http://schemas.openxmlformats.org/officeDocument/2006/relationships/notesSlide" Target="/ppt/notesSlides/notesSlide7.xml" Id="R46aad91e049643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9ec791dae4836" /><Relationship Type="http://schemas.openxmlformats.org/officeDocument/2006/relationships/notesSlide" Target="/ppt/notesSlides/notesSlide8.xml" Id="R5d10c32a5cd2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ae0d13c7741a6" /><Relationship Type="http://schemas.openxmlformats.org/officeDocument/2006/relationships/notesSlide" Target="/ppt/notesSlides/notesSlide9.xml" Id="R6e3fa742a4de44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973df664243a0" /><Relationship Type="http://schemas.openxmlformats.org/officeDocument/2006/relationships/notesSlide" Target="/ppt/notesSlides/notesSlide10.xml" Id="R323f3b3728a144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7278de02c476e" /><Relationship Type="http://schemas.openxmlformats.org/officeDocument/2006/relationships/notesSlide" Target="/ppt/notesSlides/notesSlide11.xml" Id="R843de285e2b949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dd619f2804671" /><Relationship Type="http://schemas.openxmlformats.org/officeDocument/2006/relationships/notesSlide" Target="/ppt/notesSlides/notesSlide12.xml" Id="R43bb948625f143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9a646a8d3406f" /><Relationship Type="http://schemas.openxmlformats.org/officeDocument/2006/relationships/chart" Target="/ppt/slides/charts/chart1.xml" Id="R687f804c8c814cf2" /><Relationship Type="http://schemas.openxmlformats.org/officeDocument/2006/relationships/notesSlide" Target="/ppt/notesSlides/notesSlide13.xml" Id="R212f812dd4f643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8c87c2f544ba3" /><Relationship Type="http://schemas.openxmlformats.org/officeDocument/2006/relationships/notesSlide" Target="/ppt/notesSlides/notesSlide14.xml" Id="R4bf16dcf1c3043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5eb03a5754b98" /><Relationship Type="http://schemas.openxmlformats.org/officeDocument/2006/relationships/notesSlide" Target="/ppt/notesSlides/notesSlide15.xml" Id="Rd03ed043450944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Средняя оценка, баллы (0–5)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Средняя оценка</c:v>
          </c:tx>
          <c:spPr>
            <a:solidFill xmlns:a="http://schemas.openxmlformats.org/drawingml/2006/main">
              <a:srgbClr val="444444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Ozon Seller</c:v>
                </c:pt>
                <c:pt idx="1">
                  <c:v>1С:ERP</c:v>
                </c:pt>
                <c:pt idx="2">
                  <c:v>Pimcore</c:v>
                </c:pt>
                <c:pt idx="3">
                  <c:v>Akeneo</c:v>
                </c:pt>
                <c:pt idx="4">
                  <c:v>Целевая ИС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2.1</c:v>
                </c:pt>
                <c:pt idx="1">
                  <c:v>3.7</c:v>
                </c:pt>
                <c:pt idx="2">
                  <c:v>3.7</c:v>
                </c:pt>
                <c:pt idx="3">
                  <c:v>3.1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616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5F632-7F11-4061-9AFC-57C213D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5C2E1-DD42-475B-82AD-A6C2FD3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Анализ текущего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1E67-A7A7-4AFC-A59E-30034404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AS IS показывает ручную работу, повторный ввод и позднее обнаружение ошибок.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80381-1B3C-4668-95B0-BF346EC4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850823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0796C-9605-453A-BBBF-58F6F7E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Границы анализа AS 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DB474-31B5-49E1-A6E5-24A6F99A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Начало и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9EC5F-363E-4856-A695-E490EEB8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Участники и инструменты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34616-372B-4C1A-9C7D-5A43533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Запрос приходит в почту или мессенджер.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03A32-25A1-4346-806C-7466A59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Результат: карточка Ozon либо отклонение.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6DAAC-3D12-46EE-AA3A-FA31159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Описание представляет учебную модель.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9AF43-5763-4745-ABD2-6E96E935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Менеджер, технический специалист, склад, дизайнер.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93920-822B-4B95-A3C1-47C680D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Excel, калькулятор, браузер, почта и общие папки.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78C5E-55C1-4AB3-9AC9-15908E9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Прайс-листы, сообщения, характеристики и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620524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C350D-FB2F-42E1-B9E9-C515B68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IDEF0 AS IS: контекст ручной подготовки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44F28-99BD-41EC-8A73-0ADE63353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e467d29f84e2f"/>
          <a:stretch xmlns:a="http://schemas.openxmlformats.org/drawingml/2006/main"/>
        </p:blipFill>
        <p:spPr>
          <a:xfrm xmlns:a="http://schemas.openxmlformats.org/drawingml/2006/main">
            <a:off x="1895475" y="1285875"/>
            <a:ext cx="840105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26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4CF6E-B2F9-48DD-A844-743D237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IDEF0 AS IS: шесть ручных функций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BA3F9-A64D-482E-AF04-5F2C23EF1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a389446754c73"/>
          <a:stretch xmlns:a="http://schemas.openxmlformats.org/drawingml/2006/main"/>
        </p:blipFill>
        <p:spPr>
          <a:xfrm xmlns:a="http://schemas.openxmlformats.org/drawingml/2006/main">
            <a:off x="1895475" y="1285875"/>
            <a:ext cx="840105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2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F18F5-6A6F-4EA4-9B8B-06B733E2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AS IS: ручная публикация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2EA7-3DBE-4E4D-AF6A-EE0A42E60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d93d63278441d"/>
          <a:stretch xmlns:a="http://schemas.openxmlformats.org/drawingml/2006/main"/>
        </p:blipFill>
        <p:spPr>
          <a:xfrm xmlns:a="http://schemas.openxmlformats.org/drawingml/2006/main">
            <a:off x="571500" y="2437946"/>
            <a:ext cx="11049000" cy="26964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52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4BF5B-0E91-43D7-8640-E6ACB2B1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AS IS: циклы повторной работы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E7894-CD72-4201-ABDC-4E0A9147C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d1a875b134d69"/>
          <a:stretch xmlns:a="http://schemas.openxmlformats.org/drawingml/2006/main"/>
        </p:blipFill>
        <p:spPr>
          <a:xfrm xmlns:a="http://schemas.openxmlformats.org/drawingml/2006/main">
            <a:off x="571500" y="2307726"/>
            <a:ext cx="11049000" cy="29569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43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75851-6B58-4D3D-B67E-9FB9598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Проблемы текущего процесса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C1603-E273-4804-BC21-EF4272ADA1B0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095875"/>
                <a:gridCol w="4524375"/>
              </a:tblGrid>
              <a:tr h="68035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ввод между файлами и Ozon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Ошибки копирования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Совместимость проверяет специалист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Зависимость от опыта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Остатки запрашиваются после подбора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подбор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Предложения быстро устаревают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Неверные цена и наличие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Полнота проверяется поздно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Отклонение карточки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P-06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Нет общей версии и аудита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трудно воспроизвести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87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12C5B-EA99-45AC-866F-E2A6164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Функциональные требования FR-01–FR-10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65C3E-152A-4898-892D-7343C10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Управление модельным рядом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E8EC7-CF3C-4A30-87DE-94A4D7AC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Предложения и расчёты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11517-22BD-467B-924B-F201D45C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FR-01 Запрос на создание или изменение.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56E7C-6E51-4E49-997E-F51DDBA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FR-02 модельный ряд: корпус и уникальный код.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7EFBA-B061-448C-B8D9-6F0D268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FR-03 Точные и групповые слоты.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65D4-67A1-46EC-9F43-3A2DE91C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FR-04 Проверка правил при изменении модельного ряда.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CC074-181C-491A-B949-CAEDBE9F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FR-05 Правило и компоненты конфликта.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EA443-02ED-435B-B738-15B29A11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FR-06 Сопоставление компонентов и SKU.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D4439-B8E1-4BEF-95B0-65627EE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FR-07 Импорт цен, наличия и даты.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B310C-7F47-4EA7-BD21-B9F3A4F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FR-08 Выбор по правилам приоритета.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F740-C721-4F1D-A758-19EE08F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FR-09 Себестоимость и цена карточки.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B049D-1C3A-4EB0-AF84-C9A26BAB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FR-10 Масса товара с упаковкой.</a:t>
            </a:r>
          </a:p>
        </p:txBody>
      </p:sp>
    </p:spTree>
    <p:extLst>
      <p:ext uri="{BB962C8B-B14F-4D97-AF65-F5344CB8AC3E}">
        <p14:creationId xmlns:p14="http://schemas.microsoft.com/office/powerpoint/2010/main" val="909824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3BCBA-63EE-497B-B02F-85194066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Функциональные требования FR-11–FR-22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53FD7-42F8-441C-8796-22333DBC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Изменения и контент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F6B38-423D-4FFC-8785-7BA9A37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Публикация и история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08453-A7A1-4907-BC20-A2FD7DBB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FR-11 Поиск модельных рядов с компонентом или SKU.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88A70-1B5F-4BA3-9C42-4F3EB00B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FR-12 Замена после предпросмотра.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684BD-C651-407A-BCF2-1A223E26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FR-13 Повторная проверка всех изменений.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ABE3-B4B9-44C3-9E4C-A7794111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FR-14 Изображения по шаблонам.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93E8B-CB3B-4A8C-9939-54108656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FR-15 Название, описание и характеристики.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2CFBB-8F17-42EF-8F73-2032ACF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FR-16 Обязательные атрибуты Ozon.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33878-07FF-4E09-8ECE-9666642D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FR-17 Создание и обновление через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B6E3A-DED8-46CB-A433-51105DED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FR-18 ID операции, ответ и итоговый статус.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7B8D7-C959-45BD-9259-14037EE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FR-19 Очередь повторной отправки.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ACE6F-5948-48F9-BDBA-1D52F3ED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FR-20 История версий и действий.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21FA9-3A9E-43F0-9AA2-F51BA30B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FR-21 Уведомления об ошибках.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02A77-35DE-4E76-AEE2-73F6659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FR-22 Поиск и фильтрация.</a:t>
            </a:r>
          </a:p>
        </p:txBody>
      </p:sp>
    </p:spTree>
    <p:extLst>
      <p:ext uri="{BB962C8B-B14F-4D97-AF65-F5344CB8AC3E}">
        <p14:creationId xmlns:p14="http://schemas.microsoft.com/office/powerpoint/2010/main" val="910969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BE9A1-A6DB-4AB7-8B31-65DAAE6A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Нефункциональные требования NFR-01–NFR-05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A818A-681C-472F-8F77-447FE87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Скорость и доступность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FE599-9162-4F0E-ACA2-41314D16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Восстановление и канал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145C-CC5F-49E2-8ABE-1DCF6CB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NFR-01 95% запросов до 2 с, 50 пользователей.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0FA04-72A6-4908-9BDD-676FF5E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NFR-02 Замена и проверка 1000 модельных рядов до 5 мин.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4DDFA-521B-405D-B97C-468A4FC0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NFR-03 Доступность за месяц не ниже 99,5%.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CD3A3-EEDB-4510-845C-A0A46CC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NFR-04 Копии ежедневно. RPO 24 ч, RTO 4 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8BB88-B1BA-4422-A2B4-7D468D1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NFR-05 TLS 1.2 или новее.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F1084-7BBB-4CB8-BB1B-9E378E62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Пороговые значения требуют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2039039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68F27-4459-45B9-B76E-9AD50FF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Нефункциональные требования NFR-06–NFR-12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ABF03-7949-45F4-A7E2-59CE001A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Защита и совместимость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EA484-4ECE-40F2-8A94-5C64D3C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Интеграции и целостность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6305E-E955-4956-83F6-CEADF24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NFR-06 Argon2id и уникальная соль.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CD20C-6E8C-4779-91B3-531D0B69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NFR-07 RBAC на сервере.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FD25-3956-4C43-88EC-406DC8D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NFR-08 Аудит хранится не менее года.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6DA4E-1412-4ED0-81A2-1842054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NFR-09 Две версии Chrome, Edge, Firefox.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46C2A-0813-4EC0-B228-1A9DC388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Ширина интерфейса от 1280 пикселей.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25C90-4BA7-4F46-89A7-2C0FAAC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NFR-10 До трёх повторов без дубликатов.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15EDA-BE62-489C-8570-9A6D3CE0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Неизвестный результат сначала сверяется.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F9DEA-E9C4-4679-968D-94886A9E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NFR-11 READY только при корректных данных.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7665-A3D1-4C31-BDCD-AFF9C90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NFR-12 Правила меняются без правки кода.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83579-EA43-48FF-90A2-A1D076C1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Требования служат критериями приёмки.</a:t>
            </a:r>
          </a:p>
        </p:txBody>
      </p:sp>
    </p:spTree>
    <p:extLst>
      <p:ext uri="{BB962C8B-B14F-4D97-AF65-F5344CB8AC3E}">
        <p14:creationId xmlns:p14="http://schemas.microsoft.com/office/powerpoint/2010/main" val="3609937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4D0B6-2F57-4CF1-A48E-8557E63F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Сравнение программных аналогов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9CBF7-47E3-47E1-B3DC-B2F6D08EB353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476375"/>
                <a:gridCol w="1476375"/>
                <a:gridCol w="1619250"/>
                <a:gridCol w="1619250"/>
                <a:gridCol w="1524000"/>
              </a:tblGrid>
              <a:tr h="42429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Ozon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Pimcore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Akeneo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T w="9525">
                      <a:solidFill>
                        <a:srgbClr val="888888"/>
                      </a:solidFill>
                      <a:prstDash val="solid"/>
                    </a:lnT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Модельный ряд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Совместимость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Поставщики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Динамические цены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Контент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Ozon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Аудит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Расширяемость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429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Средняя оценка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888888"/>
                      </a:solidFill>
                      <a:prstDash val="solid"/>
                    </a:lnL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3,7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3,7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3,1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5,0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888888"/>
                      </a:solidFill>
                      <a:prstDash val="solid"/>
                    </a:lnR>
                    <a:lnB w="9525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3424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20043-099D-4874-A48A-475854B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Средняя экспертная оценка аналогов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68E457D-1FA4-480A-86D9-89F56614C52D}"/>
              </a:ext>
            </a:extLst>
          </p:cNvPr>
          <p:cNvGraphicFramePr/>
          <p:nvPr/>
        </p:nvGraphicFramePr>
        <p:xfrm>
          <a:off xmlns:a="http://schemas.openxmlformats.org/drawingml/2006/main" x="857250" y="1381125"/>
          <a:ext xmlns:a="http://schemas.openxmlformats.org/drawingml/2006/main" cx="10477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7f804c8c814cf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2EEE1-016E-48EB-94F8-433FFEC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Девять критериев, равные веса. Оценка целевой ИС — проектная.</a:t>
            </a:r>
          </a:p>
        </p:txBody>
      </p:sp>
    </p:spTree>
    <p:extLst>
      <p:ext uri="{BB962C8B-B14F-4D97-AF65-F5344CB8AC3E}">
        <p14:creationId xmlns:p14="http://schemas.microsoft.com/office/powerpoint/2010/main" val="19862568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A76CC-CB0F-4E3E-BB49-BBFE2E8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Результаты практики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ABBDC-720F-4384-A93F-5216B303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Построены контекст и декомпозиция IDEF0 AS 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0C2F-7874-4D53-8A0E-05FEAF9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BPMN показывает четыре роли, переписку и повторное заполнение Ozon.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F2C0A-F07B-45DD-B5B3-9BF709A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Выявлены шесть проблем текущего процесса.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182F8-AD5F-4378-BD6C-8C05586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Сформулированы FR-01–FR-22 и NFR-01–NFR-12.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B7E92-E9B3-4DDD-8770-382F59E2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Определена потребность в единой версионированной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883698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A8187-435B-453F-999B-C2FAB8E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25830-21EC-4393-B171-4F7BC24B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Методические материалы РОП, практическое занятие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FD94A-8EAB-413E-94F6-4A08223D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OMG Business Process Model and Notation 2.0.2.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FC785-4DB8-46F3-BF08-5F7E684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Документация Ozon Seller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B87DB-969B-4547-9402-F34C56B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Единый отчёт по практическим занятиям 1–8.</a:t>
            </a:r>
          </a:p>
        </p:txBody>
      </p:sp>
    </p:spTree>
    <p:extLst>
      <p:ext uri="{BB962C8B-B14F-4D97-AF65-F5344CB8AC3E}">
        <p14:creationId xmlns:p14="http://schemas.microsoft.com/office/powerpoint/2010/main" val="54264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2026-10-25T21:32:05.4750000Z</dcterms:created>
  <dcterms:modified xsi:type="dcterms:W3CDTF">2026-10-25T21:32:05.4760000Z</dcterms:modified>
</coreProperties>
</file>