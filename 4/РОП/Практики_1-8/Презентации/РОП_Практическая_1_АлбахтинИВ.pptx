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fa7137cb47404a" /><Relationship Type="http://schemas.openxmlformats.org/officeDocument/2006/relationships/extended-properties" Target="/docProps/app.xml" Id="Rf924796be412422a" /><Relationship Type="http://schemas.openxmlformats.org/officeDocument/2006/relationships/officeDocument" Target="/ppt/presentation.xml" Id="R6d3e109ac16641e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ca80cad1a5d4ca9"/>
  </p:sldMasterIdLst>
  <p:notesMasterIdLst>
    <p:notesMasterId xmlns:r="http://schemas.openxmlformats.org/officeDocument/2006/relationships" r:id="R49f404efb9934b5a"/>
  </p:notesMasterIdLst>
  <p:sldIdLst>
    <p:sldId xmlns:r="http://schemas.openxmlformats.org/officeDocument/2006/relationships" id="256" r:id="R37e241a9171b41fc"/>
    <p:sldId xmlns:r="http://schemas.openxmlformats.org/officeDocument/2006/relationships" id="257" r:id="R636a80e23b9c4b15"/>
    <p:sldId xmlns:r="http://schemas.openxmlformats.org/officeDocument/2006/relationships" id="258" r:id="R891fc1f3907348ff"/>
    <p:sldId xmlns:r="http://schemas.openxmlformats.org/officeDocument/2006/relationships" id="259" r:id="R01cb0c52733f45a0"/>
    <p:sldId xmlns:r="http://schemas.openxmlformats.org/officeDocument/2006/relationships" id="260" r:id="Rca9a4091d2d041dc"/>
    <p:sldId xmlns:r="http://schemas.openxmlformats.org/officeDocument/2006/relationships" id="261" r:id="R38590016724a44a6"/>
    <p:sldId xmlns:r="http://schemas.openxmlformats.org/officeDocument/2006/relationships" id="262" r:id="Rfd92d6a29a7149bb"/>
    <p:sldId xmlns:r="http://schemas.openxmlformats.org/officeDocument/2006/relationships" id="263" r:id="R756201dcf1d14bb1"/>
    <p:sldId xmlns:r="http://schemas.openxmlformats.org/officeDocument/2006/relationships" id="264" r:id="R653cfaf18db348aa"/>
    <p:sldId xmlns:r="http://schemas.openxmlformats.org/officeDocument/2006/relationships" id="265" r:id="R122e89fb744642b9"/>
    <p:sldId xmlns:r="http://schemas.openxmlformats.org/officeDocument/2006/relationships" id="266" r:id="Rc6f10dc185304c3d"/>
    <p:sldId xmlns:r="http://schemas.openxmlformats.org/officeDocument/2006/relationships" id="267" r:id="R067ecf3288574e79"/>
    <p:sldId xmlns:r="http://schemas.openxmlformats.org/officeDocument/2006/relationships" id="268" r:id="R2270f6ab14924eee"/>
    <p:sldId xmlns:r="http://schemas.openxmlformats.org/officeDocument/2006/relationships" id="269" r:id="R7c2c396159684bd8"/>
    <p:sldId xmlns:r="http://schemas.openxmlformats.org/officeDocument/2006/relationships" id="270" r:id="R19b7d5a9577f442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29e5dde8e5140d6" /><Relationship Type="http://schemas.openxmlformats.org/officeDocument/2006/relationships/slideMaster" Target="/ppt/slideMasters/slideMaster1.xml" Id="R9ca80cad1a5d4ca9" /><Relationship Type="http://schemas.openxmlformats.org/officeDocument/2006/relationships/notesMaster" Target="/ppt/notesMasters/notesMaster1.xml" Id="R49f404efb9934b5a" /><Relationship Type="http://schemas.openxmlformats.org/officeDocument/2006/relationships/presProps" Target="/ppt/presProps.xml" Id="R7dc9c703e1914538" /><Relationship Type="http://schemas.openxmlformats.org/officeDocument/2006/relationships/tableStyles" Target="/ppt/tableStyles.xml" Id="R5b11b2d388744043" /><Relationship Type="http://schemas.openxmlformats.org/officeDocument/2006/relationships/slide" Target="/ppt/slides/slide1.xml" Id="R37e241a9171b41fc" /><Relationship Type="http://schemas.openxmlformats.org/officeDocument/2006/relationships/slide" Target="/ppt/slides/slide2.xml" Id="R636a80e23b9c4b15" /><Relationship Type="http://schemas.openxmlformats.org/officeDocument/2006/relationships/slide" Target="/ppt/slides/slide3.xml" Id="R891fc1f3907348ff" /><Relationship Type="http://schemas.openxmlformats.org/officeDocument/2006/relationships/slide" Target="/ppt/slides/slide4.xml" Id="R01cb0c52733f45a0" /><Relationship Type="http://schemas.openxmlformats.org/officeDocument/2006/relationships/slide" Target="/ppt/slides/slide5.xml" Id="Rca9a4091d2d041dc" /><Relationship Type="http://schemas.openxmlformats.org/officeDocument/2006/relationships/slide" Target="/ppt/slides/slide6.xml" Id="R38590016724a44a6" /><Relationship Type="http://schemas.openxmlformats.org/officeDocument/2006/relationships/slide" Target="/ppt/slides/slide7.xml" Id="Rfd92d6a29a7149bb" /><Relationship Type="http://schemas.openxmlformats.org/officeDocument/2006/relationships/slide" Target="/ppt/slides/slide8.xml" Id="R756201dcf1d14bb1" /><Relationship Type="http://schemas.openxmlformats.org/officeDocument/2006/relationships/slide" Target="/ppt/slides/slide9.xml" Id="R653cfaf18db348aa" /><Relationship Type="http://schemas.openxmlformats.org/officeDocument/2006/relationships/slide" Target="/ppt/slides/slide10.xml" Id="R122e89fb744642b9" /><Relationship Type="http://schemas.openxmlformats.org/officeDocument/2006/relationships/slide" Target="/ppt/slides/slide11.xml" Id="Rc6f10dc185304c3d" /><Relationship Type="http://schemas.openxmlformats.org/officeDocument/2006/relationships/slide" Target="/ppt/slides/slide12.xml" Id="R067ecf3288574e79" /><Relationship Type="http://schemas.openxmlformats.org/officeDocument/2006/relationships/slide" Target="/ppt/slides/slide13.xml" Id="R2270f6ab14924eee" /><Relationship Type="http://schemas.openxmlformats.org/officeDocument/2006/relationships/slide" Target="/ppt/slides/slide14.xml" Id="R7c2c396159684bd8" /><Relationship Type="http://schemas.openxmlformats.org/officeDocument/2006/relationships/slide" Target="/ppt/slides/slide15.xml" Id="R19b7d5a9577f442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61e0ac39bf24b6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aff80f6ba43455f" /><Relationship Type="http://schemas.openxmlformats.org/officeDocument/2006/relationships/notesMaster" Target="/ppt/notesMasters/notesMaster1.xml" Id="R95b07674a8cd4bb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dbfa8ca4817416b" /><Relationship Type="http://schemas.openxmlformats.org/officeDocument/2006/relationships/notesMaster" Target="/ppt/notesMasters/notesMaster1.xml" Id="Rccaaaa684796446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5571af81ebb49b5" /><Relationship Type="http://schemas.openxmlformats.org/officeDocument/2006/relationships/notesMaster" Target="/ppt/notesMasters/notesMaster1.xml" Id="Rfeea4b8ecccc476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63aeb4340444f15" /><Relationship Type="http://schemas.openxmlformats.org/officeDocument/2006/relationships/notesMaster" Target="/ppt/notesMasters/notesMaster1.xml" Id="R821dc5eaed5745e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53ce7ebe3f24a88" /><Relationship Type="http://schemas.openxmlformats.org/officeDocument/2006/relationships/notesMaster" Target="/ppt/notesMasters/notesMaster1.xml" Id="R94f9f0281765460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a4c87a1a2234c94" /><Relationship Type="http://schemas.openxmlformats.org/officeDocument/2006/relationships/notesMaster" Target="/ppt/notesMasters/notesMaster1.xml" Id="Rb0ab7a717df242b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ff5cc7948594120" /><Relationship Type="http://schemas.openxmlformats.org/officeDocument/2006/relationships/notesMaster" Target="/ppt/notesMasters/notesMaster1.xml" Id="R963246c9e98f42d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f1de090045b4d0a" /><Relationship Type="http://schemas.openxmlformats.org/officeDocument/2006/relationships/notesMaster" Target="/ppt/notesMasters/notesMaster1.xml" Id="R910930ae56a8442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434b085a2444d99" /><Relationship Type="http://schemas.openxmlformats.org/officeDocument/2006/relationships/notesMaster" Target="/ppt/notesMasters/notesMaster1.xml" Id="R5c929c465895475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e76607014c94225" /><Relationship Type="http://schemas.openxmlformats.org/officeDocument/2006/relationships/notesMaster" Target="/ppt/notesMasters/notesMaster1.xml" Id="R4a43c61bd58048d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d48ff409818484d" /><Relationship Type="http://schemas.openxmlformats.org/officeDocument/2006/relationships/notesMaster" Target="/ppt/notesMasters/notesMaster1.xml" Id="R1030bfb8dfc64d3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b4249c15ac54a84" /><Relationship Type="http://schemas.openxmlformats.org/officeDocument/2006/relationships/notesMaster" Target="/ppt/notesMasters/notesMaster1.xml" Id="R325ff5eb79314ff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1907f3158f646ff" /><Relationship Type="http://schemas.openxmlformats.org/officeDocument/2006/relationships/notesMaster" Target="/ppt/notesMasters/notesMaster1.xml" Id="R12c1e6fe690f447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2c74d84a0b34765" /><Relationship Type="http://schemas.openxmlformats.org/officeDocument/2006/relationships/notesMaster" Target="/ppt/notesMasters/notesMaster1.xml" Id="Rfa0f79211fd143e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a688920bb5e4029" /><Relationship Type="http://schemas.openxmlformats.org/officeDocument/2006/relationships/notesMaster" Target="/ppt/notesMasters/notesMaster1.xml" Id="R66a6d226d2ec41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>Оценки 0–5 являются экспертными и не заменяют измерения продуктов.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>Оценки 0–5 получены в рамках учебного сравнения.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4827cfc50e41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9de99fbe0574bc1" /><Relationship Type="http://schemas.openxmlformats.org/officeDocument/2006/relationships/slideLayout" Target="/ppt/slideLayouts/slideLayout1.xml" Id="R665bbcb66e9b411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5bbcb66e9b411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b0cf0fa43d4072" /><Relationship Type="http://schemas.openxmlformats.org/officeDocument/2006/relationships/notesSlide" Target="/ppt/notesSlides/notesSlide1.xml" Id="R53d3cba1e73c454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b8b0ce691f4c21" /><Relationship Type="http://schemas.openxmlformats.org/officeDocument/2006/relationships/notesSlide" Target="/ppt/notesSlides/notesSlide2.xml" Id="R405cdacedd454a4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c08d085e804db7" /><Relationship Type="http://schemas.openxmlformats.org/officeDocument/2006/relationships/image" Target="/ppt/media/image.png" Id="R3ec2ab283d234a6e" /><Relationship Type="http://schemas.openxmlformats.org/officeDocument/2006/relationships/notesSlide" Target="/ppt/notesSlides/notesSlide3.xml" Id="R2607306558af4e8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6df528ce8a4cbe" /><Relationship Type="http://schemas.openxmlformats.org/officeDocument/2006/relationships/image" Target="/ppt/media/image2.png" Id="Rafcd52813a37445c" /><Relationship Type="http://schemas.openxmlformats.org/officeDocument/2006/relationships/notesSlide" Target="/ppt/notesSlides/notesSlide4.xml" Id="R13c98b41264b42c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9b34ce703a4a86" /><Relationship Type="http://schemas.openxmlformats.org/officeDocument/2006/relationships/image" Target="/ppt/media/image3.png" Id="Rd3e7f02b22bf47ef" /><Relationship Type="http://schemas.openxmlformats.org/officeDocument/2006/relationships/notesSlide" Target="/ppt/notesSlides/notesSlide5.xml" Id="Rf07a2b9483c44a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c29592abc0461e" /><Relationship Type="http://schemas.openxmlformats.org/officeDocument/2006/relationships/image" Target="/ppt/media/image4.png" Id="R9837e59922684089" /><Relationship Type="http://schemas.openxmlformats.org/officeDocument/2006/relationships/notesSlide" Target="/ppt/notesSlides/notesSlide6.xml" Id="R2c152139b4c4407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e1ab6a4b0448f5" /><Relationship Type="http://schemas.openxmlformats.org/officeDocument/2006/relationships/notesSlide" Target="/ppt/notesSlides/notesSlide7.xml" Id="R8b7eaa48c57049a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2f7458314d48a0" /><Relationship Type="http://schemas.openxmlformats.org/officeDocument/2006/relationships/notesSlide" Target="/ppt/notesSlides/notesSlide8.xml" Id="R0930de8b2baa4b8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076f00554348b7" /><Relationship Type="http://schemas.openxmlformats.org/officeDocument/2006/relationships/notesSlide" Target="/ppt/notesSlides/notesSlide9.xml" Id="R102621c9c4004d1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8ed45dafed49ee" /><Relationship Type="http://schemas.openxmlformats.org/officeDocument/2006/relationships/notesSlide" Target="/ppt/notesSlides/notesSlide10.xml" Id="Rcd8e8984407b48c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235d4be69f4fd5" /><Relationship Type="http://schemas.openxmlformats.org/officeDocument/2006/relationships/notesSlide" Target="/ppt/notesSlides/notesSlide11.xml" Id="R709b51c86987471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6367ec30944785" /><Relationship Type="http://schemas.openxmlformats.org/officeDocument/2006/relationships/notesSlide" Target="/ppt/notesSlides/notesSlide12.xml" Id="R1477754d2e20481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f26a21c15a4c63" /><Relationship Type="http://schemas.openxmlformats.org/officeDocument/2006/relationships/image" Target="/ppt/media/image5.png" Id="R408f0334a63943fe" /><Relationship Type="http://schemas.openxmlformats.org/officeDocument/2006/relationships/notesSlide" Target="/ppt/notesSlides/notesSlide13.xml" Id="R195edeab679d4e0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a6d83946384aa4" /><Relationship Type="http://schemas.openxmlformats.org/officeDocument/2006/relationships/notesSlide" Target="/ppt/notesSlides/notesSlide14.xml" Id="Rabd36550fcd947d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91b1f3c8254f68" /><Relationship Type="http://schemas.openxmlformats.org/officeDocument/2006/relationships/notesSlide" Target="/ppt/notesSlides/notesSlide15.xml" Id="R5db3fa0365f6435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E8FBF4-43A9-4E8C-89D5-9870BED3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Практическое занятие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49EA91-EDE0-4687-8CC1-A19A5DFE2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0"/>
            <a:ext cx="10668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Анализ текущего процесса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F03DE3-6E5E-4F2A-A9CB-8020DEFB6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10477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AS IS показывает ручную работу, повторный ввод и позднее обнаружение ошибок.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8A91C7-D3EB-4AC0-B09E-097957A1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7212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Албахтин И.В.   ИНБО-12-23</a:t>
            </a:r>
          </a:p>
          <a:p xmlns:a="http://schemas.openxmlformats.org/drawingml/2006/main">
            <a:pPr>
              <a:defRPr sz="18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Разработка обеспечивающих подсистем   2026</a:t>
            </a:r>
          </a:p>
        </p:txBody>
      </p:sp>
    </p:spTree>
    <p:extLst>
      <p:ext uri="{BB962C8B-B14F-4D97-AF65-F5344CB8AC3E}">
        <p14:creationId xmlns:p14="http://schemas.microsoft.com/office/powerpoint/2010/main" val="16554090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E4431A-B8C8-4EF5-94AA-3BE6B57A0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Границы анализа AS 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D00783-EAF0-4DC3-A898-FA6EEE14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Начало и результат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C8F770-54CF-4290-B804-5847C48F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81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Участники и инструменты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5A9206-3641-4285-A628-3FD392F8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Запрос приходит в почту или мессенджер.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FD0907-347A-4A99-90FD-36458878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Результат: карточка Ozon либо отклонение.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06F7AD-6010-430E-A803-8937D33D6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90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Описание представляет учебную модель.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D02905-965B-4883-8AC9-3F7BE02A8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Менеджер, технический специалист, склад, дизайнер.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A43341-03D1-43AE-8FDC-87FA9CA98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43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Excel, калькулятор, браузер, почта и общие папки.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938C2F-6D92-4A33-956D-31A59467F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90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Прайс-листы, сообщения, характеристики и изображения.</a:t>
            </a:r>
          </a:p>
        </p:txBody>
      </p:sp>
    </p:spTree>
    <p:extLst>
      <p:ext uri="{BB962C8B-B14F-4D97-AF65-F5344CB8AC3E}">
        <p14:creationId xmlns:p14="http://schemas.microsoft.com/office/powerpoint/2010/main" val="13067942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6366BA-0E80-44A6-8C7D-821BE71B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IDEF0 AS IS: контекст ручной подготовки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c2ab283d234a6e"/>
          <a:stretch xmlns:a="http://schemas.openxmlformats.org/drawingml/2006/main"/>
        </p:blipFill>
        <p:spPr>
          <a:xfrm xmlns:a="http://schemas.openxmlformats.org/drawingml/2006/main">
            <a:off x="1791338" y="1285875"/>
            <a:ext cx="8609323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8604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99CED6-C746-4B0B-B2C4-1ECA71A3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IDEF0 AS IS: шесть ручных функций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cd52813a37445c"/>
          <a:stretch xmlns:a="http://schemas.openxmlformats.org/drawingml/2006/main"/>
        </p:blipFill>
        <p:spPr>
          <a:xfrm xmlns:a="http://schemas.openxmlformats.org/drawingml/2006/main">
            <a:off x="2070381" y="1285875"/>
            <a:ext cx="8051239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66393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84C126-3CAE-4DCA-BDEA-F08D9F0F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BPMN AS IS: ручная публикация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e7f02b22bf47ef"/>
          <a:stretch xmlns:a="http://schemas.openxmlformats.org/drawingml/2006/main"/>
        </p:blipFill>
        <p:spPr>
          <a:xfrm xmlns:a="http://schemas.openxmlformats.org/drawingml/2006/main">
            <a:off x="571500" y="1500921"/>
            <a:ext cx="11049000" cy="457053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97491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73B031-0916-4AC4-A1AD-16EA5E5C5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BPMN AS IS: циклы повторной работы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37e59922684089"/>
          <a:stretch xmlns:a="http://schemas.openxmlformats.org/drawingml/2006/main"/>
        </p:blipFill>
        <p:spPr>
          <a:xfrm xmlns:a="http://schemas.openxmlformats.org/drawingml/2006/main">
            <a:off x="703917" y="1285875"/>
            <a:ext cx="10784165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2903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4572E3-D1CD-4E12-B334-D53792EB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Проблемы текущего процесса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mlns:a="http://schemas.openxmlformats.org/drawingml/2006/main" x="571500" y="1381125"/>
          <a:ext xmlns:a="http://schemas.openxmlformats.org/drawingml/2006/main" cx="11049000" cy="4762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5095875"/>
                <a:gridCol w="4524375"/>
              </a:tblGrid>
              <a:tr h="680357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Код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Проблема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Последствие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</a:tr>
              <a:tr h="680357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P-01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Повторный ввод между файлами и Ozon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Ошибки копирования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0357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P-02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Совместимость проверяет специалист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Зависимость от опыта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0357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P-03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Остатки запрашиваются после подбора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Повторный подбор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0357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P-04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Предложения быстро устаревают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Неверные цена и наличие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0357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P-05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Полнота проверяется поздно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Отклонение карточки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0357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P-06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Нет общей версии и аудита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Результат трудно воспроизвести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788502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29AD7D-836B-4EED-B2DE-41D6FFDC7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Функциональные требования FR-01–FR-10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D0DB52-844B-4CD5-8074-13B0B558C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Управление модельным рядом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25911D-ED3F-4B15-8562-3EE27165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81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Предложения и расчёты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704F78-B727-4ABF-A175-3AEA26E1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FR-01 Запрос на создание или изменение.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B2B5F6-491B-42CD-9700-7A072D41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FR-02 Версии состава.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645916-2169-40A7-AB97-4D6B23FA6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90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FR-03 Точные и групповые слоты.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C7CD5-2559-46EE-A565-BF4E37D5C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FR-04 Автоматическая совместимость.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CE0E82-FF69-46CC-9A25-C2B2EC27E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FR-05 Протокол конфликтов.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4FD8CF-7C95-4164-83BB-50AEBDD1A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FR-06 Сопоставление SKU.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B4C9D7-2ACD-41F9-B2F4-8D74B54C0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43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FR-07 Импорт предложений.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722F24-6724-41C8-8F74-F415AAC62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90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FR-08 Выбор актуального предложения.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7D6554-5A20-4CD6-A0D0-2D046C63A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FR-09 Расчёт цены.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8F84FE-5D6F-4F76-8970-D6D4195A6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863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FR-10 Расчёт массы.</a:t>
            </a:r>
          </a:p>
        </p:txBody>
      </p:sp>
    </p:spTree>
    <p:extLst>
      <p:ext uri="{BB962C8B-B14F-4D97-AF65-F5344CB8AC3E}">
        <p14:creationId xmlns:p14="http://schemas.microsoft.com/office/powerpoint/2010/main" val="19142411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1C40F1-8AB3-488C-941A-E8F777A2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Функциональные требования FR-11–FR-22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608AF8-0E59-452D-B4FB-17CFA5D0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Изменения и публикация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BA11CB-3462-43A6-BC49-107AD319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81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Результат и история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0A5E6E-F158-4362-9E3E-E1F1F94F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FR-11 Предпросмотр массовой замены.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7D631B-0126-46BC-BE22-F36CE5706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FR-12 Новая версия при замене.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0C969D-AE37-468E-86F8-B20EFDFBE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90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FR-13 Повторная проверка.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236F71-E7CE-45FE-AF66-0924D63A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FR-14 Контент и изображения.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5DEACB-DA7B-4A8E-BD84-CC4B642EE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FR-15 Карточка из одной версии.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FD9DD9-1434-4E48-9E58-DA4C0B98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FR-16 Контроль готовности.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0B7C84-06EE-44E0-AD99-654F907A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FR-17 Очередь публикации.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29A45A-BE4E-4792-A6B2-43DA4799E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43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FR-18 Статус и внешний ID.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0E801A-4341-4B8A-850C-D0571CD58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90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FR-19 Ограниченные повторы.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C67A30-620E-4E0C-BD52-8E87CDD4E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FR-20 Аудит изменений.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C9A2A0-0A1A-4AA3-80F9-324F51FD4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863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FR-21 Уведомления.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6C6A85-8F0E-415B-B282-E3073235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340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FR-22 Поиск и фильтрация.</a:t>
            </a:r>
          </a:p>
        </p:txBody>
      </p:sp>
    </p:spTree>
    <p:extLst>
      <p:ext uri="{BB962C8B-B14F-4D97-AF65-F5344CB8AC3E}">
        <p14:creationId xmlns:p14="http://schemas.microsoft.com/office/powerpoint/2010/main" val="71124423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6EA70D-2D06-4C41-9F0B-721E0F24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Нефункциональные требования NFR-01–NFR-05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7F6705-039C-407E-864A-CE9CA07DA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Производительность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283054-F00C-4DA1-9F72-940F369C9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81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Надёжность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2818D9-1830-484E-A04C-B27504153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NFR-01 Основные формы: до 2 с для 95% запросов.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363743-026C-4A2E-B1F3-2D8FA4528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NFR-02 Пакетная операция: до 1000 модельных рядов.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3BBB44-0121-425D-BC5A-370640F48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90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NFR-03 Фоновая публикация не блокирует интерфейс.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675D1E-F31E-4E3D-B040-ADB6955AB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NFR-04 Контроль целостности версий.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484614-0AC3-43E2-96E2-53DF35BF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43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NFR-05 Резервное копирование и проверка восстановления.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9240DB-4AAD-400A-9D8D-BD6EFAC02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90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Пороговые значения проверяются после реализации.</a:t>
            </a:r>
          </a:p>
        </p:txBody>
      </p:sp>
    </p:spTree>
    <p:extLst>
      <p:ext uri="{BB962C8B-B14F-4D97-AF65-F5344CB8AC3E}">
        <p14:creationId xmlns:p14="http://schemas.microsoft.com/office/powerpoint/2010/main" val="213127508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912495-CE88-4A51-AE2B-7429B61E7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Нефункциональные требования NFR-06–NFR-12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EE8767-1ABF-45D2-8EEE-73468830A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Защита и доступ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57FA0B-8A03-4196-8911-CD5BFCDF1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81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Эксплуатация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BDFC23-E66F-4078-8D89-67729E056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NFR-06 Индивидуальная аутентификация.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F4577E-D567-45BA-B36A-3D9912B6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NFR-07 RBAC на сервере.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AB98C1-8EDC-44F0-8D0C-EC85098D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90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NFR-08 Аудит действий.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D1BAFC-86BE-4DAA-A80C-49B35FB9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NFR-09 TLS и защита секретов.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ACF373-C657-49C8-84CB-50502F3E5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NFR-10 Обработка ошибок интеграций.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181753-8193-4DA7-9E91-C5C9A63AA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43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NFR-11 Наблюдаемость и уведомления.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774882-BCCD-490E-B5B5-FD12AC77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90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NFR-12 Расширяемые адаптеры и правила.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CDF378-F038-42E9-B804-6415E227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Требования служат критериями будущей приёмки.</a:t>
            </a:r>
          </a:p>
        </p:txBody>
      </p:sp>
    </p:spTree>
    <p:extLst>
      <p:ext uri="{BB962C8B-B14F-4D97-AF65-F5344CB8AC3E}">
        <p14:creationId xmlns:p14="http://schemas.microsoft.com/office/powerpoint/2010/main" val="67317426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573852-6E55-4BA1-AB6A-FE9C69F12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Сравнение программных аналогов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11049000" cy="4667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1476375"/>
                <a:gridCol w="1476375"/>
                <a:gridCol w="1619250"/>
                <a:gridCol w="1619250"/>
                <a:gridCol w="1524000"/>
              </a:tblGrid>
              <a:tr h="58340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Критерий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Ozon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1С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Pimcore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Akeneo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ИС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Модельный ряд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Совместимость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Поставщики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Массовая замена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Контент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Публикация Ozon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Средняя оценка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3,7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3,7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3,1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5,0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723002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B0515D-68F7-4030-A23A-4DD77A05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Средняя экспертная оценка аналогов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8f0334a63943fe"/>
          <a:stretch xmlns:a="http://schemas.openxmlformats.org/drawingml/2006/main"/>
        </p:blipFill>
        <p:spPr>
          <a:xfrm xmlns:a="http://schemas.openxmlformats.org/drawingml/2006/main">
            <a:off x="2389838" y="1285875"/>
            <a:ext cx="7412323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86957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B1F397-5E8B-43BD-A12D-74603BB35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Результаты практики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36E1BA-9AF0-4AF9-BE64-FAC96162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Построены контекст и декомпозиция IDEF0 AS IS.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8DCE4B-9024-44C3-A212-C081049C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BPMN показывает четыре роли, переписку и повторное заполнение Ozon.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8A424F-D8B8-478C-8620-562F2537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Выявлены шесть проблем текущего процесса.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7176B1-B355-4B7F-863A-5E61FB6BE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Сформулированы FR-01–FR-22 и NFR-01–NFR-12.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52E59A-3981-4F4D-9D20-0569442CC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912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Определена потребность в единой версионированной системе.</a:t>
            </a:r>
          </a:p>
        </p:txBody>
      </p:sp>
    </p:spTree>
    <p:extLst>
      <p:ext uri="{BB962C8B-B14F-4D97-AF65-F5344CB8AC3E}">
        <p14:creationId xmlns:p14="http://schemas.microsoft.com/office/powerpoint/2010/main" val="61985980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B13798-1CBE-43BC-889D-01A5A021B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Источники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AD8FE4-0A39-4BB3-BEC3-B2A9D319D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Методические материалы РОП, практическое занятие 1.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EB8BFE-ADEF-406B-A863-1D1364FC4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OMG Business Process Model and Notation 2.0.2.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248AC8-185B-4483-85D8-498E36829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Документация Ozon Seller API.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133721-981A-4D56-8B51-6C10B4833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Единый отчёт по практическим занятиям 1–8.</a:t>
            </a:r>
          </a:p>
        </p:txBody>
      </p:sp>
    </p:spTree>
    <p:extLst>
      <p:ext uri="{BB962C8B-B14F-4D97-AF65-F5344CB8AC3E}">
        <p14:creationId xmlns:p14="http://schemas.microsoft.com/office/powerpoint/2010/main" val="19575730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2026-09-28T12:17:52.1280000Z</dcterms:created>
  <dcterms:modified xsi:type="dcterms:W3CDTF">2026-09-28T12:17:52.1280000Z</dcterms:modified>
</coreProperties>
</file>