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1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384282f0935406b" /><Relationship Type="http://schemas.openxmlformats.org/officeDocument/2006/relationships/extended-properties" Target="/docProps/app.xml" Id="Rebad9192e6c14f56" /><Relationship Type="http://schemas.openxmlformats.org/officeDocument/2006/relationships/officeDocument" Target="/ppt/presentation.xml" Id="R808ca17d5f584d4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a2fe53818d24a5e"/>
  </p:sldMasterIdLst>
  <p:notesMasterIdLst>
    <p:notesMasterId xmlns:r="http://schemas.openxmlformats.org/officeDocument/2006/relationships" r:id="Rebcee4eba1424b46"/>
  </p:notesMasterIdLst>
  <p:sldIdLst>
    <p:sldId xmlns:r="http://schemas.openxmlformats.org/officeDocument/2006/relationships" id="256" r:id="R966ac7618b4041e9"/>
    <p:sldId xmlns:r="http://schemas.openxmlformats.org/officeDocument/2006/relationships" id="257" r:id="R57be7c10f8254972"/>
    <p:sldId xmlns:r="http://schemas.openxmlformats.org/officeDocument/2006/relationships" id="258" r:id="Re6d7fa95d63b4213"/>
    <p:sldId xmlns:r="http://schemas.openxmlformats.org/officeDocument/2006/relationships" id="259" r:id="R6fc985d289194575"/>
    <p:sldId xmlns:r="http://schemas.openxmlformats.org/officeDocument/2006/relationships" id="260" r:id="R5ac8c20e965a4545"/>
    <p:sldId xmlns:r="http://schemas.openxmlformats.org/officeDocument/2006/relationships" id="261" r:id="R285dff1a64d946a1"/>
    <p:sldId xmlns:r="http://schemas.openxmlformats.org/officeDocument/2006/relationships" id="262" r:id="R82cdc933add64078"/>
    <p:sldId xmlns:r="http://schemas.openxmlformats.org/officeDocument/2006/relationships" id="263" r:id="R03d19c3c78a74db2"/>
    <p:sldId xmlns:r="http://schemas.openxmlformats.org/officeDocument/2006/relationships" id="264" r:id="R977ca84786834c78"/>
    <p:sldId xmlns:r="http://schemas.openxmlformats.org/officeDocument/2006/relationships" id="265" r:id="R3a1af721bf08482d"/>
    <p:sldId xmlns:r="http://schemas.openxmlformats.org/officeDocument/2006/relationships" id="266" r:id="Rd0673fe8d6ba4efb"/>
    <p:sldId xmlns:r="http://schemas.openxmlformats.org/officeDocument/2006/relationships" id="267" r:id="R06c786a9fd1341ce"/>
    <p:sldId xmlns:r="http://schemas.openxmlformats.org/officeDocument/2006/relationships" id="268" r:id="Ra9d64bd86f3945a9"/>
    <p:sldId xmlns:r="http://schemas.openxmlformats.org/officeDocument/2006/relationships" id="269" r:id="R779fb2144a164acd"/>
    <p:sldId xmlns:r="http://schemas.openxmlformats.org/officeDocument/2006/relationships" id="270" r:id="Rd38ffc921ca34c3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19ac3752df14b33" /><Relationship Type="http://schemas.openxmlformats.org/officeDocument/2006/relationships/slideMaster" Target="/ppt/slideMasters/slideMaster1.xml" Id="Rda2fe53818d24a5e" /><Relationship Type="http://schemas.openxmlformats.org/officeDocument/2006/relationships/notesMaster" Target="/ppt/notesMasters/notesMaster1.xml" Id="Rebcee4eba1424b46" /><Relationship Type="http://schemas.openxmlformats.org/officeDocument/2006/relationships/presProps" Target="/ppt/presProps.xml" Id="R23cb11130c79484c" /><Relationship Type="http://schemas.openxmlformats.org/officeDocument/2006/relationships/tableStyles" Target="/ppt/tableStyles.xml" Id="R3b6a683a349542c3" /><Relationship Type="http://schemas.openxmlformats.org/officeDocument/2006/relationships/slide" Target="/ppt/slides/slide1.xml" Id="R966ac7618b4041e9" /><Relationship Type="http://schemas.openxmlformats.org/officeDocument/2006/relationships/slide" Target="/ppt/slides/slide2.xml" Id="R57be7c10f8254972" /><Relationship Type="http://schemas.openxmlformats.org/officeDocument/2006/relationships/slide" Target="/ppt/slides/slide3.xml" Id="Re6d7fa95d63b4213" /><Relationship Type="http://schemas.openxmlformats.org/officeDocument/2006/relationships/slide" Target="/ppt/slides/slide4.xml" Id="R6fc985d289194575" /><Relationship Type="http://schemas.openxmlformats.org/officeDocument/2006/relationships/slide" Target="/ppt/slides/slide5.xml" Id="R5ac8c20e965a4545" /><Relationship Type="http://schemas.openxmlformats.org/officeDocument/2006/relationships/slide" Target="/ppt/slides/slide6.xml" Id="R285dff1a64d946a1" /><Relationship Type="http://schemas.openxmlformats.org/officeDocument/2006/relationships/slide" Target="/ppt/slides/slide7.xml" Id="R82cdc933add64078" /><Relationship Type="http://schemas.openxmlformats.org/officeDocument/2006/relationships/slide" Target="/ppt/slides/slide8.xml" Id="R03d19c3c78a74db2" /><Relationship Type="http://schemas.openxmlformats.org/officeDocument/2006/relationships/slide" Target="/ppt/slides/slide9.xml" Id="R977ca84786834c78" /><Relationship Type="http://schemas.openxmlformats.org/officeDocument/2006/relationships/slide" Target="/ppt/slides/slide10.xml" Id="R3a1af721bf08482d" /><Relationship Type="http://schemas.openxmlformats.org/officeDocument/2006/relationships/slide" Target="/ppt/slides/slide11.xml" Id="Rd0673fe8d6ba4efb" /><Relationship Type="http://schemas.openxmlformats.org/officeDocument/2006/relationships/slide" Target="/ppt/slides/slide12.xml" Id="R06c786a9fd1341ce" /><Relationship Type="http://schemas.openxmlformats.org/officeDocument/2006/relationships/slide" Target="/ppt/slides/slide13.xml" Id="Ra9d64bd86f3945a9" /><Relationship Type="http://schemas.openxmlformats.org/officeDocument/2006/relationships/slide" Target="/ppt/slides/slide14.xml" Id="R779fb2144a164acd" /><Relationship Type="http://schemas.openxmlformats.org/officeDocument/2006/relationships/slide" Target="/ppt/slides/slide15.xml" Id="Rd38ffc921ca34c3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401e2bd7214489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8f59980abd7487c" /><Relationship Type="http://schemas.openxmlformats.org/officeDocument/2006/relationships/notesMaster" Target="/ppt/notesMasters/notesMaster1.xml" Id="R85dd3bec1095488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8c7593aef5c43d7" /><Relationship Type="http://schemas.openxmlformats.org/officeDocument/2006/relationships/notesMaster" Target="/ppt/notesMasters/notesMaster1.xml" Id="R41f7da94c73d4f0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449fb97bc184819" /><Relationship Type="http://schemas.openxmlformats.org/officeDocument/2006/relationships/notesMaster" Target="/ppt/notesMasters/notesMaster1.xml" Id="R4e00fc0e549b4e7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81d3318ef80439d" /><Relationship Type="http://schemas.openxmlformats.org/officeDocument/2006/relationships/notesMaster" Target="/ppt/notesMasters/notesMaster1.xml" Id="R45b58ea8948c441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b028488ce804127" /><Relationship Type="http://schemas.openxmlformats.org/officeDocument/2006/relationships/notesMaster" Target="/ppt/notesMasters/notesMaster1.xml" Id="R236381f88a8e432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d02c0d100014b60" /><Relationship Type="http://schemas.openxmlformats.org/officeDocument/2006/relationships/notesMaster" Target="/ppt/notesMasters/notesMaster1.xml" Id="Rfe4eca89df094ba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886c5766803437e" /><Relationship Type="http://schemas.openxmlformats.org/officeDocument/2006/relationships/notesMaster" Target="/ppt/notesMasters/notesMaster1.xml" Id="R935c5f26922047b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9ed5c236b0b4821" /><Relationship Type="http://schemas.openxmlformats.org/officeDocument/2006/relationships/notesMaster" Target="/ppt/notesMasters/notesMaster1.xml" Id="R58952f4ac34a413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092af685a7e4893" /><Relationship Type="http://schemas.openxmlformats.org/officeDocument/2006/relationships/notesMaster" Target="/ppt/notesMasters/notesMaster1.xml" Id="R6f804f6ad626453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d6814b28aa84289" /><Relationship Type="http://schemas.openxmlformats.org/officeDocument/2006/relationships/notesMaster" Target="/ppt/notesMasters/notesMaster1.xml" Id="R685eaee08f23453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a7928972f8e4460" /><Relationship Type="http://schemas.openxmlformats.org/officeDocument/2006/relationships/notesMaster" Target="/ppt/notesMasters/notesMaster1.xml" Id="Rf2ef802f9963415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fa411b60bb7477e" /><Relationship Type="http://schemas.openxmlformats.org/officeDocument/2006/relationships/notesMaster" Target="/ppt/notesMasters/notesMaster1.xml" Id="R9f6c460321e34be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56d1f4b070542e6" /><Relationship Type="http://schemas.openxmlformats.org/officeDocument/2006/relationships/notesMaster" Target="/ppt/notesMasters/notesMaster1.xml" Id="Rbd65b99920eb465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855a1077d5c464d" /><Relationship Type="http://schemas.openxmlformats.org/officeDocument/2006/relationships/notesMaster" Target="/ppt/notesMasters/notesMaster1.xml" Id="R1cdd19c64eea4f9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ea9702a030b45d7" /><Relationship Type="http://schemas.openxmlformats.org/officeDocument/2006/relationships/notesMaster" Target="/ppt/notesMasters/notesMaster1.xml" Id="R4697a1d34f7a43a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>Оценки 0–5 являются экспертными и не заменяют измерения продуктов.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>Оценки 0–5: девять критериев предыдущего слайда, равные веса. Средние округлены до 0,1 балла. 5,0 для целевой ИС — проектная оценка, не результат испытаний.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998f5319c642e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0e5acdf0a0349b5" /><Relationship Type="http://schemas.openxmlformats.org/officeDocument/2006/relationships/slideLayout" Target="/ppt/slideLayouts/slideLayout1.xml" Id="R50dc7aff4979428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0dc7aff4979428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955a18ee6d4c57" /><Relationship Type="http://schemas.openxmlformats.org/officeDocument/2006/relationships/notesSlide" Target="/ppt/notesSlides/notesSlide1.xml" Id="R61febc7e92d74d6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87508975284338" /><Relationship Type="http://schemas.openxmlformats.org/officeDocument/2006/relationships/notesSlide" Target="/ppt/notesSlides/notesSlide2.xml" Id="R79f574a582e1433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839674c1204b90" /><Relationship Type="http://schemas.openxmlformats.org/officeDocument/2006/relationships/image" Target="/ppt/media/image.png" Id="R07fdda7124ab4fea" /><Relationship Type="http://schemas.openxmlformats.org/officeDocument/2006/relationships/notesSlide" Target="/ppt/notesSlides/notesSlide3.xml" Id="Ref10d666606f424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68cce1d8fd4589" /><Relationship Type="http://schemas.openxmlformats.org/officeDocument/2006/relationships/image" Target="/ppt/media/image2.png" Id="R588250dd0edb48cf" /><Relationship Type="http://schemas.openxmlformats.org/officeDocument/2006/relationships/notesSlide" Target="/ppt/notesSlides/notesSlide4.xml" Id="R97c3d517e7bd416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41de434d9d4221" /><Relationship Type="http://schemas.openxmlformats.org/officeDocument/2006/relationships/image" Target="/ppt/media/image3.png" Id="R0813594d7c194a54" /><Relationship Type="http://schemas.openxmlformats.org/officeDocument/2006/relationships/notesSlide" Target="/ppt/notesSlides/notesSlide5.xml" Id="Rdf746cdcda12451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cd870eb1a54679" /><Relationship Type="http://schemas.openxmlformats.org/officeDocument/2006/relationships/image" Target="/ppt/media/image4.png" Id="Rcf4651a04c3943bc" /><Relationship Type="http://schemas.openxmlformats.org/officeDocument/2006/relationships/notesSlide" Target="/ppt/notesSlides/notesSlide6.xml" Id="Rd5c10017f0d647a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effaa9b6764b42" /><Relationship Type="http://schemas.openxmlformats.org/officeDocument/2006/relationships/notesSlide" Target="/ppt/notesSlides/notesSlide7.xml" Id="R2b1a0f015a8e4ce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41c6e72b974656" /><Relationship Type="http://schemas.openxmlformats.org/officeDocument/2006/relationships/notesSlide" Target="/ppt/notesSlides/notesSlide8.xml" Id="R53b8b5715ed348b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b9df08ca774f10" /><Relationship Type="http://schemas.openxmlformats.org/officeDocument/2006/relationships/notesSlide" Target="/ppt/notesSlides/notesSlide9.xml" Id="Rbe963e0ab7184f6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ea2912b99a4cb7" /><Relationship Type="http://schemas.openxmlformats.org/officeDocument/2006/relationships/notesSlide" Target="/ppt/notesSlides/notesSlide10.xml" Id="R9cb57f348a46430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fcc892b1534a74" /><Relationship Type="http://schemas.openxmlformats.org/officeDocument/2006/relationships/notesSlide" Target="/ppt/notesSlides/notesSlide11.xml" Id="Ree96e0c524cf47b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c22ee69ae54453" /><Relationship Type="http://schemas.openxmlformats.org/officeDocument/2006/relationships/notesSlide" Target="/ppt/notesSlides/notesSlide12.xml" Id="R05af2af74aa24b9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52448647804644" /><Relationship Type="http://schemas.openxmlformats.org/officeDocument/2006/relationships/chart" Target="/ppt/slides/charts/chart1.xml" Id="R8e6efddff5704885" /><Relationship Type="http://schemas.openxmlformats.org/officeDocument/2006/relationships/notesSlide" Target="/ppt/notesSlides/notesSlide13.xml" Id="Ra0627c894b394b7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11ac9433b241b7" /><Relationship Type="http://schemas.openxmlformats.org/officeDocument/2006/relationships/notesSlide" Target="/ppt/notesSlides/notesSlide14.xml" Id="Rd857a2a309be462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fa1af060774202" /><Relationship Type="http://schemas.openxmlformats.org/officeDocument/2006/relationships/notesSlide" Target="/ppt/notesSlides/notesSlide15.xml" Id="Ra5c73802f75f4274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>
                <a:solidFill>
                  <a:srgbClr val="161616"/>
                </a:solidFill>
                <a:latin typeface="Arial"/>
                <a:ea typeface="Arial"/>
                <a:cs typeface="Arial"/>
              </a:rPr>
              <a:t>Средняя оценка, баллы (0–5)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>
              <a:solidFill>
                <a:srgbClr val="161616"/>
              </a:solidFill>
              <a:latin typeface="Arial"/>
              <a:ea typeface="Arial"/>
              <a:cs typeface="Arial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Средняя оценка</c:v>
          </c:tx>
          <c:spPr>
            <a:solidFill xmlns:a="http://schemas.openxmlformats.org/drawingml/2006/main">
              <a:srgbClr val="444444"/>
            </a:solidFill>
          </c:spPr>
          <c:cat>
            <c:strRef>
              <c:f>'Chart Data'!$A$2:$A$6</c:f>
              <c:strCache>
                <c:ptCount val="5"/>
                <c:pt idx="0">
                  <c:v>Ozon Seller</c:v>
                </c:pt>
                <c:pt idx="1">
                  <c:v>1С:ERP</c:v>
                </c:pt>
                <c:pt idx="2">
                  <c:v>Pimcore</c:v>
                </c:pt>
                <c:pt idx="3">
                  <c:v>Akeneo</c:v>
                </c:pt>
                <c:pt idx="4">
                  <c:v>Целевая ИС</c:v>
                </c:pt>
              </c:strCache>
            </c:strRef>
          </c:cat>
          <c:val>
            <c:numRef>
              <c:f>'Chart Data'!$B$2:$B$6</c:f>
              <c:numCache>
                <c:formatCode>0.0</c:formatCode>
                <c:ptCount val="5"/>
                <c:pt idx="0">
                  <c:v>2.1</c:v>
                </c:pt>
                <c:pt idx="1">
                  <c:v>3.7</c:v>
                </c:pt>
                <c:pt idx="2">
                  <c:v>3.7</c:v>
                </c:pt>
                <c:pt idx="3">
                  <c:v>3.1</c:v>
                </c:pt>
                <c:pt idx="4">
                  <c:v>5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00">
                  <a:solidFill>
                    <a:srgbClr val="161616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DDDDD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1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C62430-56CB-4CBD-8ED5-CAB9AB65F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Практическое занятие 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362F8B-6134-4B8F-AFEB-BE5067529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0"/>
            <a:ext cx="106680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Анализ текущего процесса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D1047A-3184-4DE9-A41D-E50C492EF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57625"/>
            <a:ext cx="104775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AS IS показывает ручную работу, повторный ввод и позднее обнаружение ошибок.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63E662-16EF-4895-AB68-384AFB59F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72125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Албахтин И.В.   ИНБО-12-23</a:t>
            </a:r>
          </a:p>
          <a:p xmlns:a="http://schemas.openxmlformats.org/drawingml/2006/main">
            <a:pPr>
              <a:defRPr sz="180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Разработка обеспечивающих подсистем   2026</a:t>
            </a:r>
          </a:p>
        </p:txBody>
      </p:sp>
    </p:spTree>
    <p:extLst>
      <p:ext uri="{BB962C8B-B14F-4D97-AF65-F5344CB8AC3E}">
        <p14:creationId xmlns:p14="http://schemas.microsoft.com/office/powerpoint/2010/main" val="12283789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069FBD-B423-40EE-AB85-273219646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Границы анализа AS 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5FFE89-8D10-42B6-860E-5B3D8AC50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Начало и результат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73AB3D-0AD2-4845-AADE-2EA163A1F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38112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Участники и инструменты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07FFF2-9017-4086-89EA-640DFBC72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Запрос приходит в почту или мессенджер.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53AD95-F97B-41DD-B49B-9F769BAE9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Результат: карточка Ozon либо отклонение.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DB70F5-CC1D-4F07-980A-27EF904CF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909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Описание представляет учебную модель.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61F5EA-9F62-4A18-BC56-346F78DCB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Менеджер, технический специалист, склад, дизайнер.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9543DE-56FF-44A9-9230-C72CE6B89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43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Excel, калькулятор, браузер, почта и общие папки.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65D2E1-AF6C-467A-8929-65080C7B1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909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Прайс-листы, сообщения, характеристики и изображения.</a:t>
            </a:r>
          </a:p>
        </p:txBody>
      </p:sp>
    </p:spTree>
    <p:extLst>
      <p:ext uri="{BB962C8B-B14F-4D97-AF65-F5344CB8AC3E}">
        <p14:creationId xmlns:p14="http://schemas.microsoft.com/office/powerpoint/2010/main" val="94408089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B216F1-5E87-4E57-88FD-7A0667715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IDEF0 AS IS: контекст ручной подготовки</a:t>
            </a:r>
          </a:p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fdda7124ab4fea"/>
          <a:stretch xmlns:a="http://schemas.openxmlformats.org/drawingml/2006/main"/>
        </p:blipFill>
        <p:spPr>
          <a:xfrm xmlns:a="http://schemas.openxmlformats.org/drawingml/2006/main">
            <a:off x="1895475" y="1285875"/>
            <a:ext cx="8401050" cy="50006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088100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9612A8-E70D-45D9-9F43-E8C79FC8E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IDEF0 AS IS: шесть ручных функций</a:t>
            </a:r>
          </a:p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8250dd0edb48cf"/>
          <a:stretch xmlns:a="http://schemas.openxmlformats.org/drawingml/2006/main"/>
        </p:blipFill>
        <p:spPr>
          <a:xfrm xmlns:a="http://schemas.openxmlformats.org/drawingml/2006/main">
            <a:off x="1895475" y="1285875"/>
            <a:ext cx="8401050" cy="50006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890182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A4B3A8-D9FB-49F9-B9F0-5131825C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BPMN AS IS: ручная публикация</a:t>
            </a:r>
          </a:p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13594d7c194a54"/>
          <a:stretch xmlns:a="http://schemas.openxmlformats.org/drawingml/2006/main"/>
        </p:blipFill>
        <p:spPr>
          <a:xfrm xmlns:a="http://schemas.openxmlformats.org/drawingml/2006/main">
            <a:off x="571500" y="1581649"/>
            <a:ext cx="11049000" cy="4409077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429573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AAE040-571F-460C-8A24-0B4C4E0EF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BPMN AS IS: циклы повторной работы</a:t>
            </a:r>
          </a:p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4651a04c3943bc"/>
          <a:stretch xmlns:a="http://schemas.openxmlformats.org/drawingml/2006/main"/>
        </p:blipFill>
        <p:spPr>
          <a:xfrm xmlns:a="http://schemas.openxmlformats.org/drawingml/2006/main">
            <a:off x="571500" y="1326470"/>
            <a:ext cx="11049000" cy="491943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029597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4EFF33-DCF8-4B00-9E71-99741E48E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Проблемы текущего процесса</a:t>
            </a:r>
          </a:p>
        </p:txBody>
      </p:sp>
      <p:graphicFrame>
        <p:nvGraphicFramePr>
          <p:cNvPr id="4" name=""/>
          <p:cNvGraphicFramePr/>
          <p:nvPr/>
        </p:nvGraphicFramePr>
        <p:xfrm>
          <a:off xmlns:a="http://schemas.openxmlformats.org/drawingml/2006/main" x="571500" y="1381125"/>
          <a:ext xmlns:a="http://schemas.openxmlformats.org/drawingml/2006/main" cx="11049000" cy="4762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428750"/>
                <a:gridCol w="5095875"/>
                <a:gridCol w="4524375"/>
              </a:tblGrid>
              <a:tr h="680357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Код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Проблема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Последствие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</a:tr>
              <a:tr h="680357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P-01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Повторный ввод между файлами и Ozon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Ошибки копирования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0357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P-02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Совместимость проверяет специалист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Зависимость от опыта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0357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P-03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Остатки запрашиваются после подбора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Повторный подбор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0357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P-04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Предложения быстро устаревают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Неверные цена и наличие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0357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P-05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Полнота проверяется поздно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Отклонение карточки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0357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P-06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Нет общей версии и аудита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Результат трудно воспроизвести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0931868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38AD2A-43A8-46C4-8FA8-EFBB271EF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Функциональные требования FR-01–FR-10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06BFE0-A405-491C-B15E-56FFAE258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Управление модельным рядом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D0C7AD-9743-46EC-80DE-07DD1A8C5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38112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Предложения и расчёты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046881-2FDB-431F-8468-9FB672BCA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FR-01 Запрос на создание или изменение.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122CCD-C7EC-465F-86E1-186F8B0BC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FR-02 модельный ряд: корпус и уникальный код.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C59CD3-CCCE-4457-BDD3-C770D32DE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909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FR-03 Точные и групповые слоты.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EC8F8F-4F40-4E69-9DF3-E46F48DEA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386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FR-04 Проверка правил при изменении модельного ряда.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FED784-FDC8-4026-A34F-D88EC52E1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863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FR-05 Правило и компоненты конфликта.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C1DD2A-9434-45BF-99AB-5D1E8F539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FR-06 Сопоставление компонентов и SKU.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5FA6FB-FDB2-454E-92D8-69A6E6D9B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43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FR-07 Импорт цен, наличия и даты.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3B3E60-DBDA-4CDC-BCC3-5D841CE93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909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FR-08 Выбор по правилам приоритета.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16E9CE-4411-49C4-B2AB-AF7FBB61A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386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FR-09 Себестоимость и цена карточки.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EDAD4D-C0FD-4042-8908-FC3BF9EA0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6863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FR-10 Масса товара с упаковкой.</a:t>
            </a:r>
          </a:p>
        </p:txBody>
      </p:sp>
    </p:spTree>
    <p:extLst>
      <p:ext uri="{BB962C8B-B14F-4D97-AF65-F5344CB8AC3E}">
        <p14:creationId xmlns:p14="http://schemas.microsoft.com/office/powerpoint/2010/main" val="165145243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FCAF60-B9FA-4D71-BD97-C829B3E4B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Функциональные требования FR-11–FR-22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0C60B7-CB18-4078-93C7-05D5B48BC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Изменения и контент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0B1535-2729-4954-A027-99A5A24C3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38112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Публикация и история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FB9880-709D-4018-AB74-89D76348E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FR-11 Поиск модельных рядов с компонентом или SKU.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9636D6-A8AC-486D-ACE9-A396C38A1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FR-12 Замена после предпросмотра.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6C94B0-FD60-4D9F-86CF-BB70DBF64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909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FR-13 Повторная проверка всех изменений.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BB4FBE-5D14-41D5-AB32-CD03B03EA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386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FR-14 Изображения по шаблонам.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CAFB75-3551-4935-B3D2-A6DCE746F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863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FR-15 Название, описание и характеристики.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A7083E-9B00-4C66-9F81-942B73A9C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FR-16 Обязательные атрибуты Ozon.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0AD5AB-E2C0-4C0E-9104-8A4CF1806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FR-17 Создание и обновление через API.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CC0040-A411-4D58-86EC-B2BB268FC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43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FR-18 ID операции, ответ и итоговый статус.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824B69-64A1-4D82-A0B5-5A7DDEA8A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909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FR-19 Очередь повторной отправки.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DE6C7E-4650-4190-BD78-51AC28CDE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386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FR-20 История версий и действий.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F6238A-2E0F-44D6-8DE7-B36789223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6863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FR-21 Уведомления об ошибках.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FAA611-03F2-47FA-8E0B-EA3A10066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3340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FR-22 Поиск и фильтрация.</a:t>
            </a:r>
          </a:p>
        </p:txBody>
      </p:sp>
    </p:spTree>
    <p:extLst>
      <p:ext uri="{BB962C8B-B14F-4D97-AF65-F5344CB8AC3E}">
        <p14:creationId xmlns:p14="http://schemas.microsoft.com/office/powerpoint/2010/main" val="188385367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E98615-A7F0-43E5-9464-135D8AEED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Нефункциональные требования NFR-01–NFR-05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EC928D-CF6D-465F-A3B2-07AD2417E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Скорость и доступность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EB274C-F4CA-4500-9BC4-806B0CD0B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38112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Восстановление и канал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99B955-6B96-4995-9296-CB9EC0BE2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NFR-01 95% запросов до 2 с, 50 пользователей.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0A0C70-8003-4143-854A-E2833641E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NFR-02 Замена и проверка 1000 модельных рядов до 5 мин.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AAEA2F-C100-44DF-B24B-F34F12F85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909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NFR-03 Доступность за месяц не ниже 99,5%.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4DCA2D-2EE2-45BD-885C-4F2EB9E82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NFR-04 Копии ежедневно. RPO 24 ч, RTO 4 ч.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CD82CE-2A2F-44C1-96F0-8DE47BB71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43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NFR-05 TLS 1.2 или новее.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393378-AFF7-4375-8A0F-E99709431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909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Пороговые значения требуют испытаний.</a:t>
            </a:r>
          </a:p>
        </p:txBody>
      </p:sp>
    </p:spTree>
    <p:extLst>
      <p:ext uri="{BB962C8B-B14F-4D97-AF65-F5344CB8AC3E}">
        <p14:creationId xmlns:p14="http://schemas.microsoft.com/office/powerpoint/2010/main" val="149196789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409D8D-A165-44F2-838F-F89AE5B27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Нефункциональные требования NFR-06–NFR-12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6DB4F8-C1E1-4B5E-82A3-7EC7F2223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Защита и совместимость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E1E00F-9404-4C14-BEB2-1558C9CC4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38112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Интеграции и целостность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664A52-CD35-4238-A9B1-125B92542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NFR-06 Argon2id и уникальная соль.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20DFB2-4475-491F-941B-B32CD4B17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NFR-07 RBAC на сервере.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C81202-9EAD-4A0E-910F-FFA3FD0DB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909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NFR-08 Аудит хранится не менее года.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72D7A7-5EBA-4109-AEBC-8A78D2519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386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NFR-09 Две версии Chrome, Edge, Firefox.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05FAE6-E947-41A1-A8E5-0045CA581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863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Ширина интерфейса от 1280 пикселей.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B92CA7-91B4-43BE-9F04-053A75B74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NFR-10 До трёх повторов без дубликатов.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6A1D9C-9A4B-4A97-BED7-B95200B36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43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Неизвестный результат сначала сверяется.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61D7DF-EE7C-4049-83F0-D473A73A5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909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NFR-11 READY только при корректных данных.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8468C9-04E6-4605-B7E3-74B2A40F5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386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NFR-12 Правила меняются без правки кода.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4240CC-EC05-45EC-B614-C9BE2562E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6863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Требования служат критериями приёмки.</a:t>
            </a:r>
          </a:p>
        </p:txBody>
      </p:sp>
    </p:spTree>
    <p:extLst>
      <p:ext uri="{BB962C8B-B14F-4D97-AF65-F5344CB8AC3E}">
        <p14:creationId xmlns:p14="http://schemas.microsoft.com/office/powerpoint/2010/main" val="204783043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663DAE-2197-4B97-BF50-4A2F9436E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Сравнение программных аналогов</a:t>
            </a:r>
          </a:p>
        </p:txBody>
      </p:sp>
      <p:graphicFrame>
        <p:nvGraphicFramePr>
          <p:cNvPr id="4" name="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11049000" cy="4667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1476375"/>
                <a:gridCol w="1476375"/>
                <a:gridCol w="1619250"/>
                <a:gridCol w="1619250"/>
                <a:gridCol w="1524000"/>
              </a:tblGrid>
              <a:tr h="424295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Критерий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Ozon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1С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Pimcore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Akeneo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ИС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</a:tr>
              <a:tr h="424295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Модельный ряд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24295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Совместимость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24295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Поставщики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24295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Динамические цены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24295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Массовая замена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24295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Контент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24295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Публикация Ozon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24295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Аудит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24295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Расширяемость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24295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Средняя оценка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2,1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3,7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3,7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3,1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5,0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481967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332663-A9E0-4349-BB93-FCA3AC8C7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Средняя экспертная оценка аналогов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mlns:a="http://schemas.openxmlformats.org/drawingml/2006/main" x="857250" y="1381125"/>
          <a:ext xmlns:a="http://schemas.openxmlformats.org/drawingml/2006/main" cx="10477500" cy="4143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e6efddff5704885"/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512712-9025-4A44-837A-47D78E8A0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95312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Девять критериев, равные веса. Оценка целевой ИС — проектная.</a:t>
            </a:r>
          </a:p>
        </p:txBody>
      </p:sp>
    </p:spTree>
    <p:extLst>
      <p:ext uri="{BB962C8B-B14F-4D97-AF65-F5344CB8AC3E}">
        <p14:creationId xmlns:p14="http://schemas.microsoft.com/office/powerpoint/2010/main" val="163476228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1E781F-CE9B-4509-9CB9-BBCAD68E8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Результаты практики 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AA62C7-EDAE-4682-B5FE-E400C2079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Построены контекст и декомпозиция IDEF0 AS IS.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FD1CC9-B028-49D9-A20B-B8663DE95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908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BPMN показывает четыре роли, переписку и повторное заполнение Ozon.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387C25-17E8-4097-81F7-802ED91F5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576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Выявлены шесть проблем текущего процесса.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D318EE-1FF2-4DDC-BCB7-E2C005674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244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Сформулированы FR-01–FR-22 и NFR-01–NFR-12.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DC777A-2954-4807-BC1A-E82CF69A5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912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Определена потребность в единой версионированной системе.</a:t>
            </a:r>
          </a:p>
        </p:txBody>
      </p:sp>
    </p:spTree>
    <p:extLst>
      <p:ext uri="{BB962C8B-B14F-4D97-AF65-F5344CB8AC3E}">
        <p14:creationId xmlns:p14="http://schemas.microsoft.com/office/powerpoint/2010/main" val="94661905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AC517C-AD80-4CE6-8331-4FE044CD8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Источники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E0B401-972B-4BAF-81BB-132ED94C6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Методические материалы РОП, практическое занятие 1.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A95B91-C6E3-4A40-9D9C-748F7F775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908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OMG Business Process Model and Notation 2.0.2.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781859-EA9C-4E8F-B3B2-C51DC3B99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576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Документация Ozon Seller API.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22E37B-C658-41A8-8182-228ACCBE6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244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Единый отчёт по практическим занятиям 1–8.</a:t>
            </a:r>
          </a:p>
        </p:txBody>
      </p:sp>
    </p:spTree>
    <p:extLst>
      <p:ext uri="{BB962C8B-B14F-4D97-AF65-F5344CB8AC3E}">
        <p14:creationId xmlns:p14="http://schemas.microsoft.com/office/powerpoint/2010/main" val="10472734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2026-10-05T02:43:06.1680000Z</dcterms:created>
  <dcterms:modified xsi:type="dcterms:W3CDTF">2026-10-05T02:43:06.1680000Z</dcterms:modified>
</coreProperties>
</file>