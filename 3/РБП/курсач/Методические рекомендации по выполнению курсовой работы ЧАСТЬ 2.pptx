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97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89" r:id="rId13"/>
    <p:sldId id="271" r:id="rId14"/>
    <p:sldId id="290" r:id="rId15"/>
    <p:sldId id="272" r:id="rId16"/>
    <p:sldId id="274" r:id="rId17"/>
    <p:sldId id="291" r:id="rId18"/>
    <p:sldId id="275" r:id="rId19"/>
    <p:sldId id="276" r:id="rId20"/>
    <p:sldId id="277" r:id="rId21"/>
    <p:sldId id="292" r:id="rId22"/>
    <p:sldId id="280" r:id="rId23"/>
    <p:sldId id="282" r:id="rId24"/>
    <p:sldId id="293" r:id="rId25"/>
    <p:sldId id="296" r:id="rId26"/>
    <p:sldId id="285" r:id="rId27"/>
    <p:sldId id="294" r:id="rId28"/>
    <p:sldId id="29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81656-8484-4047-B468-B6EB4846A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Методические рекомендации по выполнению курсовой работы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EF70C4-DA63-47D8-9A92-6455313E7F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Дисциплина «Реинжиниринг бизнес-процессов»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AE026B8-C864-6C7E-F3C0-2C4C156E8FE7}"/>
              </a:ext>
            </a:extLst>
          </p:cNvPr>
          <p:cNvSpPr txBox="1">
            <a:spLocks/>
          </p:cNvSpPr>
          <p:nvPr/>
        </p:nvSpPr>
        <p:spPr>
          <a:xfrm>
            <a:off x="1507067" y="5515648"/>
            <a:ext cx="7766936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</a:t>
            </a:r>
          </a:p>
        </p:txBody>
      </p:sp>
      <p:pic>
        <p:nvPicPr>
          <p:cNvPr id="5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DDC07571-7B10-3161-726F-B40533D8A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900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6F80E-DFF0-46B6-8D02-87732916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7813"/>
            <a:ext cx="9682907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1. Цель и задачи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DA1F73-C350-4606-A483-AFC93012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1815"/>
            <a:ext cx="9176880" cy="3880773"/>
          </a:xfrm>
        </p:spPr>
        <p:txBody>
          <a:bodyPr>
            <a:noAutofit/>
          </a:bodyPr>
          <a:lstStyle/>
          <a:p>
            <a:r>
              <a:rPr lang="ru-RU" sz="2200" b="0" i="1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Целью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курсовой работы по дисциплине «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 бизнес-процессов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» является </a:t>
            </a: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формирование предложений по </a:t>
            </a: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реинжинирингу</a:t>
            </a: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исследуемого бизнес-процесса (БП) организации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r>
              <a:rPr lang="ru-RU" sz="2200" i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З</a:t>
            </a:r>
            <a:r>
              <a:rPr lang="ru-RU" sz="2200" b="0" i="1" u="sng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адачи: </a:t>
            </a:r>
          </a:p>
          <a:p>
            <a:pPr marL="0" indent="0">
              <a:buNone/>
            </a:pP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Дать характеристику организации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наименование организации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Построить модель бизнес-процесса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наименование процесса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Провести анализ бизнес-процесса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наименование процесса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4. Предложить изменения в модели бизнес-процесса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наименование процесса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курсовой работы отражаются студентом во ВВЕДЕНИИ дословно, как это указано в методических указаниях, с учетом формулировки наименования исследуемого бизнес-процесса.</a:t>
            </a:r>
          </a:p>
          <a:p>
            <a:pPr marL="0" indent="0">
              <a:buNone/>
            </a:pPr>
            <a:endParaRPr lang="ru-RU" sz="2200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EDE120BE-1967-F9C2-6C61-765305712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4540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6F80E-DFF0-46B6-8D02-87732916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7813"/>
            <a:ext cx="9682907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2. Типовая структура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DA1F73-C350-4606-A483-AFC93012D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9" y="828213"/>
            <a:ext cx="8596668" cy="3880773"/>
          </a:xfrm>
        </p:spPr>
        <p:txBody>
          <a:bodyPr>
            <a:noAutofit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Титульный лист курсовой работы (</a:t>
            </a:r>
            <a:r>
              <a:rPr lang="ru-RU" sz="22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будет отсканирован и выдан преподавателем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Бланк задания на курсовую работу (</a:t>
            </a:r>
            <a:r>
              <a:rPr lang="ru-RU" sz="22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будет отсканирован и выдан преподавателем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Содержание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Введение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Исследование предметной области бизнес-процесса.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Моделирование бизнес-процесса.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А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нализ бизнес-процесса.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4.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 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бизнес-процесса.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Заключение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Список использованной литературы и источников </a:t>
            </a:r>
          </a:p>
          <a:p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Приложение или Приложения</a:t>
            </a: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EDE120BE-1967-F9C2-6C61-765305712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3500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3B509-0A6D-4F5F-93EF-D322E0625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30" y="123407"/>
            <a:ext cx="9381066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3.1 Пример формулировки основных глав и пунктов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0667D-9FA9-4523-8677-0ACA446D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026" y="1327212"/>
            <a:ext cx="8596668" cy="4870139"/>
          </a:xfrm>
        </p:spPr>
        <p:txBody>
          <a:bodyPr>
            <a:normAutofit fontScale="25000" lnSpcReduction="20000"/>
          </a:bodyPr>
          <a:lstStyle/>
          <a:p>
            <a:pPr algn="l"/>
            <a:endParaRPr lang="ru-RU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Например тема КР: Реинжиниринг бизнес-процесса «Учет товаров» в торговой организации ООО «Одежда для всех»</a:t>
            </a:r>
          </a:p>
          <a:p>
            <a:pPr marL="0" indent="0">
              <a:buNone/>
            </a:pPr>
            <a:endParaRPr lang="ru-RU" sz="8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 ИССЛЕДОВАНИЕ ПРЕДМЕТНОЙ ОБЛАСТИ БИЗНЕС-ПРОЦЕССА </a:t>
            </a:r>
            <a:r>
              <a:rPr lang="ru-RU" sz="8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«</a:t>
            </a:r>
            <a:r>
              <a:rPr lang="ru-RU" sz="880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УЧЕТ ТОВАРОВ</a:t>
            </a:r>
            <a:r>
              <a:rPr lang="ru-RU" sz="8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» </a:t>
            </a:r>
          </a:p>
          <a:p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1.1 Краткая характеристика </a:t>
            </a:r>
            <a:r>
              <a:rPr lang="ru-RU" sz="8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торговой организации ООО «Одежда для всех» </a:t>
            </a:r>
          </a:p>
          <a:p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1.2 Общее описание бизнес-процесса </a:t>
            </a:r>
            <a:r>
              <a:rPr lang="ru-RU" sz="8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«Учет товаров» в торговых организациях </a:t>
            </a:r>
          </a:p>
          <a:p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lang="ru-RU" sz="8800" dirty="0">
                <a:solidFill>
                  <a:srgbClr val="000000"/>
                </a:solidFill>
                <a:latin typeface="Times New Roman" panose="02020603050405020304" pitchFamily="18" charset="0"/>
              </a:rPr>
              <a:t>МОДЕЛИРОВАНИЕ 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БИЗНЕС-ПРОЦЕССА </a:t>
            </a:r>
            <a:r>
              <a:rPr lang="ru-RU" sz="8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«УЧЕТ ТОВАРОВ» </a:t>
            </a:r>
          </a:p>
          <a:p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2.1 Структура бизнес-процесса </a:t>
            </a:r>
            <a:r>
              <a:rPr lang="ru-RU" sz="8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«Учет товаров» </a:t>
            </a:r>
          </a:p>
          <a:p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2.2 </a:t>
            </a:r>
            <a:r>
              <a:rPr lang="ru-RU" sz="8800" dirty="0">
                <a:solidFill>
                  <a:srgbClr val="000000"/>
                </a:solidFill>
                <a:latin typeface="Times New Roman" panose="02020603050405020304" pitchFamily="18" charset="0"/>
              </a:rPr>
              <a:t>Модель 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бизнес-процесса </a:t>
            </a:r>
            <a:r>
              <a:rPr lang="ru-RU" sz="88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«Учет товаров» 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("</a:t>
            </a:r>
            <a:r>
              <a:rPr lang="en-US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as is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")</a:t>
            </a:r>
            <a:endParaRPr lang="ru-RU" sz="8800" b="0" i="0" u="none" strike="noStrike" baseline="0" dirty="0">
              <a:latin typeface="Times New Roman" panose="02020603050405020304" pitchFamily="18" charset="0"/>
            </a:endParaRPr>
          </a:p>
          <a:p>
            <a:endParaRPr lang="ru-RU" sz="1800" b="0" i="0" u="none" strike="noStrike" baseline="0" dirty="0">
              <a:latin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DEBEEA36-6D4C-8154-9E4A-35D83BDEC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246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3B509-0A6D-4F5F-93EF-D322E0625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30" y="196401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3.2 Пример формулировки основных глав и пунктов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0667D-9FA9-4523-8677-0ACA446D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26" y="1488613"/>
            <a:ext cx="8596668" cy="3880773"/>
          </a:xfrm>
        </p:spPr>
        <p:txBody>
          <a:bodyPr>
            <a:normAutofit fontScale="25000" lnSpcReduction="20000"/>
          </a:bodyPr>
          <a:lstStyle/>
          <a:p>
            <a:pPr algn="l"/>
            <a:endParaRPr lang="ru-RU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3 </a:t>
            </a:r>
            <a:r>
              <a:rPr lang="ru-RU" sz="8800" dirty="0">
                <a:latin typeface="Times New Roman" panose="02020603050405020304" pitchFamily="18" charset="0"/>
              </a:rPr>
              <a:t>АНАЛИЗ</a:t>
            </a:r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 БИЗНЕС-ПРОЦЕССА </a:t>
            </a:r>
            <a:r>
              <a:rPr lang="ru-RU" sz="8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</a:rPr>
              <a:t>«УЧЕТ ТОВАРОВ» </a:t>
            </a:r>
          </a:p>
          <a:p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3.1 </a:t>
            </a:r>
            <a:r>
              <a:rPr lang="ru-RU" sz="8800" dirty="0">
                <a:latin typeface="Times New Roman" panose="02020603050405020304" pitchFamily="18" charset="0"/>
              </a:rPr>
              <a:t>Анализ проблем </a:t>
            </a:r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бизнес-процесса </a:t>
            </a:r>
            <a:r>
              <a:rPr lang="ru-RU" sz="8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</a:rPr>
              <a:t>«Учет товаров» 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("</a:t>
            </a:r>
            <a:r>
              <a:rPr lang="en-US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as is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")</a:t>
            </a:r>
            <a:endParaRPr lang="ru-RU" sz="8800" b="0" i="0" u="none" strike="noStrike" baseline="0" dirty="0">
              <a:latin typeface="Times New Roman" panose="02020603050405020304" pitchFamily="18" charset="0"/>
            </a:endParaRPr>
          </a:p>
          <a:p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3.2 </a:t>
            </a:r>
            <a:r>
              <a:rPr lang="ru-RU" sz="8800" dirty="0">
                <a:latin typeface="Times New Roman" panose="02020603050405020304" pitchFamily="18" charset="0"/>
              </a:rPr>
              <a:t>Оценка стоимости выполнения</a:t>
            </a:r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 бизнес-процесса </a:t>
            </a:r>
            <a:r>
              <a:rPr lang="ru-RU" sz="8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</a:rPr>
              <a:t>«Учет товаров»</a:t>
            </a:r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("</a:t>
            </a:r>
            <a:r>
              <a:rPr lang="en-US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as is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")</a:t>
            </a:r>
            <a:endParaRPr lang="ru-RU" sz="8800" b="0" i="0" u="none" strike="noStrike" baseline="0" dirty="0">
              <a:latin typeface="Times New Roman" panose="02020603050405020304" pitchFamily="18" charset="0"/>
            </a:endParaRPr>
          </a:p>
          <a:p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4 РЕИНЖИНИРИНГ БИЗНЕС-ПРОЦЕССА </a:t>
            </a:r>
            <a:r>
              <a:rPr lang="ru-RU" sz="8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</a:rPr>
              <a:t>«УЧЕТ ТОВАРОВ» </a:t>
            </a:r>
          </a:p>
          <a:p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4.1 Модель бизнес-процесса </a:t>
            </a:r>
            <a:r>
              <a:rPr lang="ru-RU" sz="8800" dirty="0">
                <a:highlight>
                  <a:srgbClr val="00FFFF"/>
                </a:highlight>
                <a:latin typeface="Times New Roman" panose="02020603050405020304" pitchFamily="18" charset="0"/>
              </a:rPr>
              <a:t>«</a:t>
            </a:r>
            <a:r>
              <a:rPr lang="ru-RU" sz="8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</a:rPr>
              <a:t>Учет товаров» 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("</a:t>
            </a:r>
            <a:r>
              <a:rPr lang="en-US" sz="8800" dirty="0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be</a:t>
            </a:r>
            <a:r>
              <a:rPr lang="ru-RU" sz="8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")</a:t>
            </a:r>
            <a:endParaRPr lang="ru-RU" sz="8800" b="0" i="0" u="none" strike="noStrike" baseline="0" dirty="0">
              <a:latin typeface="Times New Roman" panose="02020603050405020304" pitchFamily="18" charset="0"/>
            </a:endParaRPr>
          </a:p>
          <a:p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4.2 Оценка изменени</a:t>
            </a:r>
            <a:r>
              <a:rPr lang="ru-RU" sz="8800" dirty="0">
                <a:latin typeface="Times New Roman" panose="02020603050405020304" pitchFamily="18" charset="0"/>
              </a:rPr>
              <a:t>я</a:t>
            </a:r>
            <a:r>
              <a:rPr lang="ru-RU" sz="8800" b="0" i="0" u="none" strike="noStrike" baseline="0" dirty="0">
                <a:latin typeface="Times New Roman" panose="02020603050405020304" pitchFamily="18" charset="0"/>
              </a:rPr>
              <a:t> характеристик бизнес-процесса </a:t>
            </a:r>
            <a:r>
              <a:rPr lang="ru-RU" sz="8800" dirty="0">
                <a:highlight>
                  <a:srgbClr val="00FFFF"/>
                </a:highlight>
                <a:latin typeface="Times New Roman" panose="02020603050405020304" pitchFamily="18" charset="0"/>
              </a:rPr>
              <a:t>«</a:t>
            </a:r>
            <a:r>
              <a:rPr lang="ru-RU" sz="8800" b="0" i="0" u="none" strike="noStrike" baseline="0" dirty="0">
                <a:highlight>
                  <a:srgbClr val="00FFFF"/>
                </a:highlight>
                <a:latin typeface="Times New Roman" panose="02020603050405020304" pitchFamily="18" charset="0"/>
              </a:rPr>
              <a:t>Учет товаров» </a:t>
            </a:r>
            <a:endParaRPr lang="en-US" sz="8800" b="0" i="0" u="none" strike="noStrike" baseline="0" dirty="0">
              <a:highlight>
                <a:srgbClr val="00FFFF"/>
              </a:highlight>
              <a:latin typeface="Times New Roman" panose="02020603050405020304" pitchFamily="18" charset="0"/>
            </a:endParaRPr>
          </a:p>
          <a:p>
            <a:r>
              <a:rPr lang="en-US" sz="8800" dirty="0">
                <a:latin typeface="Times New Roman" panose="02020603050405020304" pitchFamily="18" charset="0"/>
              </a:rPr>
              <a:t>4</a:t>
            </a:r>
            <a:r>
              <a:rPr lang="ru-RU" sz="8800" dirty="0">
                <a:latin typeface="Times New Roman" panose="02020603050405020304" pitchFamily="18" charset="0"/>
              </a:rPr>
              <a:t>.3 Реализация бизнес-процесса в ПО </a:t>
            </a:r>
            <a:r>
              <a:rPr lang="ru-RU" sz="8800" dirty="0" err="1">
                <a:latin typeface="Times New Roman" panose="02020603050405020304" pitchFamily="18" charset="0"/>
              </a:rPr>
              <a:t>BPMSoft</a:t>
            </a:r>
            <a:endParaRPr lang="ru-RU" sz="8800" dirty="0">
              <a:latin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43454F9A-AC78-EC93-6304-80EBEB2CB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65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255E4-BC24-4DC8-90E2-7706EF24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30" y="280496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4. Содержание курсовой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2512D9-5005-49B3-A38C-5B4177867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46" y="1192923"/>
            <a:ext cx="8596668" cy="3880773"/>
          </a:xfrm>
        </p:spPr>
        <p:txBody>
          <a:bodyPr>
            <a:normAutofit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Во Введении курсовой работы указывается: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тема курсовой работы;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объект и предмет исследования;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цель и задачи курсовой работы.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Предварительно определяется актуальность вопроса анализа и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реинжиниринга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бизнес-процесса для рассматриваемой предметной области исследования.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Общий объем Введения должен составлять 1-1,5 страницы. </a:t>
            </a:r>
            <a:endParaRPr lang="ru-RU" sz="2200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6B59D165-131D-37AE-A1EA-980323481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616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887" y="245615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5. Содержание курсовой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680" y="1349617"/>
            <a:ext cx="8596668" cy="3880773"/>
          </a:xfrm>
        </p:spPr>
        <p:txBody>
          <a:bodyPr>
            <a:normAutofit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В Заключении курсовой работы дается описание достигнутых результатов: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что рассмотрено;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какие проблемы выявлены;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какие методы и инструменты использованы;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как устранены проблемы и к какому результату это привело.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Объем Заключения должен составлять 1 страницу </a:t>
            </a:r>
            <a:endParaRPr lang="ru-RU" sz="2200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06BBBB01-0A7E-204A-19D7-A9D6ECE05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4484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08" y="254493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6. Список использованной литературы и источников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212" y="1509205"/>
            <a:ext cx="8596668" cy="4935984"/>
          </a:xfrm>
        </p:spPr>
        <p:txBody>
          <a:bodyPr>
            <a:normAutofit lnSpcReduction="10000"/>
          </a:bodyPr>
          <a:lstStyle/>
          <a:p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С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тудентам рекомендуется использовать печатные и электронные издания по предметной области исследования (</a:t>
            </a:r>
            <a:r>
              <a:rPr lang="ru-RU" sz="22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а не только по вопросам моделирования БП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для того, чтобы изучить теоретические аспекты, связанные с деятельностью объекта исследования и сущностью исследуемого бизнес-процесса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Количество литературы и источников не ограничивается, в тоже время 5-7 источников для курсовой работы является наиболее целесообразным </a:t>
            </a:r>
          </a:p>
          <a:p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Список использованной литературы и источников оформляется в соответствии с ГОСТ 7.32 — 2017 Система стандартов по информации, библиотечному и издательскому делу. Отчет о научно-исследовательской работе. Структура и правила и оформления. Примеры оформления источников указаны в методических указаниях по оформлению учебных работ студентов</a:t>
            </a:r>
          </a:p>
          <a:p>
            <a:endParaRPr lang="ru-RU" sz="2200" dirty="0"/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F530BB0E-026A-1228-D33C-7CC9FCE3B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0758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30" y="311496"/>
            <a:ext cx="8504687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7.1 Содержание курсовой работы. Первый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«Исследование предметной области бизнес-процесса» должен включать в себя пункты: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</a:rPr>
              <a:t>1.1 Краткая характеристика деятельности организации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</a:rPr>
              <a:t>1.2 Общее описание бизнес-процесса </a:t>
            </a:r>
          </a:p>
          <a:p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9B8814FC-DA5D-E66D-73F4-BF8658017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8589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30" y="100716"/>
            <a:ext cx="9478720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7.2 Содержание курсовой работы. Первый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089" y="1204718"/>
            <a:ext cx="9126625" cy="5426670"/>
          </a:xfrm>
        </p:spPr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Пункт 1.1 первого раздела должен обязательно содержать:</a:t>
            </a:r>
          </a:p>
          <a:p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полное и краткое (если есть) наименование организации; </a:t>
            </a:r>
          </a:p>
          <a:p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организационно-правовая форма; </a:t>
            </a:r>
          </a:p>
          <a:p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организации; </a:t>
            </a:r>
          </a:p>
          <a:p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 создания организации; </a:t>
            </a:r>
          </a:p>
          <a:p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официальный адрес местонахождения и ссылка на официальной сайт организации; </a:t>
            </a:r>
          </a:p>
          <a:p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вид экономической деятельности организации по ОКВЭД-2; </a:t>
            </a:r>
          </a:p>
          <a:p>
            <a:r>
              <a:rPr lang="ru-RU" sz="3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ополнительные виды экономической деятельности по ОКВЭД-2;</a:t>
            </a:r>
          </a:p>
          <a:p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сущность основной деятельности организации; </a:t>
            </a:r>
          </a:p>
          <a:p>
            <a:r>
              <a:rPr lang="ru-RU" sz="3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организационная модель;</a:t>
            </a:r>
          </a:p>
          <a:p>
            <a:r>
              <a:rPr lang="en-US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SWOT-</a:t>
            </a:r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(</a:t>
            </a:r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сильные и слабые стороны организации, возможности и угрозы).</a:t>
            </a:r>
            <a:endParaRPr lang="ru-RU" sz="3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описании организации указывается, чем занимается организация, на каких потребителей сориентирована, кто выступает в качестве поставщиков, какие показатели деятельности за последние несколько лет. Какие функции выполняют отделы и</a:t>
            </a:r>
            <a:r>
              <a:rPr lang="en-US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31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 специалисты, указанные в организационной модели. Наименовании должностей должно соответствовать действующим в РФ классификаторам.</a:t>
            </a: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FFB73C63-1F79-06C9-1072-3D393E3EE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470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729" y="227860"/>
            <a:ext cx="9398822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7.3 Содержание курсовой работы. Первый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90" y="1486516"/>
            <a:ext cx="9070348" cy="473673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Пункт 1.2 первого раздела должен содержать: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общее описание сущности исследуемого процесса;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модели и положения, относящиеся к бизнес-процессу;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 бизнес-процесса, документы с которыми они работают, включая документы управленческого характера;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информационных и/или материальных потоков, задействованных в процессе;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внешних поставщиков и/или потребителей, если они задействованы в бизнес-процессе. </a:t>
            </a:r>
          </a:p>
          <a:p>
            <a:pPr marL="0" indent="0">
              <a:buNone/>
            </a:pPr>
            <a:r>
              <a:rPr lang="ru-RU" sz="22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пункт базируется исключительно на теоретическом материале по исследуемому вопросу и носит теоретический характер без привязки к объекту исследования </a:t>
            </a: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F952C369-810D-B1A4-34B3-84AD44BA0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379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290" y="88900"/>
            <a:ext cx="11298644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7.4 Содержание курсовой работы. Первый раздел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59FFD66-95C4-4566-B368-BC55D8DE3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95325"/>
            <a:ext cx="7803472" cy="2804373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CB0ED4-39CC-418B-9BB2-905A1678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92" y="3173713"/>
            <a:ext cx="7220505" cy="36842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D48E26-E68C-4245-B236-EA864ED01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26" y="3422341"/>
            <a:ext cx="4478594" cy="3302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1C9BDD-4EDE-4320-87BB-3D45F2984708}"/>
              </a:ext>
            </a:extLst>
          </p:cNvPr>
          <p:cNvSpPr txBox="1"/>
          <p:nvPr/>
        </p:nvSpPr>
        <p:spPr>
          <a:xfrm>
            <a:off x="8103424" y="1409700"/>
            <a:ext cx="3553286" cy="1200329"/>
          </a:xfrm>
          <a:prstGeom prst="rect">
            <a:avLst/>
          </a:prstGeom>
          <a:noFill/>
          <a:ln w="38100" cmpd="dbl">
            <a:solidFill>
              <a:srgbClr val="FF0000">
                <a:alpha val="59000"/>
              </a:srgbClr>
            </a:solidFill>
            <a:prstDash val="lgDash"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Общий объем первого раздела курсовой работы </a:t>
            </a:r>
          </a:p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без учета рисунков и таблиц </a:t>
            </a:r>
          </a:p>
          <a:p>
            <a:pPr marL="0" indent="0">
              <a:buNone/>
            </a:pP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должен составлять 5-7 страниц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4898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6" y="210207"/>
            <a:ext cx="11569554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7.5 Содержание курсовой работы. Первый раздел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77C8B57-A4DA-475E-ACEC-C65C7563FF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5434" y="860898"/>
            <a:ext cx="7125504" cy="5997102"/>
          </a:xfrm>
        </p:spPr>
      </p:pic>
      <p:pic>
        <p:nvPicPr>
          <p:cNvPr id="3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10D7098B-3C7D-4173-7487-9422A6F25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865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11449563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7.6 Содержание курсовой работы. Первый раздел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D19FE5-83F8-405E-BD3B-A25A3F698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30" y="766568"/>
            <a:ext cx="8704197" cy="6091432"/>
          </a:xfrm>
          <a:prstGeom prst="rect">
            <a:avLst/>
          </a:prstGeom>
        </p:spPr>
      </p:pic>
      <p:pic>
        <p:nvPicPr>
          <p:cNvPr id="3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C8B68553-91A7-AEEF-FB1B-BC7ADF5F0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6802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8" y="143135"/>
            <a:ext cx="9336679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8.1 Содержание курсовой работы. Второй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5" y="1463935"/>
            <a:ext cx="9070348" cy="473673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Моделирование 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бизнес-процесса» </a:t>
            </a:r>
          </a:p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Второй раздел должен содержать два пункта: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2.1. Структура бизнес-процесса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2.2. </a:t>
            </a:r>
            <a:r>
              <a:rPr lang="ru-RU" sz="22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Модель </a:t>
            </a: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бизнес-процесса </a:t>
            </a: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В пункте «Структура бизнес-процесса» студентом должны быть представлены иерархия исследуемого процесса (нумерованный список) и дерево функций</a:t>
            </a: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732AAD22-73C4-E31E-F3FC-20A219A4B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10917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649" y="141851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8.2 Содержание курсовой работы. Второй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2651"/>
            <a:ext cx="9070348" cy="47367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1. Структура бизнес-процесса.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Важным является точка зрения, с которой описывают БП, так как это накладывает ограничение на применение терминов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3259A7-18C6-4FEF-8DED-7619A8765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848999"/>
            <a:ext cx="7515225" cy="3867150"/>
          </a:xfrm>
          <a:prstGeom prst="rect">
            <a:avLst/>
          </a:prstGeom>
        </p:spPr>
      </p:pic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C8EB8403-3408-F9B0-5A5E-86DF96E7C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6370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30" y="153220"/>
            <a:ext cx="8220602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8.3 Содержание курсовой работы. Второй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70000"/>
            <a:ext cx="9070348" cy="47367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1. Структура бизнес-процесса.</a:t>
            </a: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D84A837-ADD7-48AB-83D7-BB9DA79C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86" y="1751780"/>
            <a:ext cx="7905750" cy="4953000"/>
          </a:xfrm>
          <a:prstGeom prst="rect">
            <a:avLst/>
          </a:prstGeom>
        </p:spPr>
      </p:pic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05E90F05-6780-0DC9-DA27-EE598D339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4085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749" y="77581"/>
            <a:ext cx="7827474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8.4 Содержание курсовой работы. 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Второй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98381"/>
            <a:ext cx="9070348" cy="473673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Структура бизнес-процесса.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ресурсных потоков (входов/выходов) бизнес-процесса &lt;наименование процесса&gt;</a:t>
            </a:r>
          </a:p>
          <a:p>
            <a:pPr marL="0" indent="0">
              <a:buNone/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ресурсных потоков (входов/выходов) подпроцесса &lt;наименование подпроцесса&gt;</a:t>
            </a:r>
          </a:p>
          <a:p>
            <a:pPr marL="0" indent="0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066D1BDB-2092-4A6B-855D-840C6B6E1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679838"/>
              </p:ext>
            </p:extLst>
          </p:nvPr>
        </p:nvGraphicFramePr>
        <p:xfrm>
          <a:off x="74394" y="2600960"/>
          <a:ext cx="11170346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007">
                  <a:extLst>
                    <a:ext uri="{9D8B030D-6E8A-4147-A177-3AD203B41FA5}">
                      <a16:colId xmlns:a16="http://schemas.microsoft.com/office/drawing/2014/main" val="3838405049"/>
                    </a:ext>
                  </a:extLst>
                </a:gridCol>
                <a:gridCol w="2683703">
                  <a:extLst>
                    <a:ext uri="{9D8B030D-6E8A-4147-A177-3AD203B41FA5}">
                      <a16:colId xmlns:a16="http://schemas.microsoft.com/office/drawing/2014/main" val="2785572833"/>
                    </a:ext>
                  </a:extLst>
                </a:gridCol>
                <a:gridCol w="2344709">
                  <a:extLst>
                    <a:ext uri="{9D8B030D-6E8A-4147-A177-3AD203B41FA5}">
                      <a16:colId xmlns:a16="http://schemas.microsoft.com/office/drawing/2014/main" val="2074025007"/>
                    </a:ext>
                  </a:extLst>
                </a:gridCol>
                <a:gridCol w="2363542">
                  <a:extLst>
                    <a:ext uri="{9D8B030D-6E8A-4147-A177-3AD203B41FA5}">
                      <a16:colId xmlns:a16="http://schemas.microsoft.com/office/drawing/2014/main" val="470668846"/>
                    </a:ext>
                  </a:extLst>
                </a:gridCol>
                <a:gridCol w="1817385">
                  <a:extLst>
                    <a:ext uri="{9D8B030D-6E8A-4147-A177-3AD203B41FA5}">
                      <a16:colId xmlns:a16="http://schemas.microsoft.com/office/drawing/2014/main" val="252340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подпроцесса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Преобразуемые ресурсы 	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Преобразованные ресурсы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Обеспечивающие ресурсы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Ресурсы управления 	</a:t>
                      </a:r>
                    </a:p>
                    <a:p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54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2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84578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6B9135B-5B20-4F6C-B154-43AAD1BD3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207144"/>
              </p:ext>
            </p:extLst>
          </p:nvPr>
        </p:nvGraphicFramePr>
        <p:xfrm>
          <a:off x="74394" y="5002223"/>
          <a:ext cx="11170346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007">
                  <a:extLst>
                    <a:ext uri="{9D8B030D-6E8A-4147-A177-3AD203B41FA5}">
                      <a16:colId xmlns:a16="http://schemas.microsoft.com/office/drawing/2014/main" val="3838405049"/>
                    </a:ext>
                  </a:extLst>
                </a:gridCol>
                <a:gridCol w="2683703">
                  <a:extLst>
                    <a:ext uri="{9D8B030D-6E8A-4147-A177-3AD203B41FA5}">
                      <a16:colId xmlns:a16="http://schemas.microsoft.com/office/drawing/2014/main" val="2785572833"/>
                    </a:ext>
                  </a:extLst>
                </a:gridCol>
                <a:gridCol w="2344709">
                  <a:extLst>
                    <a:ext uri="{9D8B030D-6E8A-4147-A177-3AD203B41FA5}">
                      <a16:colId xmlns:a16="http://schemas.microsoft.com/office/drawing/2014/main" val="2074025007"/>
                    </a:ext>
                  </a:extLst>
                </a:gridCol>
                <a:gridCol w="2363542">
                  <a:extLst>
                    <a:ext uri="{9D8B030D-6E8A-4147-A177-3AD203B41FA5}">
                      <a16:colId xmlns:a16="http://schemas.microsoft.com/office/drawing/2014/main" val="470668846"/>
                    </a:ext>
                  </a:extLst>
                </a:gridCol>
                <a:gridCol w="1817385">
                  <a:extLst>
                    <a:ext uri="{9D8B030D-6E8A-4147-A177-3AD203B41FA5}">
                      <a16:colId xmlns:a16="http://schemas.microsoft.com/office/drawing/2014/main" val="252340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(функции)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Преобразуемые ресурсы 	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Преобразованные ресурсы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Обеспечивающие ресурсы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Ресурсы управления 	</a:t>
                      </a:r>
                    </a:p>
                    <a:p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54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2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84578"/>
                  </a:ext>
                </a:extLst>
              </a:tr>
            </a:tbl>
          </a:graphicData>
        </a:graphic>
      </p:graphicFrame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E66AAA05-8666-B064-3921-499CD78DB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1354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628" y="89048"/>
            <a:ext cx="8511054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8.5 Содержание курсовой работы. Второй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3868"/>
            <a:ext cx="9070348" cy="473673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Структура бизнес-процесса.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Характер преобразованного, преобразуемого и обеспечивающего ресурсов может быть информационный, материальный, финансовый. 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И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нформационный ресурс порождает информационный ресурс, а материальный соответственно материальный. Ресурс управления, в свою очередь, является информационным: регламент, инструкция, методика, алгоритм и прочее, в зависимости от исследуемого бизнес-процесса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066D1BDB-2092-4A6B-855D-840C6B6E1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0224"/>
              </p:ext>
            </p:extLst>
          </p:nvPr>
        </p:nvGraphicFramePr>
        <p:xfrm>
          <a:off x="772057" y="2316628"/>
          <a:ext cx="9209339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703">
                  <a:extLst>
                    <a:ext uri="{9D8B030D-6E8A-4147-A177-3AD203B41FA5}">
                      <a16:colId xmlns:a16="http://schemas.microsoft.com/office/drawing/2014/main" val="2785572833"/>
                    </a:ext>
                  </a:extLst>
                </a:gridCol>
                <a:gridCol w="2344709">
                  <a:extLst>
                    <a:ext uri="{9D8B030D-6E8A-4147-A177-3AD203B41FA5}">
                      <a16:colId xmlns:a16="http://schemas.microsoft.com/office/drawing/2014/main" val="2074025007"/>
                    </a:ext>
                  </a:extLst>
                </a:gridCol>
                <a:gridCol w="2363542">
                  <a:extLst>
                    <a:ext uri="{9D8B030D-6E8A-4147-A177-3AD203B41FA5}">
                      <a16:colId xmlns:a16="http://schemas.microsoft.com/office/drawing/2014/main" val="470668846"/>
                    </a:ext>
                  </a:extLst>
                </a:gridCol>
                <a:gridCol w="1817385">
                  <a:extLst>
                    <a:ext uri="{9D8B030D-6E8A-4147-A177-3AD203B41FA5}">
                      <a16:colId xmlns:a16="http://schemas.microsoft.com/office/drawing/2014/main" val="2523406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Преобразуемые ресурсы 	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Преобразованные ресурсы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Обеспечивающие ресурсы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Ресурсы управления 	</a:t>
                      </a:r>
                    </a:p>
                    <a:p>
                      <a:endParaRPr lang="ru-RU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54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2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84578"/>
                  </a:ext>
                </a:extLst>
              </a:tr>
            </a:tbl>
          </a:graphicData>
        </a:graphic>
      </p:graphicFrame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962B801A-E4BD-DECB-5A6A-6E978D5B3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0682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14" y="69651"/>
            <a:ext cx="8596668" cy="119101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8.6 Содержание курсовой работы. Второй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3868"/>
            <a:ext cx="9070348" cy="473673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Структура бизнес-процесса.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 сущности ресурса </a:t>
            </a: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066D1BDB-2092-4A6B-855D-840C6B6E1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19321"/>
              </p:ext>
            </p:extLst>
          </p:nvPr>
        </p:nvGraphicFramePr>
        <p:xfrm>
          <a:off x="121963" y="2738120"/>
          <a:ext cx="464471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007">
                  <a:extLst>
                    <a:ext uri="{9D8B030D-6E8A-4147-A177-3AD203B41FA5}">
                      <a16:colId xmlns:a16="http://schemas.microsoft.com/office/drawing/2014/main" val="3838405049"/>
                    </a:ext>
                  </a:extLst>
                </a:gridCol>
                <a:gridCol w="2683703">
                  <a:extLst>
                    <a:ext uri="{9D8B030D-6E8A-4147-A177-3AD203B41FA5}">
                      <a16:colId xmlns:a16="http://schemas.microsoft.com/office/drawing/2014/main" val="2785572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Ресурс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Краткое описание	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54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2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84578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92DDBE-7E2A-4B5A-B2A0-3DB280775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4011502"/>
            <a:ext cx="7743825" cy="2657475"/>
          </a:xfrm>
          <a:prstGeom prst="rect">
            <a:avLst/>
          </a:prstGeom>
        </p:spPr>
      </p:pic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9FD77796-B150-1689-991F-580D3A04E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9414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74" y="0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8.7 Содержание курсовой работы. Второй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3868"/>
            <a:ext cx="9070348" cy="473673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Структура бизнес-процесса.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Таблица с описанием промежуточных событий, она позволяет обеспечить соответствие между табличным и графическим описанием (моделями) бизнес-процесса независимо от применяемых методологий и нотаций. В тоже время при наименовании инициирующих и завершающих событий необходимо пользоваться правилами наименования событий в методологии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ARIS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554B3526-46A1-4F95-B1F0-71550916E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69897"/>
              </p:ext>
            </p:extLst>
          </p:nvPr>
        </p:nvGraphicFramePr>
        <p:xfrm>
          <a:off x="203654" y="2418080"/>
          <a:ext cx="9070348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449">
                  <a:extLst>
                    <a:ext uri="{9D8B030D-6E8A-4147-A177-3AD203B41FA5}">
                      <a16:colId xmlns:a16="http://schemas.microsoft.com/office/drawing/2014/main" val="3923849010"/>
                    </a:ext>
                  </a:extLst>
                </a:gridCol>
                <a:gridCol w="3458735">
                  <a:extLst>
                    <a:ext uri="{9D8B030D-6E8A-4147-A177-3AD203B41FA5}">
                      <a16:colId xmlns:a16="http://schemas.microsoft.com/office/drawing/2014/main" val="2464837485"/>
                    </a:ext>
                  </a:extLst>
                </a:gridCol>
                <a:gridCol w="2588164">
                  <a:extLst>
                    <a:ext uri="{9D8B030D-6E8A-4147-A177-3AD203B41FA5}">
                      <a16:colId xmlns:a16="http://schemas.microsoft.com/office/drawing/2014/main" val="3420926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подпроцесса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Инициирующее событие </a:t>
                      </a:r>
                      <a:r>
                        <a:rPr lang="ru-RU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Завершающее событие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578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618149"/>
                  </a:ext>
                </a:extLst>
              </a:tr>
            </a:tbl>
          </a:graphicData>
        </a:graphic>
      </p:graphicFrame>
      <p:pic>
        <p:nvPicPr>
          <p:cNvPr id="5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01210F08-7D07-F938-EBFA-B9799E5B7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1513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6B29-D069-4BDF-B57E-59F92AD5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095" y="41428"/>
            <a:ext cx="8433666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8.8 Содержание курсовой работы. Второй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B4875-CA23-4759-B041-4A517BF1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160" y="1116824"/>
            <a:ext cx="9349535" cy="4839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2. Модель </a:t>
            </a: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бизнес-процесса ("</a:t>
            </a:r>
            <a:r>
              <a:rPr lang="en-US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as is"</a:t>
            </a: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)</a:t>
            </a:r>
            <a:endParaRPr lang="ru-RU" sz="2200" dirty="0">
              <a:solidFill>
                <a:srgbClr val="00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пункте «Модель бизнес-процесса» второго раздела курсовой работы необходимо провести моделирование бизнес-процесса в трех нотациях: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IFED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0,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BPMN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eEPC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Модели строятся с учетом правил и принципов применяемых методологий и нотаций, а также с соблюдением правил декомпозиции.</a:t>
            </a:r>
          </a:p>
          <a:p>
            <a:pPr indent="450215" algn="just">
              <a:lnSpc>
                <a:spcPct val="120000"/>
              </a:lnSpc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 в пункте «Модель бизнес-процесса» не просто представить рисунки с моделями, но и дать текстовое описание бизнес-процесса. </a:t>
            </a:r>
          </a:p>
          <a:p>
            <a:pPr indent="450215" algn="just">
              <a:lnSpc>
                <a:spcPct val="120000"/>
              </a:lnSpc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Табличное, графическое и текстовое описание в первом и втором пунктах второго раздела курсовой работы должны быть согласованы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10191A32-084C-EC53-7800-CB26BFC15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353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B39F6-3398-45A2-9513-1AC1B0F8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30" y="103572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9.</a:t>
            </a:r>
            <a:r>
              <a:rPr lang="en-US" dirty="0">
                <a:solidFill>
                  <a:srgbClr val="002060"/>
                </a:solidFill>
              </a:rPr>
              <a:t>1</a:t>
            </a:r>
            <a:r>
              <a:rPr lang="ru-RU" dirty="0">
                <a:solidFill>
                  <a:srgbClr val="002060"/>
                </a:solidFill>
              </a:rPr>
              <a:t> Содержание курсовой работы. Третий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CA544-1145-4114-A25B-C22DA14C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212" y="1326088"/>
            <a:ext cx="9811990" cy="4481949"/>
          </a:xfrm>
        </p:spPr>
        <p:txBody>
          <a:bodyPr>
            <a:normAutofit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А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нализ бизнес-процесса» должен содержать пункты: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3.1 Анализ проблем бизнес-процесса ("as is"). </a:t>
            </a:r>
            <a:endParaRPr lang="en-US" sz="2200" b="0" i="0" u="none" strike="noStrike" baseline="0" dirty="0">
              <a:solidFill>
                <a:srgbClr val="000000"/>
              </a:solidFill>
              <a:highlight>
                <a:srgbClr val="00FFFF"/>
              </a:highlight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3.2 Оценка стоимости выполнения бизнес-процесса. </a:t>
            </a:r>
          </a:p>
          <a:p>
            <a:pPr marL="0" indent="0">
              <a:buNone/>
            </a:pPr>
            <a:endParaRPr lang="ru-RU" sz="2200" dirty="0">
              <a:solidFill>
                <a:srgbClr val="000000"/>
              </a:solidFill>
              <a:effectLst/>
              <a:highlight>
                <a:srgbClr val="00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пункте «Анализ проблем бизнес-процесса» проводится анализ проблем, присутствующих в бизнес-процессе. Для этого может применятся структурный и логический анализ, в частности может быть проведен анализ топологии, анализ разрывов, анализ логических ошибок, анализ семантических ошибок.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тексте курсовой работы в пункте первом третьего раздела необходимо указать какой вид анализа реализуется студентом, описать в чем он заключается</a:t>
            </a: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B8D3A6D1-7D6F-328A-0A25-37CB3A0E9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4798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B39F6-3398-45A2-9513-1AC1B0F8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930" y="85220"/>
            <a:ext cx="8259520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9.</a:t>
            </a:r>
            <a:r>
              <a:rPr lang="en-US" dirty="0">
                <a:solidFill>
                  <a:srgbClr val="002060"/>
                </a:solidFill>
              </a:rPr>
              <a:t>2 </a:t>
            </a:r>
            <a:r>
              <a:rPr lang="ru-RU" dirty="0">
                <a:solidFill>
                  <a:srgbClr val="002060"/>
                </a:solidFill>
              </a:rPr>
              <a:t>Содержание курсовой работы. Третий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CA544-1145-4114-A25B-C22DA14C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704" y="1228573"/>
            <a:ext cx="9223411" cy="5544207"/>
          </a:xfrm>
        </p:spPr>
        <p:txBody>
          <a:bodyPr>
            <a:normAutofit fontScale="92500" lnSpcReduction="10000"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А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нализ бизнес-процесса» должен содержать пункты: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3.1 Анализ проблем бизнес-процесса («as is»). </a:t>
            </a:r>
            <a:endParaRPr lang="en-US" sz="2200" b="0" i="0" u="none" strike="noStrike" baseline="0" dirty="0">
              <a:solidFill>
                <a:srgbClr val="000000"/>
              </a:solidFill>
              <a:highlight>
                <a:srgbClr val="00FFFF"/>
              </a:highlight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3.2 Оценка стоимости выполнения бизнес-процесса. </a:t>
            </a:r>
            <a:endParaRPr lang="ru-RU" sz="2200" dirty="0">
              <a:solidFill>
                <a:srgbClr val="000000"/>
              </a:solidFill>
              <a:effectLst/>
              <a:highlight>
                <a:srgbClr val="00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Во втором пункте проводится функционально-стоимостный анализ бизнес-процесса, для чего рекомендуется построить таблицы, отражающие все обеспечивающие ресурсы, их стоимость, время использования, с целью определения общих затрат на выполнение процесса.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Функционально-стоимостный анализ может быть проведен на основе модели бизнес-процесса, построенного в любой из методологий. В тоже время нужно отметить, что ветвление бизнес-процесса может быть реализовано только при моделировании либо в нотации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BPMN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или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eEPC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, в таком случае рекомендуется оценку времени выполнения бизнес-процесса проводить с учетом вероятности реализации альтернативных ветвей процесса. </a:t>
            </a:r>
          </a:p>
          <a:p>
            <a:pPr marL="0" indent="0">
              <a:buNone/>
            </a:pP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Ставка оплаты труда исполнителя за час, в руб., определяется как средняя по рынку с учетом рассматриваемой должности, региона размещения предприятия.</a:t>
            </a:r>
          </a:p>
          <a:p>
            <a:pPr marL="0" indent="0">
              <a:buNone/>
            </a:pP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Ставку накладных расходов выбираем в пределах </a:t>
            </a:r>
            <a:r>
              <a:rPr lang="ru-RU" sz="2000" i="1">
                <a:solidFill>
                  <a:schemeClr val="tx1"/>
                </a:solidFill>
                <a:latin typeface="Times New Roman" panose="02020603050405020304" pitchFamily="18" charset="0"/>
              </a:rPr>
              <a:t>от 5 </a:t>
            </a: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до 15% и обязательно в таблице указываем какую именно выбрали. Диапазон значений не указываем.</a:t>
            </a: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79089261-3FC3-149C-7971-0C0FFB88A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9625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B39F6-3398-45A2-9513-1AC1B0F8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03" y="124571"/>
            <a:ext cx="11396297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9.3 Содержание курсовой работы. Третий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CA544-1145-4114-A25B-C22DA14C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80" y="725397"/>
            <a:ext cx="9223411" cy="5544207"/>
          </a:xfrm>
        </p:spPr>
        <p:txBody>
          <a:bodyPr>
            <a:normAutofit/>
          </a:bodyPr>
          <a:lstStyle/>
          <a:p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А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нализ бизнес-процесса» должен содержать пункты: 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3.1 Анализ проблем бизнес-процесса («as is»). </a:t>
            </a:r>
            <a:endParaRPr lang="en-US" sz="2200" b="0" i="0" u="none" strike="noStrike" baseline="0" dirty="0">
              <a:solidFill>
                <a:srgbClr val="000000"/>
              </a:solidFill>
              <a:highlight>
                <a:srgbClr val="00FFFF"/>
              </a:highlight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00FFFF"/>
                </a:highlight>
                <a:latin typeface="Times New Roman" panose="02020603050405020304" pitchFamily="18" charset="0"/>
              </a:rPr>
              <a:t>3.2 Оценка стоимости выполнения бизнес-процесса. </a:t>
            </a:r>
            <a:endParaRPr lang="ru-RU" sz="2200" dirty="0">
              <a:solidFill>
                <a:srgbClr val="000000"/>
              </a:solidFill>
              <a:effectLst/>
              <a:highlight>
                <a:srgbClr val="00FFFF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Ставка оплаты труда исполнителя за час, в руб., определяется как средняя по рынку с учетом рассматриваемой должности, региона размещения предприятия.</a:t>
            </a: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79089261-3FC3-149C-7971-0C0FFB88A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D76BB6-1476-400A-BEFA-1D67F2C70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230" y="3429000"/>
            <a:ext cx="68580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07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B39F6-3398-45A2-9513-1AC1B0F8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50" y="0"/>
            <a:ext cx="11209866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10.1 Содержание курсовой работы. 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   Четвертый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CA544-1145-4114-A25B-C22DA14C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98" y="1104002"/>
            <a:ext cx="10330839" cy="564889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бизнес-процесса»</a:t>
            </a:r>
          </a:p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4.1. «Модель бизнес-процесса ("to be")» 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4.2. </a:t>
            </a:r>
            <a:r>
              <a:rPr lang="ru-RU" sz="2200" b="0" i="0" u="none" strike="noStrike" baseline="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«Оценка изменения характеристик бизнес-процесса»</a:t>
            </a:r>
          </a:p>
          <a:p>
            <a:pPr marL="0" indent="0">
              <a:buNone/>
            </a:pPr>
            <a:r>
              <a:rPr lang="ru-RU" sz="2400" dirty="0">
                <a:highlight>
                  <a:srgbClr val="FF00FF"/>
                </a:highlight>
                <a:latin typeface="Times New Roman" panose="02020603050405020304" pitchFamily="18" charset="0"/>
              </a:rPr>
              <a:t>4.3 Реализация бизнес-процесса в ПО </a:t>
            </a:r>
            <a:r>
              <a:rPr lang="ru-RU" sz="2400" dirty="0" err="1">
                <a:highlight>
                  <a:srgbClr val="FF00FF"/>
                </a:highlight>
                <a:latin typeface="Times New Roman" panose="02020603050405020304" pitchFamily="18" charset="0"/>
              </a:rPr>
              <a:t>BPMSoft</a:t>
            </a:r>
            <a:endParaRPr lang="ru-RU" sz="2200" b="0" i="0" u="none" strike="noStrike" baseline="0" dirty="0">
              <a:solidFill>
                <a:srgbClr val="000000"/>
              </a:solidFill>
              <a:highlight>
                <a:srgbClr val="FF00FF"/>
              </a:highlight>
              <a:latin typeface="Times New Roman" panose="02020603050405020304" pitchFamily="18" charset="0"/>
            </a:endParaRPr>
          </a:p>
          <a:p>
            <a:pPr marL="8001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первом пункте данного раздела студент предлагает вариант изменения бизнес-процесса с целью устранения выявленных проблем. При предложении автоматизации технологии сбора, обработки, хранения и передачи информации необходимо четко указать с помощью чего будет реализоваться новый вариант технологии, при этом нужно использовать устоявшиеся классификации информационных систем и технологий, а также учитывать функционал соответствующих информационных систем. </a:t>
            </a:r>
            <a:r>
              <a:rPr lang="ru-RU" sz="20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Предлагаемую к внедрению ИС описать через функции, которые </a:t>
            </a: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20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будет иметь. Внедряемое ИТ-решение должно охватывать весь исследуемый процесс. ИТ-решение должно быть реализуемо в текущих условиях, к рассмотрению не могут предлагаться решения компаний, которые ушли с рынка РФ. 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 есть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редлагаемое ИТ-решение должно содержать в себе наименование ПО, наименование разработчика ПО, класс ИС, функционал ПО (возможны рисунки с отражением функционала). </a:t>
            </a:r>
            <a:endParaRPr lang="ru-RU" sz="2000" i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этом же пункте представляется усовершенствованная модель исследуемого бизнес-процесса, построенная с использованием всех трех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нотаций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IDEF0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eEPC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BPMN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Изменения, вносимые в бизнес-процесс, необходимо выделить цветом или символами.</a:t>
            </a: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8816516D-9F94-1627-E813-C0338F02D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0488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B39F6-3398-45A2-9513-1AC1B0F8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51" y="105104"/>
            <a:ext cx="11209866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10.3 Содержание курсовой работы. 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   Четвертый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CA544-1145-4114-A25B-C22DA14C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65" y="1299764"/>
            <a:ext cx="9097287" cy="4982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</a:t>
            </a:r>
            <a:r>
              <a:rPr lang="ru-RU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бизнес-процесса»</a:t>
            </a:r>
          </a:p>
          <a:p>
            <a:pPr marL="0" indent="0"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4.1. «Модель бизнес-процесса ("to be")»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4.2. </a:t>
            </a:r>
            <a:r>
              <a:rPr lang="ru-RU" sz="2000" b="0" i="0" u="none" strike="noStrike" baseline="0" dirty="0">
                <a:solidFill>
                  <a:srgbClr val="0000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«Оценка изменения характеристик бизнес-процесса»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</a:rPr>
              <a:t>4.3 Реализация бизнес-процесса в ПО </a:t>
            </a:r>
            <a:r>
              <a:rPr lang="ru-RU" sz="2000" dirty="0" err="1">
                <a:latin typeface="Times New Roman" panose="02020603050405020304" pitchFamily="18" charset="0"/>
              </a:rPr>
              <a:t>BPMSoft</a:t>
            </a:r>
            <a:endParaRPr lang="ru-RU" sz="2000" b="0" i="0" u="none" strike="noStrike" baseline="0" dirty="0">
              <a:solidFill>
                <a:srgbClr val="000000"/>
              </a:solidFill>
              <a:highlight>
                <a:srgbClr val="00FFFF"/>
              </a:highlight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Во втором пункте четвертого раздела необходимо оценить изменение характеристик выполнения бизнес-процесса. Для этого вновь проводится структурный и/или логический анализ в соответствии с тем, что было использовано студентом в первом пункте третьей раздела, а также проводится функционально-стоимостный анализ бизнес-процесса 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"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 be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"</a:t>
            </a: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приводится сравнение показателей стоимости выполнения процесса, после чего делаются заключительные предложения по полученным результатам</a:t>
            </a:r>
            <a:endParaRPr lang="ru-RU" sz="2000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6343990F-3B75-5D89-6473-C57EB5C68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7014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B39F6-3398-45A2-9513-1AC1B0F8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51" y="105104"/>
            <a:ext cx="11209866" cy="1320800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   10.4 Содержание курсовой работы. 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   Четвертый раздел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BCA544-1145-4114-A25B-C22DA14C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65" y="1299764"/>
            <a:ext cx="9097287" cy="4982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Реинжиниринг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бизнес-процесса»</a:t>
            </a:r>
          </a:p>
          <a:p>
            <a:pPr marL="0" indent="0">
              <a:buNone/>
            </a:pPr>
            <a:r>
              <a:rPr lang="ru-RU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4.1. «Модель бизнес-процесса ("to be")» 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4.2. 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«Оценка изменения характеристик бизнес-процесса»</a:t>
            </a:r>
          </a:p>
          <a:p>
            <a:pPr marL="0" indent="0">
              <a:buNone/>
            </a:pPr>
            <a:r>
              <a:rPr lang="ru-RU" sz="2000" dirty="0">
                <a:highlight>
                  <a:srgbClr val="FF00FF"/>
                </a:highlight>
                <a:latin typeface="Times New Roman" panose="02020603050405020304" pitchFamily="18" charset="0"/>
              </a:rPr>
              <a:t>4.3 Реализация бизнес-процесса в ПО </a:t>
            </a:r>
            <a:r>
              <a:rPr lang="ru-RU" sz="2000" dirty="0" err="1">
                <a:highlight>
                  <a:srgbClr val="FF00FF"/>
                </a:highlight>
                <a:latin typeface="Times New Roman" panose="02020603050405020304" pitchFamily="18" charset="0"/>
              </a:rPr>
              <a:t>BPMSoft</a:t>
            </a:r>
            <a:endParaRPr lang="ru-RU" sz="2000" b="0" i="0" u="none" strike="noStrike" baseline="0" dirty="0">
              <a:solidFill>
                <a:srgbClr val="000000"/>
              </a:solidFill>
              <a:highlight>
                <a:srgbClr val="FF00FF"/>
              </a:highlight>
              <a:latin typeface="Times New Roman" panose="02020603050405020304" pitchFamily="18" charset="0"/>
            </a:endParaRPr>
          </a:p>
        </p:txBody>
      </p:sp>
      <p:pic>
        <p:nvPicPr>
          <p:cNvPr id="4" name="Picture 2" descr="C:\Users\Julia\AppData\Local\Microsoft\Windows\Temporary Internet Files\Content.Outlook\QJBK2MP0\МТУ вариант эмблемыМИРЭА.jpg">
            <a:extLst>
              <a:ext uri="{FF2B5EF4-FFF2-40B4-BE49-F238E27FC236}">
                <a16:creationId xmlns:a16="http://schemas.microsoft.com/office/drawing/2014/main" id="{6343990F-3B75-5D89-6473-C57EB5C68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7087" t="14432" r="17087" b="32780"/>
          <a:stretch>
            <a:fillRect/>
          </a:stretch>
        </p:blipFill>
        <p:spPr bwMode="auto">
          <a:xfrm>
            <a:off x="0" y="0"/>
            <a:ext cx="1029930" cy="1104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552069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458</TotalTime>
  <Words>1892</Words>
  <Application>Microsoft Office PowerPoint</Application>
  <PresentationFormat>Широкоэкранный</PresentationFormat>
  <Paragraphs>204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Times New Roman</vt:lpstr>
      <vt:lpstr>Trebuchet MS</vt:lpstr>
      <vt:lpstr>Wingdings</vt:lpstr>
      <vt:lpstr>Wingdings 3</vt:lpstr>
      <vt:lpstr>Аспект</vt:lpstr>
      <vt:lpstr>Методические рекомендации по выполнению курсовой работы </vt:lpstr>
      <vt:lpstr>  1. Цель и задачи курсовой работы</vt:lpstr>
      <vt:lpstr>  2. Типовая структура курсовой работы</vt:lpstr>
      <vt:lpstr>  3.1 Пример формулировки основных глав и пунктов</vt:lpstr>
      <vt:lpstr>  3.2 Пример формулировки основных глав и пунктов</vt:lpstr>
      <vt:lpstr>  4. Содержание курсовой работы</vt:lpstr>
      <vt:lpstr>  5. Содержание курсовой работы</vt:lpstr>
      <vt:lpstr>  6. Список использованной литературы и источников </vt:lpstr>
      <vt:lpstr>  7.1 Содержание курсовой работы. Первый раздел</vt:lpstr>
      <vt:lpstr>  7.2 Содержание курсовой работы. Первый раздел</vt:lpstr>
      <vt:lpstr>  7.3 Содержание курсовой работы. Первый раздел</vt:lpstr>
      <vt:lpstr>7.4 Содержание курсовой работы. Первый раздел</vt:lpstr>
      <vt:lpstr>   7.5 Содержание курсовой работы. Первый раздел</vt:lpstr>
      <vt:lpstr>  7.6 Содержание курсовой работы. Первый раздел</vt:lpstr>
      <vt:lpstr>  8.1 Содержание курсовой работы. Второй раздел</vt:lpstr>
      <vt:lpstr>8.2 Содержание курсовой работы. Второй раздел</vt:lpstr>
      <vt:lpstr>8.3 Содержание курсовой работы. Второй раздел</vt:lpstr>
      <vt:lpstr>8.4 Содержание курсовой работы.  Второй раздел</vt:lpstr>
      <vt:lpstr>8.5 Содержание курсовой работы. Второй раздел</vt:lpstr>
      <vt:lpstr>8.6 Содержание курсовой работы. Второй раздел</vt:lpstr>
      <vt:lpstr> 8.7 Содержание курсовой работы. Второй раздел</vt:lpstr>
      <vt:lpstr> 8.8 Содержание курсовой работы. Второй раздел</vt:lpstr>
      <vt:lpstr>  9.1 Содержание курсовой работы. Третий раздел</vt:lpstr>
      <vt:lpstr>9.2 Содержание курсовой работы. Третий раздел</vt:lpstr>
      <vt:lpstr>  9.3 Содержание курсовой работы. Третий раздел</vt:lpstr>
      <vt:lpstr>   10.1 Содержание курсовой работы.     Четвертый раздел</vt:lpstr>
      <vt:lpstr>   10.3 Содержание курсовой работы.     Четвертый раздел</vt:lpstr>
      <vt:lpstr>   10.4 Содержание курсовой работы.     Четвертый раздел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jvk05@mail.ru</dc:creator>
  <cp:lastModifiedBy>Юлия Кириллина</cp:lastModifiedBy>
  <cp:revision>44</cp:revision>
  <dcterms:created xsi:type="dcterms:W3CDTF">2020-09-24T09:00:07Z</dcterms:created>
  <dcterms:modified xsi:type="dcterms:W3CDTF">2026-03-24T05:32:15Z</dcterms:modified>
</cp:coreProperties>
</file>