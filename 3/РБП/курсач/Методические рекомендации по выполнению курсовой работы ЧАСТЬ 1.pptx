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87" r:id="rId4"/>
    <p:sldId id="259" r:id="rId5"/>
    <p:sldId id="299" r:id="rId6"/>
    <p:sldId id="288" r:id="rId7"/>
    <p:sldId id="300" r:id="rId8"/>
    <p:sldId id="301" r:id="rId9"/>
    <p:sldId id="261" r:id="rId10"/>
    <p:sldId id="297" r:id="rId11"/>
    <p:sldId id="262" r:id="rId12"/>
    <p:sldId id="30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jpe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C81656-8484-4047-B468-B6EB4846A9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Методические рекомендации по выполнению курсовой работы. ЧАСТЬ 1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6EF70C4-DA63-47D8-9A92-6455313E7F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2166" y="4493358"/>
            <a:ext cx="9676737" cy="1570739"/>
          </a:xfrm>
        </p:spPr>
        <p:txBody>
          <a:bodyPr>
            <a:normAutofit lnSpcReduction="10000"/>
          </a:bodyPr>
          <a:lstStyle/>
          <a:p>
            <a:pPr algn="ctr"/>
            <a: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Формулировка темы курсовой работы. Выбор бизнес-процесса и  организации.</a:t>
            </a:r>
          </a:p>
          <a:p>
            <a:pPr algn="ctr"/>
            <a:endParaRPr lang="ru-RU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Дисциплина</a:t>
            </a:r>
          </a:p>
          <a:p>
            <a:pPr algn="ctr"/>
            <a: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«Реинжиниринг бизнес-процессов»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1AE026B8-C864-6C7E-F3C0-2C4C156E8FE7}"/>
              </a:ext>
            </a:extLst>
          </p:cNvPr>
          <p:cNvSpPr txBox="1">
            <a:spLocks/>
          </p:cNvSpPr>
          <p:nvPr/>
        </p:nvSpPr>
        <p:spPr>
          <a:xfrm>
            <a:off x="1507067" y="5515648"/>
            <a:ext cx="7766936" cy="109689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Москва, 2025</a:t>
            </a:r>
          </a:p>
        </p:txBody>
      </p:sp>
      <p:pic>
        <p:nvPicPr>
          <p:cNvPr id="5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DDC07571-7B10-3161-726F-B40533D8A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39007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91280A-5042-4CFE-B75D-0CE587D96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771" y="132521"/>
            <a:ext cx="9407699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   1.А Объект и предмет курсовой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5E5308-E21B-4CD6-BD38-9ADE7C01D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6526" y="881367"/>
            <a:ext cx="9070348" cy="5734118"/>
          </a:xfrm>
        </p:spPr>
        <p:txBody>
          <a:bodyPr>
            <a:normAutofit fontScale="92500" lnSpcReduction="20000"/>
          </a:bodyPr>
          <a:lstStyle/>
          <a:p>
            <a:r>
              <a:rPr lang="ru-RU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Объектом исследования в курсовой работе выступает организация, выбранная студентом и утвержденная руководителем курсовой работы </a:t>
            </a:r>
          </a:p>
          <a:p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Это должны быть о</a:t>
            </a:r>
            <a:r>
              <a:rPr lang="ru-RU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рганизации-резиденты, декларирующие свои доходы и уплачивающие с этих доходов налоги в бюджетную систему РФ. Резидентами являются следующие организации: </a:t>
            </a:r>
          </a:p>
          <a:p>
            <a:pPr marL="0" indent="0">
              <a:buNone/>
            </a:pPr>
            <a:r>
              <a:rPr lang="ru-RU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• российские, зарегистрированные в России российскими гражданами в соответствии с российскими законами; </a:t>
            </a:r>
          </a:p>
          <a:p>
            <a:pPr marL="0" indent="0">
              <a:buNone/>
            </a:pPr>
            <a:r>
              <a:rPr lang="ru-RU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• иностранные, которые признаны резидентами в соответствии с международными договорами (</a:t>
            </a:r>
            <a:r>
              <a:rPr lang="ru-RU" sz="2400" b="0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необходимо учесть реалии сегодняшнего дня, то есть уход компаний недружественных стран с рынка РФ</a:t>
            </a:r>
            <a:r>
              <a:rPr lang="ru-RU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ru-RU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• иностранные компании, которые управляются с территории РФ (</a:t>
            </a:r>
            <a:r>
              <a:rPr lang="ru-RU" sz="2400" b="0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необходимо учесть реалии сегодняшнего дня, то есть уход компаний недружественных стран с рынка РФ</a:t>
            </a:r>
            <a:r>
              <a:rPr lang="ru-RU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Ориентиром должно служить то, что организация внесена в ЕГРЮЛ и является действующей на текущий момент</a:t>
            </a:r>
            <a:endParaRPr lang="ru-RU" sz="2400" b="1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dirty="0"/>
              <a:t>https://www.rusprofile.ru</a:t>
            </a:r>
            <a:endParaRPr lang="ru-RU" dirty="0"/>
          </a:p>
        </p:txBody>
      </p:sp>
      <p:pic>
        <p:nvPicPr>
          <p:cNvPr id="4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41861540-990A-1E53-9A25-9BE09D770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67734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91280A-5042-4CFE-B75D-0CE587D96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993" y="163513"/>
            <a:ext cx="9434332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   1.Б Объект и предмет курсовой работы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8B00720-ED31-43DD-939A-C2CA64A743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952" y="1241548"/>
            <a:ext cx="4698176" cy="5117345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2281B45-02A7-4EF4-B0BF-CE300D419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347" y="1241548"/>
            <a:ext cx="7022701" cy="4631817"/>
          </a:xfrm>
          <a:prstGeom prst="rect">
            <a:avLst/>
          </a:prstGeom>
        </p:spPr>
      </p:pic>
      <p:pic>
        <p:nvPicPr>
          <p:cNvPr id="3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DC940920-23B6-AAF6-8D60-C4449EF60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3114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EA896C-3C16-4D05-8A2D-596C2E04B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555" y="92366"/>
            <a:ext cx="9549742" cy="713173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  2.А Формулировка темы курсовой работы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8B5487-2B69-47E9-878B-A8F06D41F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960" y="805539"/>
            <a:ext cx="8596668" cy="3880773"/>
          </a:xfrm>
        </p:spPr>
        <p:txBody>
          <a:bodyPr>
            <a:normAutofit/>
          </a:bodyPr>
          <a:lstStyle/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Предметом исследования курсовой работы является бизнес-процесс, который реализуется в организации. </a:t>
            </a:r>
          </a:p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Выбор бизнес-процесса осуществляется студентом самостоятельно с последующим утверждением выбранного бизнес-процесса руководителем курсовой работы </a:t>
            </a:r>
            <a:endParaRPr lang="ru-RU" sz="2200" dirty="0"/>
          </a:p>
        </p:txBody>
      </p:sp>
      <p:pic>
        <p:nvPicPr>
          <p:cNvPr id="4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1FF5D8B0-6A84-AA07-0B78-6D97C8B22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95EB9FE-67DE-49B2-8721-45FB82789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99" y="2915218"/>
            <a:ext cx="8439150" cy="3762375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EA9C3C2-2AA3-4AED-85AB-C5239EA67C1A}"/>
              </a:ext>
            </a:extLst>
          </p:cNvPr>
          <p:cNvSpPr/>
          <p:nvPr/>
        </p:nvSpPr>
        <p:spPr>
          <a:xfrm>
            <a:off x="804555" y="6098361"/>
            <a:ext cx="8230388" cy="591620"/>
          </a:xfrm>
          <a:prstGeom prst="rect">
            <a:avLst/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0632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EA896C-3C16-4D05-8A2D-596C2E04B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845" y="0"/>
            <a:ext cx="9549742" cy="71317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002060"/>
                </a:solidFill>
              </a:rPr>
              <a:t>   2.Б Формулировка темы курсовой работы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8B5487-2B69-47E9-878B-A8F06D41F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965" y="705775"/>
            <a:ext cx="9620764" cy="6152225"/>
          </a:xfrm>
        </p:spPr>
        <p:txBody>
          <a:bodyPr>
            <a:normAutofit/>
          </a:bodyPr>
          <a:lstStyle/>
          <a:p>
            <a:pPr indent="450215" algn="just"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Реинжиниринг бизнес-процесса &lt;</a:t>
            </a:r>
            <a:r>
              <a:rPr lang="ru-RU" sz="1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наименование бизнес-процесса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&gt; в(на) &lt;</a:t>
            </a:r>
            <a:r>
              <a:rPr lang="ru-RU" sz="1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указание вида деятельности организации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&gt; организации (компании, учреждении, предприятии) &lt;</a:t>
            </a:r>
            <a:r>
              <a:rPr lang="ru-RU" sz="1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наименование организации с кратким указанием ее организационно-правовой формы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&gt;.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Реинжиниринг</a:t>
            </a:r>
            <a:r>
              <a:rPr lang="ru-RU" sz="18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 бизнес-процесса 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&lt;</a:t>
            </a:r>
            <a:r>
              <a:rPr lang="ru-RU" sz="1800" b="0" i="1" u="none" strike="noStrike" baseline="0" dirty="0">
                <a:solidFill>
                  <a:srgbClr val="000000"/>
                </a:solidFill>
                <a:highlight>
                  <a:srgbClr val="00FF00"/>
                </a:highlight>
                <a:latin typeface="Times New Roman" panose="02020603050405020304" pitchFamily="18" charset="0"/>
              </a:rPr>
              <a:t>наименование бизнес-процесса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&gt; в(на) &lt;</a:t>
            </a:r>
            <a:r>
              <a:rPr lang="ru-RU" sz="1800" b="0" i="1" u="none" strike="noStrike" baseline="0" dirty="0">
                <a:solidFill>
                  <a:srgbClr val="000000"/>
                </a:solidFill>
                <a:highlight>
                  <a:srgbClr val="00FFFF"/>
                </a:highlight>
                <a:latin typeface="Times New Roman" panose="02020603050405020304" pitchFamily="18" charset="0"/>
              </a:rPr>
              <a:t>указание вида деятельности организации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&gt; </a:t>
            </a:r>
            <a:r>
              <a:rPr lang="ru-RU" sz="1800" b="0" i="0" u="none" strike="noStrike" baseline="0" dirty="0">
                <a:solidFill>
                  <a:srgbClr val="000000"/>
                </a:solidFill>
                <a:highlight>
                  <a:srgbClr val="FF0000"/>
                </a:highlight>
                <a:latin typeface="Times New Roman" panose="02020603050405020304" pitchFamily="18" charset="0"/>
              </a:rPr>
              <a:t>организации (компании, учреждении, предприятии) </a:t>
            </a:r>
            <a:r>
              <a:rPr lang="ru-RU" sz="1800" b="0" i="0" u="none" strike="noStrike" baseline="0" dirty="0">
                <a:solidFill>
                  <a:srgbClr val="000000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&lt;</a:t>
            </a:r>
            <a:r>
              <a:rPr lang="ru-RU" sz="1800" b="0" i="1" u="none" strike="noStrike" baseline="0" dirty="0">
                <a:solidFill>
                  <a:srgbClr val="000000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наименование организации с кратким указанием ее организационно-правовой формы</a:t>
            </a:r>
            <a:r>
              <a:rPr lang="ru-RU" sz="1800" b="0" i="0" u="none" strike="noStrike" baseline="0" dirty="0">
                <a:solidFill>
                  <a:srgbClr val="000000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&gt; </a:t>
            </a:r>
          </a:p>
          <a:p>
            <a:r>
              <a:rPr lang="ru-RU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Варианты названия тем: </a:t>
            </a:r>
          </a:p>
          <a:p>
            <a:pPr marL="0" indent="0"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180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Реинжиниринг </a:t>
            </a:r>
            <a:r>
              <a:rPr lang="ru-RU" sz="18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бизнес-процесса 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1800" dirty="0">
                <a:solidFill>
                  <a:srgbClr val="000000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Выбор поставщика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в </a:t>
            </a:r>
            <a:r>
              <a:rPr lang="ru-RU" sz="1800" b="0" i="0" u="none" strike="noStrike" baseline="0" dirty="0">
                <a:solidFill>
                  <a:srgbClr val="000000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торговой </a:t>
            </a:r>
            <a:r>
              <a:rPr lang="ru-RU" sz="1800" b="0" i="0" u="none" strike="noStrike" baseline="0" dirty="0">
                <a:solidFill>
                  <a:srgbClr val="000000"/>
                </a:solidFill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организации </a:t>
            </a:r>
            <a:r>
              <a:rPr lang="ru-RU" sz="1800" b="0" i="0" u="none" strike="noStrike" baseline="0" dirty="0">
                <a:solidFill>
                  <a:srgbClr val="000000"/>
                </a:solidFill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ООО «Ромашка». </a:t>
            </a:r>
          </a:p>
          <a:p>
            <a:pPr marL="0" indent="0"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18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Реинжиниринг бизнес-процесса 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1800" b="0" i="0" u="none" strike="noStrike" baseline="0" dirty="0">
                <a:solidFill>
                  <a:srgbClr val="000000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Учет рабочего времени персонала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на </a:t>
            </a:r>
            <a:r>
              <a:rPr lang="ru-RU" sz="1800" b="0" i="0" u="none" strike="noStrike" baseline="0" dirty="0">
                <a:solidFill>
                  <a:srgbClr val="000000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промышленном </a:t>
            </a:r>
            <a:r>
              <a:rPr lang="ru-RU" sz="1800" b="0" i="0" u="none" strike="noStrike" baseline="0" dirty="0">
                <a:solidFill>
                  <a:srgbClr val="000000"/>
                </a:solidFill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предприятии </a:t>
            </a:r>
            <a:r>
              <a:rPr lang="ru-RU" sz="1800" b="0" i="0" u="none" strike="noStrike" baseline="0" dirty="0">
                <a:solidFill>
                  <a:srgbClr val="000000"/>
                </a:solidFill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ПАО «Прибор». </a:t>
            </a:r>
          </a:p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ru-RU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Реинжиниринг бизнес-процесса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</a:t>
            </a:r>
            <a:r>
              <a:rPr lang="ru-RU" sz="1800" dirty="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Обработка заказов на производство мебели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 в </a:t>
            </a:r>
            <a:r>
              <a:rPr lang="ru-RU" sz="18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компании по производству мебели для офисов и предприятий торговли </a:t>
            </a:r>
            <a:r>
              <a:rPr lang="ru-RU" sz="1800" dirty="0">
                <a:effectLst/>
                <a:highlight>
                  <a:srgbClr val="FF00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ООО «Массив».</a:t>
            </a:r>
            <a:endParaRPr lang="ru-RU" dirty="0">
              <a:highlight>
                <a:srgbClr val="FF00FF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ru-RU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Реинжиниринг бизнес-процесса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</a:t>
            </a:r>
            <a:r>
              <a:rPr lang="ru-RU" sz="1800" dirty="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Выпуск печатной продукции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 на </a:t>
            </a:r>
            <a:r>
              <a:rPr lang="ru-RU" sz="18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полиграфическом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highlight>
                  <a:srgbClr val="FF00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предприятии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highlight>
                  <a:srgbClr val="FF00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ООО «</a:t>
            </a:r>
            <a:r>
              <a:rPr lang="ru-RU" sz="1800" dirty="0" err="1">
                <a:effectLst/>
                <a:highlight>
                  <a:srgbClr val="FF00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Книгобум</a:t>
            </a:r>
            <a:r>
              <a:rPr lang="ru-RU" sz="1800" dirty="0">
                <a:effectLst/>
                <a:highlight>
                  <a:srgbClr val="FF00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».</a:t>
            </a:r>
            <a:endParaRPr lang="ru-RU" dirty="0">
              <a:highlight>
                <a:srgbClr val="FF00FF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Реинжиниринг бизнес-процесса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</a:t>
            </a:r>
            <a:r>
              <a:rPr lang="ru-RU" sz="1800" dirty="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Контроль и учет доступа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 на </a:t>
            </a:r>
            <a:r>
              <a:rPr lang="ru-RU" sz="18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производственном </a:t>
            </a:r>
            <a:r>
              <a:rPr lang="ru-RU" sz="1800" dirty="0">
                <a:effectLst/>
                <a:highlight>
                  <a:srgbClr val="FF00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предприятии </a:t>
            </a:r>
            <a:r>
              <a:rPr lang="ru-RU" sz="1800" dirty="0">
                <a:effectLst/>
                <a:highlight>
                  <a:srgbClr val="FF00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АО «</a:t>
            </a:r>
            <a:r>
              <a:rPr lang="ru-RU" sz="1800" dirty="0" err="1">
                <a:effectLst/>
                <a:highlight>
                  <a:srgbClr val="FF00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СтилХолдинг</a:t>
            </a:r>
            <a:r>
              <a:rPr lang="ru-RU" sz="1800" dirty="0">
                <a:effectLst/>
                <a:highlight>
                  <a:srgbClr val="FF00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».</a:t>
            </a:r>
            <a:endParaRPr lang="ru-RU" sz="1800" dirty="0">
              <a:effectLst/>
              <a:highlight>
                <a:srgbClr val="FF00FF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800" b="0" i="0" u="none" strike="noStrike" baseline="0" dirty="0">
              <a:solidFill>
                <a:srgbClr val="000000"/>
              </a:solidFill>
              <a:highlight>
                <a:srgbClr val="FF00FF"/>
              </a:highlight>
              <a:latin typeface="Times New Roman" panose="02020603050405020304" pitchFamily="18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ru-RU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1FF5D8B0-6A84-AA07-0B78-6D97C8B22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90037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EA896C-3C16-4D05-8A2D-596C2E04B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39323"/>
            <a:ext cx="10002503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   2.В Формулировка темы курсовой работы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2BFEA3A-59FD-45AA-9FF3-E5846B83E64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0" y="1270000"/>
            <a:ext cx="5533552" cy="5031111"/>
          </a:xfrm>
        </p:spPr>
      </p:pic>
      <p:sp>
        <p:nvSpPr>
          <p:cNvPr id="7" name="Текст 6">
            <a:extLst>
              <a:ext uri="{FF2B5EF4-FFF2-40B4-BE49-F238E27FC236}">
                <a16:creationId xmlns:a16="http://schemas.microsoft.com/office/drawing/2014/main" id="{0BC8130D-89E3-4AF4-9136-CDB29D7C3F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25286" y="837360"/>
            <a:ext cx="4753036" cy="865279"/>
          </a:xfrm>
        </p:spPr>
        <p:txBody>
          <a:bodyPr/>
          <a:lstStyle/>
          <a:p>
            <a:r>
              <a:rPr lang="ru-RU" dirty="0">
                <a:highlight>
                  <a:srgbClr val="FF0000"/>
                </a:highlight>
              </a:rPr>
              <a:t>Не рекомендуется (запрещено)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48B8CCFE-CE3F-4114-BA7F-41E1039E075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210886" y="1777914"/>
            <a:ext cx="5928449" cy="3467309"/>
          </a:xfr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EE804D9-9D1C-43C9-828C-432670BC3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0111" y="5291449"/>
            <a:ext cx="6507332" cy="1546761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991630A-505D-4E34-B396-DCAE12AFBD40}"/>
              </a:ext>
            </a:extLst>
          </p:cNvPr>
          <p:cNvSpPr/>
          <p:nvPr/>
        </p:nvSpPr>
        <p:spPr>
          <a:xfrm>
            <a:off x="6210886" y="1777914"/>
            <a:ext cx="5981114" cy="34510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0DCD8F1-44D0-458A-B462-798C8A0761A4}"/>
              </a:ext>
            </a:extLst>
          </p:cNvPr>
          <p:cNvSpPr/>
          <p:nvPr/>
        </p:nvSpPr>
        <p:spPr>
          <a:xfrm>
            <a:off x="4150111" y="5245223"/>
            <a:ext cx="6529726" cy="161277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28A8750B-58AA-CAC8-7FBD-08711BFE1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71676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EA896C-3C16-4D05-8A2D-596C2E04B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583" y="69435"/>
            <a:ext cx="10544041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   3.А Порядок действий для формулировки темы курсовой работы</a:t>
            </a:r>
            <a:endParaRPr lang="ru-RU" dirty="0"/>
          </a:p>
        </p:txBody>
      </p:sp>
      <p:sp>
        <p:nvSpPr>
          <p:cNvPr id="16" name="Объект 15">
            <a:extLst>
              <a:ext uri="{FF2B5EF4-FFF2-40B4-BE49-F238E27FC236}">
                <a16:creationId xmlns:a16="http://schemas.microsoft.com/office/drawing/2014/main" id="{E6F2BAAF-58B5-F5A7-1310-709776A36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90235"/>
            <a:ext cx="11307520" cy="4882718"/>
          </a:xfrm>
        </p:spPr>
        <p:txBody>
          <a:bodyPr/>
          <a:lstStyle/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ru-RU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Название темы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— укажите предлагаемый вариант темы курсовой работы.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Объект исследования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— организация (компания, учреждение, предприятие), для которой предполагается провести реинжиниринг бизнес-процесса</a:t>
            </a: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2.1 </a:t>
            </a:r>
            <a:r>
              <a:rPr lang="ru-RU" sz="15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Укажите ИНН, наименование, форму собственности</a:t>
            </a:r>
            <a:r>
              <a:rPr lang="ru-RU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(АО, ООО, ИП…) </a:t>
            </a:r>
            <a:r>
              <a:rPr lang="ru-RU" sz="15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 вид деятельности организации</a:t>
            </a:r>
            <a:r>
              <a:rPr lang="ru-RU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500" spc="2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соответствии с Общероссийским классификатором видов экономической деятельности (ОКВЭД)</a:t>
            </a:r>
            <a:r>
              <a:rPr lang="ru-RU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Например, производственная компания, типография, образовательное учреждение, компания по разработке ПО и т.д. Для определения вида деятельности воспользуйтесь ресурсами, ссылки на которые приводятся в методических указаниях к курсовой работе.</a:t>
            </a:r>
            <a:endParaRPr lang="ru-RU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2.2 </a:t>
            </a:r>
            <a:r>
              <a:rPr lang="ru-RU" sz="15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Представьте краткое</a:t>
            </a:r>
            <a:r>
              <a:rPr lang="ru-RU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(своими словами, свободный стиль изложения)</a:t>
            </a:r>
            <a:r>
              <a:rPr lang="ru-RU" sz="15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описание специфики деятельности организации</a:t>
            </a:r>
            <a:r>
              <a:rPr lang="ru-RU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— уникальные особенности ее работы, которые влияют на ее деятельность: ассортимент продукции/услуг, используемые технологии, особенности организации производственной и хозяйственной деятельности и т.д. Также рекомендуется описать бизнес-направления/приоритетные виды бизнеса, на которые ориентирована организация. Бизнес-направления — это термин, используемый для описания различных продуктов или услуг, которые предлагает организация. Другими словами, сфера деятельности декомпозируется до уровня сегментов рынка, которые могут быть интересны организации. К примеру, для торгового предприятия в качестве бизнес-направлений могут выступать продажа товара в розничных магазинах, продажа товара онлайн; для предприятия-разработчика программного обеспечения — разработка мобильных приложений, разработка </a:t>
            </a:r>
            <a:r>
              <a:rPr lang="ru-RU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</a:t>
            </a:r>
            <a:r>
              <a:rPr lang="ru-RU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-приложений и пр.</a:t>
            </a:r>
          </a:p>
          <a:p>
            <a:endParaRPr lang="ru-RU" dirty="0"/>
          </a:p>
        </p:txBody>
      </p:sp>
      <p:pic>
        <p:nvPicPr>
          <p:cNvPr id="3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28A8750B-58AA-CAC8-7FBD-08711BFE1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33827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EA896C-3C16-4D05-8A2D-596C2E04B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583" y="69435"/>
            <a:ext cx="10544041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   3.Б Порядок действий для формулировки темы курсовой работы</a:t>
            </a:r>
            <a:endParaRPr lang="ru-RU" dirty="0"/>
          </a:p>
        </p:txBody>
      </p:sp>
      <p:sp>
        <p:nvSpPr>
          <p:cNvPr id="16" name="Объект 15">
            <a:extLst>
              <a:ext uri="{FF2B5EF4-FFF2-40B4-BE49-F238E27FC236}">
                <a16:creationId xmlns:a16="http://schemas.microsoft.com/office/drawing/2014/main" id="{E6F2BAAF-58B5-F5A7-1310-709776A36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90235"/>
            <a:ext cx="9623394" cy="5188118"/>
          </a:xfrm>
        </p:spPr>
        <p:txBody>
          <a:bodyPr>
            <a:normAutofit lnSpcReduction="10000"/>
          </a:bodyPr>
          <a:lstStyle/>
          <a:p>
            <a:pPr marL="0" lvl="0" indent="0" algn="just">
              <a:lnSpc>
                <a:spcPct val="107000"/>
              </a:lnSpc>
              <a:buNone/>
            </a:pPr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Предмет исследования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— исследуемый бизнес-процесс выбранного объекта исследования:</a:t>
            </a:r>
          </a:p>
          <a:p>
            <a:pPr marL="742950" lvl="1" indent="-285750" algn="just">
              <a:lnSpc>
                <a:spcPct val="107000"/>
              </a:lnSpc>
              <a:buFont typeface="+mj-lt"/>
              <a:buAutoNum type="arabicPeriod"/>
            </a:pPr>
            <a:r>
              <a:rPr lang="ru-RU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Укажите наименование выбранного бизнес-процесса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выбора бизнес-процесса можно воспользоваться различными классификациями бизнес-процессов, например, APQC’s Process Classification Framework.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buFont typeface="+mj-lt"/>
              <a:buAutoNum type="arabicPeriod"/>
            </a:pPr>
            <a:r>
              <a:rPr lang="ru-RU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Представьте краткое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(своими словами, свободный стиль изложения) </a:t>
            </a:r>
            <a:r>
              <a:rPr lang="ru-RU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описание основных работ/задач бизнес-процесса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(вида управленческой деятельности), который подлежит исследованию с целью совершенствования и устранения проблем, связанных с реализацией технологии сбора, обработки, хранения и передачи информации.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buFont typeface="+mj-lt"/>
              <a:buAutoNum type="arabicPeriod"/>
            </a:pPr>
            <a:r>
              <a:rPr lang="ru-RU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Определите группу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к которой относится бизнес-процесс: </a:t>
            </a:r>
            <a:r>
              <a:rPr lang="ru-RU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основной или вспомогательный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(допускается соотнесение с более расширенной классификацией бизнес-процессов).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Представьте краткое описание </a:t>
            </a:r>
            <a:r>
              <a:rPr lang="ru-RU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участников бизнес-процесса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делая акцент на исполнителях работ внутри процесса и внешних по отношению к процессу поставщиках и потребителях входной и результатной информации процесса.</a:t>
            </a:r>
          </a:p>
          <a:p>
            <a:pPr marL="457200" lvl="1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Также уже на этапе выбора и формулировки темы курсовой работы рекомендуется продумать «легенду» о том, в чем будет суть реинжиниринга (изменений) исследуемого процесса и с помощью каких средств информатизации предполагается осуществить данную деятельность.</a:t>
            </a:r>
            <a:endParaRPr lang="ru-RU" sz="18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3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28A8750B-58AA-CAC8-7FBD-08711BFE1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0448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56F80E-DFF0-46B6-8D02-877329169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067" y="84814"/>
            <a:ext cx="9682907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  4. Цель и задачи курсовой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DA1F73-C350-4606-A483-AFC93012D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Autofit/>
          </a:bodyPr>
          <a:lstStyle/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Целью курсовой работы по дисциплине «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Реинжиниринг бизнес-процессов</a:t>
            </a: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» является формирование предложений по 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реинжинирингу</a:t>
            </a: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исследуемого бизнес-процесса организации. </a:t>
            </a:r>
          </a:p>
          <a:p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З</a:t>
            </a: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адачи: </a:t>
            </a:r>
          </a:p>
          <a:p>
            <a:pPr marL="0" indent="0">
              <a:buNone/>
            </a:pP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1. Дать характеристику организации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&lt;</a:t>
            </a:r>
            <a:r>
              <a:rPr lang="ru-RU" sz="2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наименование организации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2. Построить модель бизнес-процесса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&lt;</a:t>
            </a:r>
            <a:r>
              <a:rPr lang="ru-RU" sz="2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наименование процесса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3. Провести анализ бизнес-процесса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&lt;</a:t>
            </a:r>
            <a:r>
              <a:rPr lang="ru-RU" sz="2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наименование процесса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4. Предложить изменения в модели бизнес-процесса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&lt;</a:t>
            </a:r>
            <a:r>
              <a:rPr lang="ru-RU" sz="2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наименование процесса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endParaRPr lang="ru-RU" sz="2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200" dirty="0"/>
          </a:p>
        </p:txBody>
      </p:sp>
      <p:pic>
        <p:nvPicPr>
          <p:cNvPr id="4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EDE120BE-1967-F9C2-6C61-765305712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94540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56F80E-DFF0-46B6-8D02-877329169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69" y="100717"/>
            <a:ext cx="9682907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  5. Типовая структура курсовой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DA1F73-C350-4606-A483-AFC93012D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9930" y="955876"/>
            <a:ext cx="8596668" cy="3880773"/>
          </a:xfrm>
        </p:spPr>
        <p:txBody>
          <a:bodyPr>
            <a:noAutofit/>
          </a:bodyPr>
          <a:lstStyle/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Титульный лист курсовой работы </a:t>
            </a:r>
          </a:p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Бланк задания на курсовую работу </a:t>
            </a:r>
          </a:p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Содержание </a:t>
            </a:r>
          </a:p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Введение </a:t>
            </a:r>
          </a:p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1. Исследование предметной области бизнес-процесса. </a:t>
            </a:r>
          </a:p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2. Моделирование бизнес-процесса. </a:t>
            </a:r>
          </a:p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3. 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А</a:t>
            </a: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нализ бизнес-процесса. </a:t>
            </a:r>
          </a:p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4. 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Реинжиниринг </a:t>
            </a: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бизнес-процесса. </a:t>
            </a:r>
          </a:p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Заключение </a:t>
            </a:r>
          </a:p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Список использованной литературы и источников </a:t>
            </a:r>
          </a:p>
          <a:p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Приложение или Приложения</a:t>
            </a:r>
            <a:endParaRPr lang="ru-RU" sz="2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200" dirty="0"/>
          </a:p>
        </p:txBody>
      </p:sp>
      <p:pic>
        <p:nvPicPr>
          <p:cNvPr id="4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EDE120BE-1967-F9C2-6C61-765305712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83500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83B509-0A6D-4F5F-93EF-D322E0625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929" y="123407"/>
            <a:ext cx="10292727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6. Структура разделов (глав) курсовой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30667D-9FA9-4523-8677-0ACA446DF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262" y="755126"/>
            <a:ext cx="9174871" cy="5979467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20000"/>
              </a:lnSpc>
              <a:buNone/>
            </a:pPr>
            <a:r>
              <a:rPr lang="ru-RU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Исследование предметной области бизнес-процесса.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20000"/>
              </a:lnSpc>
              <a:buNone/>
            </a:pPr>
            <a:r>
              <a:rPr lang="ru-RU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1.1 Краткая характеристика деятельности организации.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20000"/>
              </a:lnSpc>
              <a:buNone/>
            </a:pPr>
            <a:r>
              <a:rPr lang="ru-RU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1.2 Общее описание бизнес-процесса.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20000"/>
              </a:lnSpc>
              <a:buNone/>
            </a:pPr>
            <a:r>
              <a:rPr lang="ru-RU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Моделирование бизнес-процесса.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20000"/>
              </a:lnSpc>
              <a:buNone/>
            </a:pPr>
            <a:r>
              <a:rPr lang="ru-RU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2.1 Структура бизнес-процесса.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20000"/>
              </a:lnSpc>
              <a:buNone/>
            </a:pPr>
            <a:r>
              <a:rPr lang="ru-RU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2.2 Модель бизнес-процесса (</a:t>
            </a:r>
            <a:r>
              <a:rPr lang="ru-RU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20000"/>
              </a:lnSpc>
              <a:buNone/>
            </a:pPr>
            <a:r>
              <a:rPr lang="ru-RU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Анализ бизнес-процесса.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20000"/>
              </a:lnSpc>
              <a:buNone/>
            </a:pPr>
            <a:r>
              <a:rPr lang="ru-RU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3.1 Анализ проблем бизнес-процесса.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20000"/>
              </a:lnSpc>
              <a:buNone/>
            </a:pPr>
            <a:r>
              <a:rPr lang="ru-RU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32 Оценка стоимости выполнения бизнес-процесса.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20000"/>
              </a:lnSpc>
              <a:buNone/>
            </a:pPr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ru-RU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Реинжиниринг бизнес-процесса.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20000"/>
              </a:lnSpc>
              <a:buNone/>
            </a:pPr>
            <a:r>
              <a:rPr lang="ru-RU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4.1 Модель бизнес-процесса (</a:t>
            </a:r>
            <a:r>
              <a:rPr lang="ru-RU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20000"/>
              </a:lnSpc>
              <a:buNone/>
            </a:pPr>
            <a:r>
              <a:rPr lang="ru-RU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4.2 Оценка изменения характеристик бизнес-процесса.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20000"/>
              </a:lnSpc>
              <a:buNone/>
            </a:pPr>
            <a:r>
              <a:rPr lang="ru-RU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4.3 Реализация бизнес-процесса в ПО BPM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ru-RU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oft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DEBEEA36-6D4C-8154-9E4A-35D83BDEC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22466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83B509-0A6D-4F5F-93EF-D322E0625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929" y="123407"/>
            <a:ext cx="10292727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7. Срок формулировки темы курсовой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30667D-9FA9-4523-8677-0ACA446DF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9929" y="1343770"/>
            <a:ext cx="7358698" cy="5080722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20000"/>
              </a:lnSpc>
              <a:buNone/>
            </a:pPr>
            <a:r>
              <a:rPr lang="ru-RU" sz="1800" dirty="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22 февраля 2025 года  до 9.00</a:t>
            </a:r>
          </a:p>
          <a:p>
            <a:pPr marL="0" lvl="0" indent="0" algn="just">
              <a:lnSpc>
                <a:spcPct val="120000"/>
              </a:lnSpc>
              <a:buNone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Далее работа по согласованию и утверждению тем курсовой работы для студентов, которые тему выбрали и вписали ее в таблицу.</a:t>
            </a:r>
          </a:p>
          <a:p>
            <a:pPr marL="0" lvl="0" indent="0" algn="just">
              <a:lnSpc>
                <a:spcPct val="120000"/>
              </a:lnSpc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Студенты, не определившие те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му курсовой работы до 22 февраля, получают тему по решению кафедры ППИ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DEBEEA36-6D4C-8154-9E4A-35D83BDEC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419591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475</TotalTime>
  <Words>1056</Words>
  <Application>Microsoft Office PowerPoint</Application>
  <PresentationFormat>Широкоэкранный</PresentationFormat>
  <Paragraphs>81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Times New Roman</vt:lpstr>
      <vt:lpstr>Trebuchet MS</vt:lpstr>
      <vt:lpstr>Wingdings 3</vt:lpstr>
      <vt:lpstr>Аспект</vt:lpstr>
      <vt:lpstr>Методические рекомендации по выполнению курсовой работы. ЧАСТЬ 1 </vt:lpstr>
      <vt:lpstr>   1.А Объект и предмет курсовой работы</vt:lpstr>
      <vt:lpstr>   1.Б Объект и предмет курсовой работы</vt:lpstr>
      <vt:lpstr>  2.А Формулировка темы курсовой работы</vt:lpstr>
      <vt:lpstr>   2.Б Формулировка темы курсовой работы</vt:lpstr>
      <vt:lpstr>   2.В Формулировка темы курсовой работы</vt:lpstr>
      <vt:lpstr>   3.А Порядок действий для формулировки темы курсовой работы</vt:lpstr>
      <vt:lpstr>   3.Б Порядок действий для формулировки темы курсовой работы</vt:lpstr>
      <vt:lpstr>  4. Цель и задачи курсовой работы</vt:lpstr>
      <vt:lpstr>  5. Типовая структура курсовой работы</vt:lpstr>
      <vt:lpstr>6. Структура разделов (глав) курсовой работы</vt:lpstr>
      <vt:lpstr>7. Срок формулировки темы курсовой работы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</dc:title>
  <dc:creator>jvk05@mail.ru</dc:creator>
  <cp:lastModifiedBy>Юлия Кириллина</cp:lastModifiedBy>
  <cp:revision>40</cp:revision>
  <dcterms:created xsi:type="dcterms:W3CDTF">2020-09-24T09:00:07Z</dcterms:created>
  <dcterms:modified xsi:type="dcterms:W3CDTF">2025-02-13T14:42:11Z</dcterms:modified>
</cp:coreProperties>
</file>