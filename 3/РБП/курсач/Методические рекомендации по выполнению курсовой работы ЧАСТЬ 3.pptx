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7" r:id="rId6"/>
    <p:sldId id="278" r:id="rId7"/>
    <p:sldId id="280" r:id="rId8"/>
    <p:sldId id="279" r:id="rId9"/>
    <p:sldId id="260" r:id="rId10"/>
    <p:sldId id="261" r:id="rId11"/>
    <p:sldId id="263" r:id="rId12"/>
    <p:sldId id="265" r:id="rId13"/>
    <p:sldId id="267" r:id="rId14"/>
    <p:sldId id="269" r:id="rId15"/>
    <p:sldId id="272" r:id="rId16"/>
    <p:sldId id="273" r:id="rId17"/>
    <p:sldId id="274" r:id="rId18"/>
    <p:sldId id="275" r:id="rId19"/>
    <p:sldId id="276" r:id="rId20"/>
    <p:sldId id="282" r:id="rId21"/>
    <p:sldId id="281" r:id="rId22"/>
    <p:sldId id="286" r:id="rId23"/>
    <p:sldId id="28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1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15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07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54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07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15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68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18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65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57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4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6300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99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6067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262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187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49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E520E-CFE6-43AD-9E16-8CF7CB743386}" type="datetimeFigureOut">
              <a:rPr lang="ru-RU" smtClean="0"/>
              <a:t>06.04.2025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F55416-697A-4D21-BB7F-E20981B448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79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B02D3-1608-46BF-8CFC-3A167CA89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Курсовая работа!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На что обратить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868022-E00A-4265-98F5-6C51C7B23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556860"/>
            <a:ext cx="7766936" cy="109689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Дисциплина «Реинжиниринг бизнес-процессов»</a:t>
            </a:r>
          </a:p>
          <a:p>
            <a:r>
              <a:rPr lang="ru-RU" dirty="0"/>
              <a:t>Доцент, к.э.н. Кириллина Ю.В.</a:t>
            </a:r>
          </a:p>
          <a:p>
            <a:r>
              <a:rPr lang="ru-RU" dirty="0"/>
              <a:t>Кафедра ППИ института ИТ РТУ МИРЭА</a:t>
            </a:r>
          </a:p>
        </p:txBody>
      </p:sp>
    </p:spTree>
    <p:extLst>
      <p:ext uri="{BB962C8B-B14F-4D97-AF65-F5344CB8AC3E}">
        <p14:creationId xmlns:p14="http://schemas.microsoft.com/office/powerpoint/2010/main" val="378375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СОДЕРЖАНИЯ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16A7ED-96E5-4FB7-9FFF-D9B17FCF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57847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314062E-408C-4DA1-99CB-272672B6D8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3540" t="14006" r="32999" b="5817"/>
          <a:stretch/>
        </p:blipFill>
        <p:spPr>
          <a:xfrm>
            <a:off x="91407" y="1945241"/>
            <a:ext cx="5212796" cy="4397407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920" y="1357847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22A72001-A788-47D5-81D0-968DBBBCA76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/>
          <a:srcRect l="11372" t="13450" r="31605" b="4708"/>
          <a:stretch/>
        </p:blipFill>
        <p:spPr>
          <a:xfrm>
            <a:off x="6319628" y="1945241"/>
            <a:ext cx="5540872" cy="447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ВВЕДЕНИЯ и текст в нем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16A7ED-96E5-4FB7-9FFF-D9B17FCF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57847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6A40DFE-30ED-468B-94C1-1DE8349D81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1814" t="14760" r="42545" b="4698"/>
          <a:stretch/>
        </p:blipFill>
        <p:spPr>
          <a:xfrm>
            <a:off x="497149" y="1930400"/>
            <a:ext cx="3568823" cy="4536489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D5908B09-A29E-4413-8D5F-373E85322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62957" y="1930400"/>
            <a:ext cx="4591230" cy="4536489"/>
          </a:xfrm>
        </p:spPr>
        <p:txBody>
          <a:bodyPr>
            <a:normAutofit/>
          </a:bodyPr>
          <a:lstStyle/>
          <a:p>
            <a:r>
              <a:rPr lang="ru-RU" sz="2400" dirty="0"/>
              <a:t>Актуальность</a:t>
            </a:r>
          </a:p>
          <a:p>
            <a:r>
              <a:rPr lang="ru-RU" sz="2400" dirty="0"/>
              <a:t>Объект исследования</a:t>
            </a:r>
          </a:p>
          <a:p>
            <a:r>
              <a:rPr lang="ru-RU" sz="2400" dirty="0"/>
              <a:t>Предмет исследования</a:t>
            </a:r>
          </a:p>
          <a:p>
            <a:r>
              <a:rPr lang="ru-RU" sz="2400" dirty="0"/>
              <a:t>Цель курсовой работы</a:t>
            </a:r>
          </a:p>
          <a:p>
            <a:r>
              <a:rPr lang="ru-RU" sz="2400" dirty="0"/>
              <a:t>Задачи курсовой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283940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5178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Заголовки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16A7ED-96E5-4FB7-9FFF-D9B17FCF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57847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920" y="1357847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3F991AC4-840E-463B-8659-C02BDFDF6BB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/>
          <a:srcRect l="22853" t="19505" r="43873" b="18520"/>
          <a:stretch/>
        </p:blipFill>
        <p:spPr>
          <a:xfrm>
            <a:off x="6191698" y="2023842"/>
            <a:ext cx="4240840" cy="4443047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595D403B-120C-417C-B5D1-72EDD4AD5B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25885" t="20418" r="23664" b="7924"/>
          <a:stretch/>
        </p:blipFill>
        <p:spPr>
          <a:xfrm>
            <a:off x="677334" y="2023842"/>
            <a:ext cx="4989441" cy="398634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B85907A-73C4-4118-B712-19D90EF93601}"/>
              </a:ext>
            </a:extLst>
          </p:cNvPr>
          <p:cNvSpPr/>
          <p:nvPr/>
        </p:nvSpPr>
        <p:spPr>
          <a:xfrm>
            <a:off x="677334" y="2023842"/>
            <a:ext cx="5002013" cy="3957508"/>
          </a:xfrm>
          <a:prstGeom prst="rect">
            <a:avLst/>
          </a:prstGeom>
          <a:noFill/>
          <a:ln w="28575"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2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5178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Текст и списки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16A7ED-96E5-4FB7-9FFF-D9B17FCF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57847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57088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95D403B-120C-417C-B5D1-72EDD4AD5B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5885" t="20418" r="23664" b="7924"/>
          <a:stretch/>
        </p:blipFill>
        <p:spPr>
          <a:xfrm>
            <a:off x="677334" y="2023842"/>
            <a:ext cx="4989441" cy="39863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0E336B-0715-45C3-8D46-4941D20EB2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73" t="15663" r="43641" b="8350"/>
          <a:stretch/>
        </p:blipFill>
        <p:spPr>
          <a:xfrm>
            <a:off x="6037134" y="1357847"/>
            <a:ext cx="4303349" cy="544410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6E78B56-0852-4D11-BC01-7D3344ED7E21}"/>
              </a:ext>
            </a:extLst>
          </p:cNvPr>
          <p:cNvSpPr/>
          <p:nvPr/>
        </p:nvSpPr>
        <p:spPr>
          <a:xfrm>
            <a:off x="1198485" y="2396971"/>
            <a:ext cx="4216894" cy="370294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892DA9B-9019-44CB-85BF-F6A113FED065}"/>
              </a:ext>
            </a:extLst>
          </p:cNvPr>
          <p:cNvSpPr/>
          <p:nvPr/>
        </p:nvSpPr>
        <p:spPr>
          <a:xfrm>
            <a:off x="677334" y="2023842"/>
            <a:ext cx="4989441" cy="450898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97122C3-D347-4D7E-89D2-8101106196E2}"/>
              </a:ext>
            </a:extLst>
          </p:cNvPr>
          <p:cNvSpPr/>
          <p:nvPr/>
        </p:nvSpPr>
        <p:spPr>
          <a:xfrm>
            <a:off x="6409678" y="1433350"/>
            <a:ext cx="3871940" cy="53686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571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5178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Текст и списки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5750" y="1487403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0E336B-0715-45C3-8D46-4941D20EB2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14" t="62807" r="43641" b="8350"/>
          <a:stretch/>
        </p:blipFill>
        <p:spPr>
          <a:xfrm>
            <a:off x="332508" y="2063665"/>
            <a:ext cx="6660774" cy="345858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0B22BE-6BC2-47D1-9104-A531A8DE0A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34" t="13980" r="43641" b="4742"/>
          <a:stretch/>
        </p:blipFill>
        <p:spPr>
          <a:xfrm>
            <a:off x="7444880" y="159558"/>
            <a:ext cx="4637627" cy="6538883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F4B8BF01-73C2-49FC-A770-CBB0C264A991}"/>
              </a:ext>
            </a:extLst>
          </p:cNvPr>
          <p:cNvSpPr/>
          <p:nvPr/>
        </p:nvSpPr>
        <p:spPr>
          <a:xfrm>
            <a:off x="11665258" y="1091953"/>
            <a:ext cx="399495" cy="395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08D6A2FC-847E-4A12-A44D-A6944DF39156}"/>
              </a:ext>
            </a:extLst>
          </p:cNvPr>
          <p:cNvSpPr/>
          <p:nvPr/>
        </p:nvSpPr>
        <p:spPr>
          <a:xfrm>
            <a:off x="7615558" y="325178"/>
            <a:ext cx="781976" cy="22671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7F4610A-794F-4F0F-883D-19168FF1C4F5}"/>
              </a:ext>
            </a:extLst>
          </p:cNvPr>
          <p:cNvSpPr/>
          <p:nvPr/>
        </p:nvSpPr>
        <p:spPr>
          <a:xfrm>
            <a:off x="7499262" y="2793411"/>
            <a:ext cx="781976" cy="22671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1B404E2-4333-455E-BF29-4ABF21E52262}"/>
              </a:ext>
            </a:extLst>
          </p:cNvPr>
          <p:cNvSpPr/>
          <p:nvPr/>
        </p:nvSpPr>
        <p:spPr>
          <a:xfrm>
            <a:off x="9008908" y="2793411"/>
            <a:ext cx="781976" cy="22671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80BAC38-388C-4F60-B3DD-94E6AB47650F}"/>
              </a:ext>
            </a:extLst>
          </p:cNvPr>
          <p:cNvSpPr/>
          <p:nvPr/>
        </p:nvSpPr>
        <p:spPr>
          <a:xfrm>
            <a:off x="7615558" y="5442012"/>
            <a:ext cx="3313369" cy="834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D54E8D3-7061-4BDB-8F78-8510DFD70079}"/>
              </a:ext>
            </a:extLst>
          </p:cNvPr>
          <p:cNvSpPr/>
          <p:nvPr/>
        </p:nvSpPr>
        <p:spPr>
          <a:xfrm>
            <a:off x="6381984" y="2222240"/>
            <a:ext cx="781976" cy="22671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25069A-42FC-4DEA-9DD1-385B1E333C65}"/>
              </a:ext>
            </a:extLst>
          </p:cNvPr>
          <p:cNvSpPr/>
          <p:nvPr/>
        </p:nvSpPr>
        <p:spPr>
          <a:xfrm>
            <a:off x="9387281" y="1174459"/>
            <a:ext cx="553673" cy="3129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32D7C407-EC13-458F-941A-296267360E57}"/>
              </a:ext>
            </a:extLst>
          </p:cNvPr>
          <p:cNvCxnSpPr/>
          <p:nvPr/>
        </p:nvCxnSpPr>
        <p:spPr>
          <a:xfrm flipH="1">
            <a:off x="9940954" y="1317072"/>
            <a:ext cx="168796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16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5178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Текст и списки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45446" y="3805262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D54E8D3-7061-4BDB-8F78-8510DFD70079}"/>
              </a:ext>
            </a:extLst>
          </p:cNvPr>
          <p:cNvSpPr/>
          <p:nvPr/>
        </p:nvSpPr>
        <p:spPr>
          <a:xfrm>
            <a:off x="6381984" y="2222240"/>
            <a:ext cx="781976" cy="22671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80494B-7310-4B99-86D6-8DCD34DAF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42" t="15921" r="39873" b="8479"/>
          <a:stretch/>
        </p:blipFill>
        <p:spPr>
          <a:xfrm>
            <a:off x="4110361" y="1127464"/>
            <a:ext cx="5187372" cy="553078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369A7F-1EC2-42D5-B0F0-360054B18FA9}"/>
              </a:ext>
            </a:extLst>
          </p:cNvPr>
          <p:cNvSpPr/>
          <p:nvPr/>
        </p:nvSpPr>
        <p:spPr>
          <a:xfrm>
            <a:off x="4412202" y="1118586"/>
            <a:ext cx="4669654" cy="553078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1D95F6E-DF46-4181-84AF-ECCFA8DCBF66}"/>
              </a:ext>
            </a:extLst>
          </p:cNvPr>
          <p:cNvSpPr/>
          <p:nvPr/>
        </p:nvSpPr>
        <p:spPr>
          <a:xfrm>
            <a:off x="4734701" y="1109709"/>
            <a:ext cx="4347156" cy="527333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A04C053-E7F3-499D-AF5B-F7904DC6FD6D}"/>
              </a:ext>
            </a:extLst>
          </p:cNvPr>
          <p:cNvSpPr/>
          <p:nvPr/>
        </p:nvSpPr>
        <p:spPr>
          <a:xfrm>
            <a:off x="4989251" y="4678532"/>
            <a:ext cx="4092606" cy="1704513"/>
          </a:xfrm>
          <a:prstGeom prst="rect">
            <a:avLst/>
          </a:prstGeom>
          <a:noFill/>
          <a:ln w="38100">
            <a:solidFill>
              <a:srgbClr val="921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22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2517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Размещение текста и рисунков,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а также таблиц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7334" y="3911007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4E42C0-7875-4B5F-84E7-A792EE302E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04" t="14627" r="45722" b="14433"/>
          <a:stretch/>
        </p:blipFill>
        <p:spPr>
          <a:xfrm>
            <a:off x="2897555" y="1872538"/>
            <a:ext cx="3483836" cy="486496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8EC26E-4714-4705-8A6A-11AB70AAA1AA}"/>
              </a:ext>
            </a:extLst>
          </p:cNvPr>
          <p:cNvSpPr/>
          <p:nvPr/>
        </p:nvSpPr>
        <p:spPr>
          <a:xfrm>
            <a:off x="3024530" y="1857198"/>
            <a:ext cx="3562701" cy="489564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1D9C11B-552F-4A00-9BB0-55AC1F190CBB}"/>
              </a:ext>
            </a:extLst>
          </p:cNvPr>
          <p:cNvSpPr/>
          <p:nvPr/>
        </p:nvSpPr>
        <p:spPr>
          <a:xfrm>
            <a:off x="5896252" y="6253925"/>
            <a:ext cx="399495" cy="395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BF0549-1ED7-4D9F-95CB-3E61D4CB44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160" t="14757" r="46575" b="4742"/>
          <a:stretch/>
        </p:blipFill>
        <p:spPr>
          <a:xfrm>
            <a:off x="7515673" y="240661"/>
            <a:ext cx="3562701" cy="6142384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FAB278F1-A7CA-4C1F-864F-4B7E344EFD7C}"/>
              </a:ext>
            </a:extLst>
          </p:cNvPr>
          <p:cNvSpPr/>
          <p:nvPr/>
        </p:nvSpPr>
        <p:spPr>
          <a:xfrm>
            <a:off x="10677225" y="240661"/>
            <a:ext cx="399495" cy="395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69EAA-95C0-4F14-8E94-0CCCDD0326F1}"/>
              </a:ext>
            </a:extLst>
          </p:cNvPr>
          <p:cNvSpPr txBox="1"/>
          <p:nvPr/>
        </p:nvSpPr>
        <p:spPr>
          <a:xfrm>
            <a:off x="4315985" y="4523613"/>
            <a:ext cx="17800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800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4018A8-E808-4201-B5F9-C2CF8CFF0B73}"/>
              </a:ext>
            </a:extLst>
          </p:cNvPr>
          <p:cNvSpPr/>
          <p:nvPr/>
        </p:nvSpPr>
        <p:spPr>
          <a:xfrm>
            <a:off x="3221372" y="3911007"/>
            <a:ext cx="1459685" cy="2583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BACE1D9-EAC8-4DD5-B219-2194C6772495}"/>
              </a:ext>
            </a:extLst>
          </p:cNvPr>
          <p:cNvCxnSpPr/>
          <p:nvPr/>
        </p:nvCxnSpPr>
        <p:spPr>
          <a:xfrm>
            <a:off x="4808032" y="4009938"/>
            <a:ext cx="3287344" cy="2150441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36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325178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Подписи к рисункам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16A7ED-96E5-4FB7-9FFF-D9B17FCF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57847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920" y="1357847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BAAF4CAC-5297-495F-B831-87CDE15A11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3782" t="37238" r="43055" b="23642"/>
          <a:stretch/>
        </p:blipFill>
        <p:spPr>
          <a:xfrm>
            <a:off x="677333" y="2336328"/>
            <a:ext cx="5576699" cy="3700487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90E2A38B-157B-40EA-B954-2F2BAF7733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/>
          <a:srcRect l="13124" t="18167" r="34708" b="7185"/>
          <a:stretch/>
        </p:blipFill>
        <p:spPr>
          <a:xfrm>
            <a:off x="6096000" y="1930400"/>
            <a:ext cx="5633658" cy="4534408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42E7CAB4-A83E-495E-B4DB-4005C87F8E0D}"/>
              </a:ext>
            </a:extLst>
          </p:cNvPr>
          <p:cNvSpPr/>
          <p:nvPr/>
        </p:nvSpPr>
        <p:spPr>
          <a:xfrm>
            <a:off x="6893866" y="5877594"/>
            <a:ext cx="4185618" cy="5762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9CF5E77-5A74-40F8-ACF0-7EB3D9D3654B}"/>
              </a:ext>
            </a:extLst>
          </p:cNvPr>
          <p:cNvSpPr/>
          <p:nvPr/>
        </p:nvSpPr>
        <p:spPr>
          <a:xfrm>
            <a:off x="620374" y="5517680"/>
            <a:ext cx="5633658" cy="576261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74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8888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работы. Подписи к таблицам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16A7ED-96E5-4FB7-9FFF-D9B17FCFA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357847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A70362A-E362-46BD-90DD-2F5F9AAD3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6920" y="1357847"/>
            <a:ext cx="4185618" cy="57626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НЕПРАВИЛЬНО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9529F6-8B17-4ED7-A704-C9BD4027A13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/>
          <a:srcRect l="20122" t="13642" r="39162" b="39232"/>
          <a:stretch/>
        </p:blipFill>
        <p:spPr>
          <a:xfrm>
            <a:off x="6310991" y="2123792"/>
            <a:ext cx="5860407" cy="3815369"/>
          </a:xfrm>
          <a:prstGeom prst="rect">
            <a:avLst/>
          </a:prstGeom>
        </p:spPr>
      </p:pic>
      <p:sp>
        <p:nvSpPr>
          <p:cNvPr id="16" name="Овал 15">
            <a:extLst>
              <a:ext uri="{FF2B5EF4-FFF2-40B4-BE49-F238E27FC236}">
                <a16:creationId xmlns:a16="http://schemas.microsoft.com/office/drawing/2014/main" id="{640DFEA4-84AC-4B1E-9325-4F58868B2770}"/>
              </a:ext>
            </a:extLst>
          </p:cNvPr>
          <p:cNvSpPr/>
          <p:nvPr/>
        </p:nvSpPr>
        <p:spPr>
          <a:xfrm>
            <a:off x="9046346" y="3411496"/>
            <a:ext cx="1633491" cy="5762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90694801-D8DA-450F-A1F5-0B5A652664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29027" t="21926" r="24089" b="35456"/>
          <a:stretch/>
        </p:blipFill>
        <p:spPr>
          <a:xfrm>
            <a:off x="102021" y="2167229"/>
            <a:ext cx="5993979" cy="3064794"/>
          </a:xfrm>
          <a:prstGeom prst="rect">
            <a:avLst/>
          </a:prstGeom>
        </p:spPr>
      </p:pic>
      <p:sp>
        <p:nvSpPr>
          <p:cNvPr id="17" name="Овал 16">
            <a:extLst>
              <a:ext uri="{FF2B5EF4-FFF2-40B4-BE49-F238E27FC236}">
                <a16:creationId xmlns:a16="http://schemas.microsoft.com/office/drawing/2014/main" id="{6862E60D-9CEA-4401-A7FC-4C2118CA5B87}"/>
              </a:ext>
            </a:extLst>
          </p:cNvPr>
          <p:cNvSpPr/>
          <p:nvPr/>
        </p:nvSpPr>
        <p:spPr>
          <a:xfrm>
            <a:off x="20601" y="2028608"/>
            <a:ext cx="5993979" cy="75898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BFD43D2D-49D6-400B-A2EC-19BDF9909847}"/>
              </a:ext>
            </a:extLst>
          </p:cNvPr>
          <p:cNvSpPr/>
          <p:nvPr/>
        </p:nvSpPr>
        <p:spPr>
          <a:xfrm>
            <a:off x="6392411" y="3012001"/>
            <a:ext cx="1633491" cy="8497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61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Оформление иерархии бизнес-процессов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ED7314-40FC-447C-8EB0-CE3F42D3B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096" y="1676068"/>
            <a:ext cx="7135629" cy="510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37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Содержание таблицы с ресурсами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351BE8-0C73-4BED-B1B5-57AE0A2B6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9030" y="594235"/>
            <a:ext cx="4185623" cy="576262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ПРАВИЛЬНО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E6AF09-7CEF-4358-80CC-46BED620D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1" y="1070994"/>
            <a:ext cx="6086475" cy="5638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A3DC6E4-2CF7-4449-B5BF-8C5091A10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575" y="1170497"/>
            <a:ext cx="60674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Определение границ процесса и  подпроцесса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5CBFABB3-9BAD-4793-90A0-EAA05E119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2809"/>
            <a:ext cx="9363312" cy="3880773"/>
          </a:xfrm>
        </p:spPr>
        <p:txBody>
          <a:bodyPr>
            <a:normAutofit/>
          </a:bodyPr>
          <a:lstStyle/>
          <a:p>
            <a:r>
              <a:rPr lang="ru-RU" sz="2400" dirty="0"/>
              <a:t>Границы БП указываются отдельно, текстом в предложении. Сначала инициирующее событие, затем завершающее событие, в контексте того, что произошло</a:t>
            </a:r>
          </a:p>
          <a:p>
            <a:pPr marL="0" indent="0">
              <a:buNone/>
            </a:pPr>
            <a:r>
              <a:rPr lang="ru-RU" sz="2400" dirty="0"/>
              <a:t>Границы БП прописывают сразу после дерева функций.</a:t>
            </a:r>
          </a:p>
          <a:p>
            <a:r>
              <a:rPr lang="ru-RU" sz="2400" dirty="0"/>
              <a:t>После табличного описания БП и табличного описания ресурсов формируется таблица с границами всех подпроцессов через инициирующие и завершающие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1290880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F8C8D-C87F-4A05-90C5-24B12966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Определение границ процесса и  подпроцесса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1645804-6F86-421F-979C-0FD2C36D5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044" y="2106385"/>
            <a:ext cx="9363481" cy="232300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284577-A37E-4300-BF6A-BC57E676E7F9}"/>
              </a:ext>
            </a:extLst>
          </p:cNvPr>
          <p:cNvSpPr txBox="1"/>
          <p:nvPr/>
        </p:nvSpPr>
        <p:spPr>
          <a:xfrm>
            <a:off x="582044" y="4706224"/>
            <a:ext cx="7957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B050"/>
                </a:solidFill>
              </a:rPr>
              <a:t>Контекст либо Что сделали? либо Что сделано?</a:t>
            </a:r>
          </a:p>
        </p:txBody>
      </p:sp>
    </p:spTree>
    <p:extLst>
      <p:ext uri="{BB962C8B-B14F-4D97-AF65-F5344CB8AC3E}">
        <p14:creationId xmlns:p14="http://schemas.microsoft.com/office/powerpoint/2010/main" val="1843527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EF86B-FDFF-4A3D-964D-C9844D66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Модели бизнес-процесса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F42466E-D50D-4965-9874-BC5A5B490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050" t="20572" r="18085" b="7609"/>
          <a:stretch/>
        </p:blipFill>
        <p:spPr>
          <a:xfrm>
            <a:off x="612559" y="1349405"/>
            <a:ext cx="7385489" cy="524670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23E3B51-EFAB-4C51-B3D0-05A575871017}"/>
              </a:ext>
            </a:extLst>
          </p:cNvPr>
          <p:cNvSpPr/>
          <p:nvPr/>
        </p:nvSpPr>
        <p:spPr>
          <a:xfrm>
            <a:off x="830510" y="5998128"/>
            <a:ext cx="7063530" cy="7382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472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AD004-D02D-4C5B-A6AF-2450E482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Модели бизнес-процесса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363F11-A7D3-4AEC-A0F4-EB82E5F88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905" t="22100" r="21761" b="13858"/>
          <a:stretch/>
        </p:blipFill>
        <p:spPr>
          <a:xfrm>
            <a:off x="585925" y="1360503"/>
            <a:ext cx="7714696" cy="541381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B8521D-38DF-41BF-9249-B055D6DDD0F7}"/>
              </a:ext>
            </a:extLst>
          </p:cNvPr>
          <p:cNvSpPr/>
          <p:nvPr/>
        </p:nvSpPr>
        <p:spPr>
          <a:xfrm>
            <a:off x="830509" y="6023294"/>
            <a:ext cx="7470111" cy="71306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548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AD004-D02D-4C5B-A6AF-2450E482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Модели бизнес-процесса и их размещение на страницах </a:t>
            </a:r>
            <a:r>
              <a:rPr lang="ru-RU" dirty="0">
                <a:solidFill>
                  <a:schemeClr val="accent5"/>
                </a:solidFill>
              </a:rPr>
              <a:t>НЕПРАВИЛЬНО размещать текст на альбомном листе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8D8E70D-D167-4B30-A17A-391AAC8F9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383" t="21872" r="33781" b="10883"/>
          <a:stretch/>
        </p:blipFill>
        <p:spPr>
          <a:xfrm>
            <a:off x="1828801" y="2140251"/>
            <a:ext cx="6702640" cy="454049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2AD535-CD16-4236-A662-7351EF6DDA34}"/>
              </a:ext>
            </a:extLst>
          </p:cNvPr>
          <p:cNvSpPr/>
          <p:nvPr/>
        </p:nvSpPr>
        <p:spPr>
          <a:xfrm>
            <a:off x="1648356" y="2457974"/>
            <a:ext cx="7063530" cy="7382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72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2AD004-D02D-4C5B-A6AF-2450E482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Модели бизнес-процесса и их размещение на страницах </a:t>
            </a:r>
            <a:r>
              <a:rPr lang="ru-RU" dirty="0">
                <a:solidFill>
                  <a:schemeClr val="accent2"/>
                </a:solidFill>
              </a:rPr>
              <a:t>ПРАВИЛЬНО, КОГДА ЕСТЬ СОПРОВОЖДАЮЩИЙ ТЕКСТ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81EB4BC-813D-4FD0-A644-ACCEE03BF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677" t="22329" r="2849" b="7225"/>
          <a:stretch/>
        </p:blipFill>
        <p:spPr>
          <a:xfrm>
            <a:off x="443884" y="2166150"/>
            <a:ext cx="10656657" cy="4616389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65A367BE-EF86-4954-9C90-752629E54FBD}"/>
              </a:ext>
            </a:extLst>
          </p:cNvPr>
          <p:cNvSpPr/>
          <p:nvPr/>
        </p:nvSpPr>
        <p:spPr>
          <a:xfrm>
            <a:off x="443884" y="4270159"/>
            <a:ext cx="3284737" cy="3462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FDB0056-4A3A-4257-8847-60B5B8A73B25}"/>
              </a:ext>
            </a:extLst>
          </p:cNvPr>
          <p:cNvSpPr/>
          <p:nvPr/>
        </p:nvSpPr>
        <p:spPr>
          <a:xfrm>
            <a:off x="3923930" y="6391921"/>
            <a:ext cx="3284737" cy="3462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046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047CD-0891-4188-A820-18FE69CCF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Отражение изменения в модели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9E791D6-60F1-47EA-8C97-A0DFFBB67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624" t="27361" r="35656" b="20719"/>
          <a:stretch/>
        </p:blipFill>
        <p:spPr>
          <a:xfrm>
            <a:off x="677333" y="1413769"/>
            <a:ext cx="8561770" cy="483463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950640-B2EE-447C-9F2B-697E5A34001F}"/>
              </a:ext>
            </a:extLst>
          </p:cNvPr>
          <p:cNvSpPr/>
          <p:nvPr/>
        </p:nvSpPr>
        <p:spPr>
          <a:xfrm>
            <a:off x="6347534" y="3994951"/>
            <a:ext cx="2926468" cy="11540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84ACB6-3C39-468B-B42F-0CCBF4454B2A}"/>
              </a:ext>
            </a:extLst>
          </p:cNvPr>
          <p:cNvSpPr/>
          <p:nvPr/>
        </p:nvSpPr>
        <p:spPr>
          <a:xfrm>
            <a:off x="967666" y="4909846"/>
            <a:ext cx="6400800" cy="11540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242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047CD-0891-4188-A820-18FE69CCF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Третий и четвертый раздел КР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341ACB-0F78-4331-AFD4-BD7878842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r>
              <a:rPr lang="ru-RU" sz="2400" dirty="0"/>
              <a:t>Методологии и нотации должны совпадать</a:t>
            </a:r>
          </a:p>
          <a:p>
            <a:r>
              <a:rPr lang="ru-RU" sz="2400" dirty="0"/>
              <a:t>Уровни представления моделей должны совпадать (от верхнего уровня до нижнего) </a:t>
            </a:r>
            <a:r>
              <a:rPr lang="ru-RU" sz="2400" dirty="0">
                <a:solidFill>
                  <a:srgbClr val="FF0000"/>
                </a:solidFill>
              </a:rPr>
              <a:t>НЕЛЬЗЯ ПОКАЗЫВАТЬ ТОЛЬКО ИЗМЕНЕНИЯ</a:t>
            </a:r>
          </a:p>
          <a:p>
            <a:r>
              <a:rPr lang="ru-RU" sz="2400" dirty="0">
                <a:solidFill>
                  <a:schemeClr val="tx1"/>
                </a:solidFill>
              </a:rPr>
              <a:t>В параграфе 4.2 сделать расчёты, связанные с изменением БП (помнить о единицах измерениях, расчеты формировать через редактор формул либо через таблицу с соответствующими столбцами)</a:t>
            </a:r>
          </a:p>
        </p:txBody>
      </p:sp>
    </p:spTree>
    <p:extLst>
      <p:ext uri="{BB962C8B-B14F-4D97-AF65-F5344CB8AC3E}">
        <p14:creationId xmlns:p14="http://schemas.microsoft.com/office/powerpoint/2010/main" val="767188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047CD-0891-4188-A820-18FE69CC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5716"/>
            <a:ext cx="11209866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Чек-лист проверки и допуска курсовой работы к защите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F66F02-1FE9-4FB6-AEB4-7BB448141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87755"/>
            <a:ext cx="9842705" cy="5271363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Оформление курсовой работы – Выполнено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Выполнено частично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ru-RU" dirty="0">
                <a:solidFill>
                  <a:schemeClr val="tx1"/>
                </a:solidFill>
              </a:rPr>
              <a:t>снижение оценки)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 выполнено (однозначный возврат на доработку)</a:t>
            </a:r>
          </a:p>
          <a:p>
            <a:r>
              <a:rPr lang="ru-RU" dirty="0">
                <a:solidFill>
                  <a:schemeClr val="tx1"/>
                </a:solidFill>
              </a:rPr>
              <a:t>Наличие всех частей курсовой работы –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r>
              <a:rPr lang="ru-RU" dirty="0">
                <a:solidFill>
                  <a:schemeClr val="tx1"/>
                </a:solidFill>
              </a:rPr>
              <a:t>Наличие грамотного, безошибочно написанного текста; написанного научным, деловым языком с использованием профессиональной лексики по моделированию БП -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Присутствуют личные местоимения и глаголы в небольшом количестве (снижение оценки)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r>
              <a:rPr lang="ru-RU" dirty="0">
                <a:solidFill>
                  <a:schemeClr val="tx1"/>
                </a:solidFill>
              </a:rPr>
              <a:t>Наличие требуемого логичного и полного содержания по разделам и параграфам –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r>
              <a:rPr lang="ru-RU" dirty="0">
                <a:solidFill>
                  <a:schemeClr val="tx1"/>
                </a:solidFill>
              </a:rPr>
              <a:t>Наличие наименований, связанных с предметной областью исследования; правильность применения терминологии, в том числе применительно к наименованию документов, позволяющих идентифицировать однозначно назначение и содержание документа, а также отсутствие двойственности в наименовании -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r>
              <a:rPr lang="ru-RU" dirty="0">
                <a:solidFill>
                  <a:schemeClr val="tx1"/>
                </a:solidFill>
              </a:rPr>
              <a:t>Наличие связанности второго и третьего разделов –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Частичная </a:t>
            </a:r>
            <a:r>
              <a:rPr lang="ru-RU" dirty="0" err="1">
                <a:solidFill>
                  <a:schemeClr val="tx1"/>
                </a:solidFill>
              </a:rPr>
              <a:t>несвязанность</a:t>
            </a:r>
            <a:r>
              <a:rPr lang="ru-RU" dirty="0">
                <a:solidFill>
                  <a:schemeClr val="tx1"/>
                </a:solidFill>
              </a:rPr>
              <a:t> (снижение оценки)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r>
              <a:rPr lang="ru-RU" dirty="0">
                <a:solidFill>
                  <a:schemeClr val="tx1"/>
                </a:solidFill>
              </a:rPr>
              <a:t>Наличие связанности третьего и четвертого разделов –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 Частичная </a:t>
            </a:r>
            <a:r>
              <a:rPr lang="ru-RU" dirty="0" err="1">
                <a:solidFill>
                  <a:schemeClr val="tx1"/>
                </a:solidFill>
              </a:rPr>
              <a:t>несвязанность</a:t>
            </a:r>
            <a:r>
              <a:rPr lang="ru-RU" dirty="0">
                <a:solidFill>
                  <a:schemeClr val="tx1"/>
                </a:solidFill>
              </a:rPr>
              <a:t> (снижение оценки)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r>
              <a:rPr lang="ru-RU" b="1" dirty="0">
                <a:solidFill>
                  <a:schemeClr val="tx1"/>
                </a:solidFill>
              </a:rPr>
              <a:t>Правильно построенные модели, отсутствие семантических ошибок в моделях БП </a:t>
            </a:r>
            <a:r>
              <a:rPr lang="ru-RU" dirty="0">
                <a:solidFill>
                  <a:schemeClr val="tx1"/>
                </a:solidFill>
              </a:rPr>
              <a:t>– Есть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 Незначительные ошибки (снижение оценки)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Нет (однозначный возврат на доработку)</a:t>
            </a: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53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047CD-0891-4188-A820-18FE69CC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95" y="245615"/>
            <a:ext cx="11441014" cy="13208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Основные ошибки в моделях, которые допускают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F66F02-1FE9-4FB6-AEB4-7BB448141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456" y="1048058"/>
            <a:ext cx="9079225" cy="5271363"/>
          </a:xfrm>
        </p:spPr>
        <p:txBody>
          <a:bodyPr>
            <a:normAutofit fontScale="92500"/>
          </a:bodyPr>
          <a:lstStyle/>
          <a:p>
            <a:r>
              <a:rPr lang="ru-RU" dirty="0">
                <a:solidFill>
                  <a:srgbClr val="0070C0"/>
                </a:solidFill>
              </a:rPr>
              <a:t>В </a:t>
            </a:r>
            <a:r>
              <a:rPr lang="en-US" dirty="0">
                <a:solidFill>
                  <a:srgbClr val="0070C0"/>
                </a:solidFill>
              </a:rPr>
              <a:t>IDEF0 </a:t>
            </a:r>
            <a:r>
              <a:rPr lang="ru-RU" dirty="0">
                <a:solidFill>
                  <a:schemeClr val="tx1"/>
                </a:solidFill>
              </a:rPr>
              <a:t>на вход информационный поток, на выход – материальный поток </a:t>
            </a:r>
            <a:r>
              <a:rPr lang="ru-RU" dirty="0">
                <a:solidFill>
                  <a:srgbClr val="FF0000"/>
                </a:solidFill>
              </a:rPr>
              <a:t>ТАКОГО БЫТЬ НЕ МОЖЕТ</a:t>
            </a:r>
          </a:p>
          <a:p>
            <a:r>
              <a:rPr lang="ru-RU" dirty="0">
                <a:solidFill>
                  <a:schemeClr val="tx1"/>
                </a:solidFill>
              </a:rPr>
              <a:t>Отсутствие потока управления без туннелирования на верхнем уровне</a:t>
            </a:r>
          </a:p>
          <a:p>
            <a:r>
              <a:rPr lang="ru-RU" dirty="0">
                <a:solidFill>
                  <a:schemeClr val="tx1"/>
                </a:solidFill>
              </a:rPr>
              <a:t>Неправильное понимание Входа, Выхода, Потока управления и Ресурса исполнения</a:t>
            </a:r>
          </a:p>
          <a:p>
            <a:r>
              <a:rPr lang="ru-RU" dirty="0">
                <a:solidFill>
                  <a:schemeClr val="tx1"/>
                </a:solidFill>
              </a:rPr>
              <a:t>Некорректное название потока, не позволяющее идентифицировать его как информационный поток (например, выполненные работы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работы выполнены на Входе или Выходе это ошибка, так как работы материальны по сути, правильно Акт выполненных работ) Информационный поток это данные, показатели, документы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Деньги это материальный поток, Сумма денежных средств это информационный поток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Заказ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заявка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ru-RU" dirty="0">
                <a:solidFill>
                  <a:schemeClr val="tx1"/>
                </a:solidFill>
              </a:rPr>
              <a:t>запрос - информационный поток на Входе, на Выходе может быть Договор, Акт выполненных работ, Квитанция, Платежное поручение, Запрос к поставщику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Ягоды, вода, сахар – материальный поток на Входе, на Выходе может быть варенье, компот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Выручка, себестоимость продаж, управленческие расходы, коммерческие расходы – информационные потоки в виде показателей, на Выходе – Прибыль (убыток) от продаж</a:t>
            </a:r>
          </a:p>
          <a:p>
            <a:endParaRPr lang="ru-RU" dirty="0">
              <a:solidFill>
                <a:srgbClr val="0070C0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368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047CD-0891-4188-A820-18FE69CC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16637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Основные ошибки в моделях, которые допускают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F66F02-1FE9-4FB6-AEB4-7BB448141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7437"/>
            <a:ext cx="9079225" cy="448273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В </a:t>
            </a:r>
            <a:r>
              <a:rPr lang="en-US" dirty="0">
                <a:solidFill>
                  <a:srgbClr val="0070C0"/>
                </a:solidFill>
              </a:rPr>
              <a:t>BPMN </a:t>
            </a:r>
            <a:r>
              <a:rPr lang="ru-RU" dirty="0">
                <a:solidFill>
                  <a:schemeClr val="tx1"/>
                </a:solidFill>
              </a:rPr>
              <a:t>включение внешнего поставщика или потребителя в пул с процессом.</a:t>
            </a:r>
          </a:p>
          <a:p>
            <a:r>
              <a:rPr lang="ru-RU" dirty="0">
                <a:solidFill>
                  <a:schemeClr val="tx1"/>
                </a:solidFill>
              </a:rPr>
              <a:t>Неправильное применение шлюзов или их отсутствие </a:t>
            </a:r>
          </a:p>
          <a:p>
            <a:r>
              <a:rPr lang="ru-RU" dirty="0">
                <a:solidFill>
                  <a:schemeClr val="tx1"/>
                </a:solidFill>
              </a:rPr>
              <a:t>Неправильное применение типов задач и увлеченность задачами «Отправка сообщения» и «Получение сообщения»</a:t>
            </a:r>
          </a:p>
          <a:p>
            <a:r>
              <a:rPr lang="ru-RU" dirty="0">
                <a:solidFill>
                  <a:schemeClr val="tx1"/>
                </a:solidFill>
              </a:rPr>
              <a:t>Неподписанные коннекторы сообщений между пулами</a:t>
            </a:r>
          </a:p>
          <a:p>
            <a:pPr mar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rgbClr val="0070C0"/>
                </a:solidFill>
              </a:rPr>
              <a:t>В </a:t>
            </a:r>
            <a:r>
              <a:rPr lang="en-US" dirty="0">
                <a:solidFill>
                  <a:srgbClr val="0070C0"/>
                </a:solidFill>
              </a:rPr>
              <a:t>ARIS 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неправильное наименование событий и функций</a:t>
            </a:r>
          </a:p>
          <a:p>
            <a:r>
              <a:rPr lang="ru-RU" dirty="0">
                <a:solidFill>
                  <a:schemeClr val="tx1"/>
                </a:solidFill>
              </a:rPr>
              <a:t>Желание все разместить на одной модели, забыв про декомпозицию</a:t>
            </a:r>
          </a:p>
          <a:p>
            <a:r>
              <a:rPr lang="ru-RU" dirty="0">
                <a:solidFill>
                  <a:schemeClr val="tx1"/>
                </a:solidFill>
              </a:rPr>
              <a:t>Неправильное применение логических правил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363935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</TotalTime>
  <Words>752</Words>
  <Application>Microsoft Office PowerPoint</Application>
  <PresentationFormat>Широкоэкранный</PresentationFormat>
  <Paragraphs>84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Аспект</vt:lpstr>
      <vt:lpstr>Курсовая работа!  На что обратить внимание!</vt:lpstr>
      <vt:lpstr>Оформление СОДЕРЖАНИЯ</vt:lpstr>
      <vt:lpstr>Оформление ВВЕДЕНИЯ и текст в нем</vt:lpstr>
      <vt:lpstr>Оформление курсовой работы. Заголовки</vt:lpstr>
      <vt:lpstr>Оформление курсовой работы. Текст и списки</vt:lpstr>
      <vt:lpstr>Оформление курсовой работы.  Текст и списки</vt:lpstr>
      <vt:lpstr>Оформление курсовой работы.  Текст и списки</vt:lpstr>
      <vt:lpstr>Оформление курсовой работы.  Размещение текста и рисунков, а также таблиц</vt:lpstr>
      <vt:lpstr>Оформление курсовой работы. Подписи к рисункам</vt:lpstr>
      <vt:lpstr>Оформление курсовой работы. Подписи к таблицам</vt:lpstr>
      <vt:lpstr>Оформление иерархии бизнес-процессов</vt:lpstr>
      <vt:lpstr>Содержание таблицы с ресурсами</vt:lpstr>
      <vt:lpstr>Определение границ процесса и  подпроцесса</vt:lpstr>
      <vt:lpstr>Определение границ процесса и  подпроцесса</vt:lpstr>
      <vt:lpstr>Модели бизнес-процесса</vt:lpstr>
      <vt:lpstr>Модели бизнес-процесса</vt:lpstr>
      <vt:lpstr>Модели бизнес-процесса и их размещение на страницах НЕПРАВИЛЬНО размещать текст на альбомном листе</vt:lpstr>
      <vt:lpstr>Модели бизнес-процесса и их размещение на страницах ПРАВИЛЬНО, КОГДА ЕСТЬ СОПРОВОЖДАЮЩИЙ ТЕКСТ</vt:lpstr>
      <vt:lpstr>Отражение изменения в модели</vt:lpstr>
      <vt:lpstr>Третий и четвертый раздел КР</vt:lpstr>
      <vt:lpstr>Чек-лист проверки и допуска курсовой работы к защите</vt:lpstr>
      <vt:lpstr>Основные ошибки в моделях, которые допускают</vt:lpstr>
      <vt:lpstr>Основные ошибки в моделях, которые допускают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работа!  На что обратить внимание!</dc:title>
  <dc:creator>jvk05@mail.ru</dc:creator>
  <cp:lastModifiedBy>Юлия Кириллина</cp:lastModifiedBy>
  <cp:revision>31</cp:revision>
  <dcterms:created xsi:type="dcterms:W3CDTF">2020-11-25T09:50:12Z</dcterms:created>
  <dcterms:modified xsi:type="dcterms:W3CDTF">2025-04-06T15:33:55Z</dcterms:modified>
</cp:coreProperties>
</file>