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dafa4ee82c4035" /><Relationship Type="http://schemas.openxmlformats.org/officeDocument/2006/relationships/extended-properties" Target="/docProps/app.xml" Id="R1cd97adfc2f040e7" /><Relationship Type="http://schemas.openxmlformats.org/officeDocument/2006/relationships/officeDocument" Target="/ppt/presentation.xml" Id="R2351122f0ab64e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4ed1d56c1a421f"/>
  </p:sldMasterIdLst>
  <p:notesMasterIdLst>
    <p:notesMasterId xmlns:r="http://schemas.openxmlformats.org/officeDocument/2006/relationships" r:id="R21a73980ee9f44d4"/>
  </p:notesMasterIdLst>
  <p:sldIdLst>
    <p:sldId xmlns:r="http://schemas.openxmlformats.org/officeDocument/2006/relationships" id="256" r:id="R70a4459cb3cc4c9c"/>
    <p:sldId xmlns:r="http://schemas.openxmlformats.org/officeDocument/2006/relationships" id="257" r:id="R2f10d98c56564b50"/>
    <p:sldId xmlns:r="http://schemas.openxmlformats.org/officeDocument/2006/relationships" id="258" r:id="Rc5ff3366880f432f"/>
    <p:sldId xmlns:r="http://schemas.openxmlformats.org/officeDocument/2006/relationships" id="259" r:id="Rb4dfe161bd0144f8"/>
    <p:sldId xmlns:r="http://schemas.openxmlformats.org/officeDocument/2006/relationships" id="260" r:id="R699095559d234601"/>
    <p:sldId xmlns:r="http://schemas.openxmlformats.org/officeDocument/2006/relationships" id="261" r:id="Rd4a3351f336040a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d3e0b131f743e5" /><Relationship Type="http://schemas.openxmlformats.org/officeDocument/2006/relationships/slideMaster" Target="/ppt/slideMasters/slideMaster1.xml" Id="R194ed1d56c1a421f" /><Relationship Type="http://schemas.openxmlformats.org/officeDocument/2006/relationships/notesMaster" Target="/ppt/notesMasters/notesMaster1.xml" Id="R21a73980ee9f44d4" /><Relationship Type="http://schemas.openxmlformats.org/officeDocument/2006/relationships/presProps" Target="/ppt/presProps.xml" Id="Rb3ea0ceb3e644809" /><Relationship Type="http://schemas.openxmlformats.org/officeDocument/2006/relationships/tableStyles" Target="/ppt/tableStyles.xml" Id="Rbaddea2b36bf423b" /><Relationship Type="http://schemas.openxmlformats.org/officeDocument/2006/relationships/slide" Target="/ppt/slides/slide1.xml" Id="R70a4459cb3cc4c9c" /><Relationship Type="http://schemas.openxmlformats.org/officeDocument/2006/relationships/slide" Target="/ppt/slides/slide2.xml" Id="R2f10d98c56564b50" /><Relationship Type="http://schemas.openxmlformats.org/officeDocument/2006/relationships/slide" Target="/ppt/slides/slide3.xml" Id="Rc5ff3366880f432f" /><Relationship Type="http://schemas.openxmlformats.org/officeDocument/2006/relationships/slide" Target="/ppt/slides/slide4.xml" Id="Rb4dfe161bd0144f8" /><Relationship Type="http://schemas.openxmlformats.org/officeDocument/2006/relationships/slide" Target="/ppt/slides/slide5.xml" Id="R699095559d234601" /><Relationship Type="http://schemas.openxmlformats.org/officeDocument/2006/relationships/slide" Target="/ppt/slides/slide6.xml" Id="Rd4a3351f336040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ac2da79fbb4c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01679f93e74b99" /><Relationship Type="http://schemas.openxmlformats.org/officeDocument/2006/relationships/notesMaster" Target="/ppt/notesMasters/notesMaster1.xml" Id="R537bc9a37e5b44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444fadacc034857" /><Relationship Type="http://schemas.openxmlformats.org/officeDocument/2006/relationships/notesMaster" Target="/ppt/notesMasters/notesMaster1.xml" Id="R3dd42ebbcfd84ca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2cf9f80aa834d7c" /><Relationship Type="http://schemas.openxmlformats.org/officeDocument/2006/relationships/notesMaster" Target="/ppt/notesMasters/notesMaster1.xml" Id="Rc08589c68ec843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bb9a9db6f04c9e" /><Relationship Type="http://schemas.openxmlformats.org/officeDocument/2006/relationships/notesMaster" Target="/ppt/notesMasters/notesMaster1.xml" Id="R8afea29c79a1445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0636ed05ba34e39" /><Relationship Type="http://schemas.openxmlformats.org/officeDocument/2006/relationships/notesMaster" Target="/ppt/notesMasters/notesMaster1.xml" Id="R0cda647887584a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6729b46ee9040dd" /><Relationship Type="http://schemas.openxmlformats.org/officeDocument/2006/relationships/notesMaster" Target="/ppt/notesMasters/notesMaster1.xml" Id="R48d5a46fec2b41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>При временном сбое сохраняется прежняя дата данных. Канал поставщика требует согласования.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>Потеря ответа требует сверки. Локальный ключ не гарантирует идемпотентность Ozon.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Методические материалы РОП, практические занятия 1–8, 2026–2027. Вариант: первая практика Албахтина И.В. Полные схемы и описание: единый отчёт в комплекте. Все параметры нагрузки и примеры расчётов — учебные проектные значения.</a:t>
            </a:r>
          </a:p>
          <a:p xmlns:a="http://schemas.openxmlformats.org/drawingml/2006/main">
            <a:r>
              <a:t>OWASP Password Storage, Authorization и Transport Layer Security Cheat Sheets.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2dcc14a2a846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7c74ae0ea64874" /><Relationship Type="http://schemas.openxmlformats.org/officeDocument/2006/relationships/slideLayout" Target="/ppt/slideLayouts/slideLayout1.xml" Id="R8627133812cf45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27133812cf45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365e46b23e4335" /><Relationship Type="http://schemas.openxmlformats.org/officeDocument/2006/relationships/notesSlide" Target="/ppt/notesSlides/notesSlide1.xml" Id="Rd27b6412773f47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3bddaccf494a4b" /><Relationship Type="http://schemas.openxmlformats.org/officeDocument/2006/relationships/notesSlide" Target="/ppt/notesSlides/notesSlide2.xml" Id="R3e5f3b9158064d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2028d4921a45f7" /><Relationship Type="http://schemas.openxmlformats.org/officeDocument/2006/relationships/notesSlide" Target="/ppt/notesSlides/notesSlide3.xml" Id="R1fee55c800084fb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8f487d4c314137" /><Relationship Type="http://schemas.openxmlformats.org/officeDocument/2006/relationships/notesSlide" Target="/ppt/notesSlides/notesSlide4.xml" Id="R09117304d71349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a45eb866bd486e" /><Relationship Type="http://schemas.openxmlformats.org/officeDocument/2006/relationships/notesSlide" Target="/ppt/notesSlides/notesSlide5.xml" Id="R3790405bb5f2431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af682522e74d19" /><Relationship Type="http://schemas.openxmlformats.org/officeDocument/2006/relationships/notesSlide" Target="/ppt/notesSlides/notesSlide6.xml" Id="Rffa9fd55540c401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D49D1D-8B13-4E41-B79A-3A40D0D9B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Практическое занятие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06FD65-E8DD-4196-804D-643F941EC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0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Интеграции и управление доступом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282AF8-401E-4CEA-9151-41F9C42F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57625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Два сценария интеграции связывают внешний обмен с устойчивым состоянием системы.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B76722-2C51-415A-AE26-F3473002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721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Албахтин И.В.   ИНБО-12-23</a:t>
            </a:r>
          </a:p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Разработка обеспечивающих подсистем   2026</a:t>
            </a:r>
          </a:p>
        </p:txBody>
      </p:sp>
    </p:spTree>
    <p:extLst>
      <p:ext uri="{BB962C8B-B14F-4D97-AF65-F5344CB8AC3E}">
        <p14:creationId xmlns:p14="http://schemas.microsoft.com/office/powerpoint/2010/main" val="18878098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6407A8-FF9D-4BB3-8A6C-DFD574AB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Обновление предложений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673380-BFAA-400D-B5C4-CBBD59CB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1381125"/>
            <a:ext cx="1562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3333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>
                <a:latin typeface="Arial"/>
                <a:ea typeface="Arial"/>
                <a:cs typeface="Arial"/>
              </a:defRPr>
            </a:pPr>
            <a:r>
              <a:rPr sz="1725">
                <a:latin typeface="Arial"/>
                <a:ea typeface="Arial"/>
                <a:cs typeface="Arial"/>
              </a:rPr>
              <a:t>Склад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9D462C-886E-4272-A1EA-58770CA0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66925"/>
            <a:ext cx="0" cy="36195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88888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F9F565-0381-44CE-9D78-E7FD610C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325" y="1381125"/>
            <a:ext cx="1562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3333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>
                <a:latin typeface="Arial"/>
                <a:ea typeface="Arial"/>
                <a:cs typeface="Arial"/>
              </a:defRPr>
            </a:pPr>
            <a:r>
              <a:rPr sz="1725">
                <a:latin typeface="Arial"/>
                <a:ea typeface="Arial"/>
                <a:cs typeface="Arial"/>
              </a:rPr>
              <a:t>Сервис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71F778-2488-4128-A51E-DDECF58CB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7375" y="2066925"/>
            <a:ext cx="0" cy="36195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88888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5881B1-636A-4448-8C38-CE5732F26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575" y="1381125"/>
            <a:ext cx="1562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3333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>
                <a:latin typeface="Arial"/>
                <a:ea typeface="Arial"/>
                <a:cs typeface="Arial"/>
              </a:defRPr>
            </a:pPr>
            <a:r>
              <a:rPr sz="1725">
                <a:latin typeface="Arial"/>
                <a:ea typeface="Arial"/>
                <a:cs typeface="Arial"/>
              </a:rPr>
              <a:t>Адаптер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D7CE08-F85B-49CF-B603-B7FBB9D7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4625" y="2066925"/>
            <a:ext cx="0" cy="36195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88888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E88E3A-AB7C-4768-833D-67EE7B26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1381125"/>
            <a:ext cx="1562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3333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>
                <a:latin typeface="Arial"/>
                <a:ea typeface="Arial"/>
                <a:cs typeface="Arial"/>
              </a:defRPr>
            </a:pPr>
            <a:r>
              <a:rPr sz="1725">
                <a:latin typeface="Arial"/>
                <a:ea typeface="Arial"/>
                <a:cs typeface="Arial"/>
              </a:rPr>
              <a:t>Поставщик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24271E-5C05-4A92-B58C-56766A53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2066925"/>
            <a:ext cx="0" cy="36195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88888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3F0298-F044-460C-BE96-456671A1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05075"/>
            <a:ext cx="3397250" cy="1047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6C887C-7965-40F7-A394-7ED19EF8F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162175"/>
            <a:ext cx="328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Обновить данные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11ED92-44DA-4A0D-B627-FF6AB43C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7375" y="3124200"/>
            <a:ext cx="3397250" cy="1047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6AAB69-E970-471A-89D6-61020611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781300"/>
            <a:ext cx="328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Запрос предложений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EC1DFE-1783-4953-8984-48FE88CC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4625" y="3743325"/>
            <a:ext cx="3397250" cy="1047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79C29D-35C5-4A78-8803-777DB8FE9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9875" y="3400425"/>
            <a:ext cx="328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HTTPS / формат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D4F473-D2C3-4AD1-9BC0-3358B788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4625" y="4362450"/>
            <a:ext cx="3397250" cy="10477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C08EF5-45EA-4E93-A185-D37C7354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9875" y="4019550"/>
            <a:ext cx="328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Цена, остаток, дата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0DED9F-9250-4802-BCA7-A5E3DFD99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7375" y="4981575"/>
            <a:ext cx="3397250" cy="10477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8ABD1A-4A73-4B46-B3A4-A8AC09FD6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4638675"/>
            <a:ext cx="328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Проверенные записи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25B60F-C36A-4DB9-B9FA-3DA4D4643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769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При временном сбое сохраняется прежняя дата данных. Канал поставщика требует согласования.</a:t>
            </a:r>
          </a:p>
        </p:txBody>
      </p:sp>
    </p:spTree>
    <p:extLst>
      <p:ext uri="{BB962C8B-B14F-4D97-AF65-F5344CB8AC3E}">
        <p14:creationId xmlns:p14="http://schemas.microsoft.com/office/powerpoint/2010/main" val="5119597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02F08F-FCEC-440E-BABF-14DCE9C4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Публикация карточки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264605-C5E6-4636-9981-6D6CE3A6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" y="1381125"/>
            <a:ext cx="1562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3333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>
                <a:latin typeface="Arial"/>
                <a:ea typeface="Arial"/>
                <a:cs typeface="Arial"/>
              </a:defRPr>
            </a:pPr>
            <a:r>
              <a:rPr sz="1725">
                <a:latin typeface="Arial"/>
                <a:ea typeface="Arial"/>
                <a:cs typeface="Arial"/>
              </a:rPr>
              <a:t>Менеджер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E54D82-B2CC-406E-9A7D-24C58EA0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66925"/>
            <a:ext cx="0" cy="36195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88888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3BF334-B505-4E46-9A46-851C4A386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325" y="1381125"/>
            <a:ext cx="1562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3333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>
                <a:latin typeface="Arial"/>
                <a:ea typeface="Arial"/>
                <a:cs typeface="Arial"/>
              </a:defRPr>
            </a:pPr>
            <a:r>
              <a:rPr sz="1725">
                <a:latin typeface="Arial"/>
                <a:ea typeface="Arial"/>
                <a:cs typeface="Arial"/>
              </a:rPr>
              <a:t>API / БД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8A4055-36C0-453B-A6AE-EB09C992D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7375" y="2066925"/>
            <a:ext cx="0" cy="36195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88888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992C9B-7698-445D-AFB7-6153837AF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575" y="1381125"/>
            <a:ext cx="1562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3333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>
                <a:latin typeface="Arial"/>
                <a:ea typeface="Arial"/>
                <a:cs typeface="Arial"/>
              </a:defRPr>
            </a:pPr>
            <a:r>
              <a:rPr sz="1725">
                <a:latin typeface="Arial"/>
                <a:ea typeface="Arial"/>
                <a:cs typeface="Arial"/>
              </a:rPr>
              <a:t>Worker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34C02E-6AAE-486C-91DE-75F97DEB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4625" y="2066925"/>
            <a:ext cx="0" cy="36195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88888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E753F9-CFB8-4462-9F0E-9B0BEDF6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1381125"/>
            <a:ext cx="1562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3333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>
                <a:latin typeface="Arial"/>
                <a:ea typeface="Arial"/>
                <a:cs typeface="Arial"/>
              </a:defRPr>
            </a:pPr>
            <a:r>
              <a:rPr sz="1725">
                <a:latin typeface="Arial"/>
                <a:ea typeface="Arial"/>
                <a:cs typeface="Arial"/>
              </a:rPr>
              <a:t>Ozon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8B0503-DBF0-49FA-9A99-A4E73DD64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2066925"/>
            <a:ext cx="0" cy="36195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88888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3EFE8D-8984-4F0B-9DC7-A1036244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05075"/>
            <a:ext cx="3397250" cy="1047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52CA73-7E1F-472A-80E5-2E487685C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162175"/>
            <a:ext cx="328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Утвердить версию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FC9E3A-603E-48F8-852D-B4108062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7375" y="3124200"/>
            <a:ext cx="3397250" cy="1047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E30CE1-9B1B-401C-83EC-CBC06F9E6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781300"/>
            <a:ext cx="328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Очередь и ключ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757D74-C3D1-4843-BC48-BDFCB0D70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4625" y="3743325"/>
            <a:ext cx="3397250" cy="1047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97E6A2-6CC1-42B9-B3CA-A04AB238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9875" y="3400425"/>
            <a:ext cx="328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HTTPS / 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E41DD6-D5BB-43AB-9DA4-9C233F85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4625" y="4362450"/>
            <a:ext cx="3397250" cy="10477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772FCC-0ADA-4ADD-B62E-B80A2B68B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9875" y="4019550"/>
            <a:ext cx="328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ID задачи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2373C7-D512-4389-9940-218B88BC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4625" y="4981575"/>
            <a:ext cx="3397250" cy="1047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1222F8-FE63-4478-925F-7CA4E1754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9875" y="4638675"/>
            <a:ext cx="328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Сверить результат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315A2A-E510-4651-92B1-5D89DF8F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769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Потеря ответа требует сверки. Локальный ключ не гарантирует идемпотентность Ozon.</a:t>
            </a:r>
          </a:p>
        </p:txBody>
      </p:sp>
    </p:spTree>
    <p:extLst>
      <p:ext uri="{BB962C8B-B14F-4D97-AF65-F5344CB8AC3E}">
        <p14:creationId xmlns:p14="http://schemas.microsoft.com/office/powerpoint/2010/main" val="20885314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4E3E2A-4EB9-4864-BF6E-859B08252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Разделение обязанностей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4476750"/>
                <a:gridCol w="3714750"/>
              </a:tblGrid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Роль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Основное право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Ограничение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Менеджер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Утверждать и публиковать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Без управления ролями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Инженер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BOM и массовая замена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Без автопубликации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Склад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Предложения и SKU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Без правил цены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Дизайнер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Контент и изображения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Без закупочных цен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Администратор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Доступ и аудит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Без бизнес-прав по умолчанию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53240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82D11C-9183-4B4C-82E1-0C8DD087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Ошибки внешней операции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571500" y="1428750"/>
          <a:ext xmlns:a="http://schemas.openxmlformats.org/drawingml/2006/main" cx="110490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6953250"/>
              </a:tblGrid>
              <a:tr h="914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Ситуация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Решение</a:t>
                      </a:r>
                    </a:p>
                  </a:txBody>
                  <a:tcPr marL="91440" marR="91440" marT="45720" marB="45720">
                    <a:solidFill>
                      <a:srgbClr val="F1F1F1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Временный отказ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Ограниченный повтор, не больше трёх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Неизвестный результат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UNCERTAIN и сверка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Постоянная ошибка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FAILED и уведомление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Версия устарела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Новая проверка и утверждение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15838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653AC8-9C55-4C70-B12B-4AFED1737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4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Меры защиты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1262DD-0EC4-464C-B593-09E53B72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Argon2id, индивидуальные учётные записи и MFA администратора.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72BC15-5197-49ED-908C-6045485E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Серверная RBAC-проверка каждой операции, по умолчанию запрет.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A802ED-B193-4DB6-A800-F8C0EB29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TLS, защищённое хранение секретов, валидация ответов.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5EB16D-92CE-4BBD-A1A8-3DB9120A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2440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Неизменяемый аудит и ежедневные резервные копии.</a:t>
            </a:r>
          </a:p>
        </p:txBody>
      </p:sp>
    </p:spTree>
    <p:extLst>
      <p:ext uri="{BB962C8B-B14F-4D97-AF65-F5344CB8AC3E}">
        <p14:creationId xmlns:p14="http://schemas.microsoft.com/office/powerpoint/2010/main" val="18109820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2026-09-17T13:02:45.0560000Z</dcterms:created>
  <dcterms:modified xsi:type="dcterms:W3CDTF">2026-09-17T13:02:45.0560000Z</dcterms:modified>
</coreProperties>
</file>