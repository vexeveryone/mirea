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19a5312858d488b" /><Relationship Type="http://schemas.openxmlformats.org/officeDocument/2006/relationships/extended-properties" Target="/docProps/app.xml" Id="Rf4f9e4046d4840fd" /><Relationship Type="http://schemas.openxmlformats.org/officeDocument/2006/relationships/officeDocument" Target="/ppt/presentation.xml" Id="Rf5fe1b1a77da4cf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90047d3338f427d"/>
  </p:sldMasterIdLst>
  <p:notesMasterIdLst>
    <p:notesMasterId xmlns:r="http://schemas.openxmlformats.org/officeDocument/2006/relationships" r:id="R5fbeacf26a774bce"/>
  </p:notesMasterIdLst>
  <p:sldIdLst>
    <p:sldId xmlns:r="http://schemas.openxmlformats.org/officeDocument/2006/relationships" id="256" r:id="R96613bd1e7bf4f3e"/>
    <p:sldId xmlns:r="http://schemas.openxmlformats.org/officeDocument/2006/relationships" id="257" r:id="Rc50e7d3249404325"/>
    <p:sldId xmlns:r="http://schemas.openxmlformats.org/officeDocument/2006/relationships" id="258" r:id="R089500ede48944fa"/>
    <p:sldId xmlns:r="http://schemas.openxmlformats.org/officeDocument/2006/relationships" id="259" r:id="Rc702d1283f7244ed"/>
    <p:sldId xmlns:r="http://schemas.openxmlformats.org/officeDocument/2006/relationships" id="260" r:id="Rc42818ec3ee34330"/>
    <p:sldId xmlns:r="http://schemas.openxmlformats.org/officeDocument/2006/relationships" id="261" r:id="R574ab7c2f7e0451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2c6b045938845ec" /><Relationship Type="http://schemas.openxmlformats.org/officeDocument/2006/relationships/slideMaster" Target="/ppt/slideMasters/slideMaster1.xml" Id="R390047d3338f427d" /><Relationship Type="http://schemas.openxmlformats.org/officeDocument/2006/relationships/notesMaster" Target="/ppt/notesMasters/notesMaster1.xml" Id="R5fbeacf26a774bce" /><Relationship Type="http://schemas.openxmlformats.org/officeDocument/2006/relationships/presProps" Target="/ppt/presProps.xml" Id="Rcad48fde590b42ea" /><Relationship Type="http://schemas.openxmlformats.org/officeDocument/2006/relationships/tableStyles" Target="/ppt/tableStyles.xml" Id="Rbbe8d273eb42440a" /><Relationship Type="http://schemas.openxmlformats.org/officeDocument/2006/relationships/slide" Target="/ppt/slides/slide1.xml" Id="R96613bd1e7bf4f3e" /><Relationship Type="http://schemas.openxmlformats.org/officeDocument/2006/relationships/slide" Target="/ppt/slides/slide2.xml" Id="Rc50e7d3249404325" /><Relationship Type="http://schemas.openxmlformats.org/officeDocument/2006/relationships/slide" Target="/ppt/slides/slide3.xml" Id="R089500ede48944fa" /><Relationship Type="http://schemas.openxmlformats.org/officeDocument/2006/relationships/slide" Target="/ppt/slides/slide4.xml" Id="Rc702d1283f7244ed" /><Relationship Type="http://schemas.openxmlformats.org/officeDocument/2006/relationships/slide" Target="/ppt/slides/slide5.xml" Id="Rc42818ec3ee34330" /><Relationship Type="http://schemas.openxmlformats.org/officeDocument/2006/relationships/slide" Target="/ppt/slides/slide6.xml" Id="R574ab7c2f7e0451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4ae0ff12e75454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4878c3087fe498e" /><Relationship Type="http://schemas.openxmlformats.org/officeDocument/2006/relationships/notesMaster" Target="/ppt/notesMasters/notesMaster1.xml" Id="Rd545810628884fe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5b9334bbff9456d" /><Relationship Type="http://schemas.openxmlformats.org/officeDocument/2006/relationships/notesMaster" Target="/ppt/notesMasters/notesMaster1.xml" Id="R7a69082ff0fd4cb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fae11bd571846ea" /><Relationship Type="http://schemas.openxmlformats.org/officeDocument/2006/relationships/notesMaster" Target="/ppt/notesMasters/notesMaster1.xml" Id="Rd032cd8490624ad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53076c0e8494b80" /><Relationship Type="http://schemas.openxmlformats.org/officeDocument/2006/relationships/notesMaster" Target="/ppt/notesMasters/notesMaster1.xml" Id="Ra68a81f787b8471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09558bb5bd54677" /><Relationship Type="http://schemas.openxmlformats.org/officeDocument/2006/relationships/notesMaster" Target="/ppt/notesMasters/notesMaster1.xml" Id="R8d27c68afb37499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7c9f015e8194a1b" /><Relationship Type="http://schemas.openxmlformats.org/officeDocument/2006/relationships/notesMaster" Target="/ppt/notesMasters/notesMaster1.xml" Id="Rfaf42786d474428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Методические материалы РОП, практические занятия 1–8, 2026–2027. Вариант: первая практика Албахтина И.В. Полные схемы и описание: единый отчёт в комплекте. Все параметры нагрузки и примеры расчётов — учебные проектные значения.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Методические материалы РОП, практические занятия 1–8, 2026–2027. Вариант: первая практика Албахтина И.В. Полные схемы и описание: единый отчёт в комплекте. Все параметры нагрузки и примеры расчётов — учебные проектные значения.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Методические материалы РОП, практические занятия 1–8, 2026–2027. Вариант: первая практика Албахтина И.В. Полные схемы и описание: единый отчёт в комплекте. Все параметры нагрузки и примеры расчётов — учебные проектные значения.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Методические материалы РОП, практические занятия 1–8, 2026–2027. Вариант: первая практика Албахтина И.В. Полные схемы и описание: единый отчёт в комплекте. Все параметры нагрузки и примеры расчётов — учебные проектные значения.</a:t>
            </a:r>
          </a:p>
          <a:p xmlns:a="http://schemas.openxmlformats.org/drawingml/2006/main">
            <a:r>
              <a:t>Источники: postgresql.org/docs/current/datatype.html; dev.mysql.com/doc/refman/8.4/en/json.html; sqlite.org/whentouse.html.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Методические материалы РОП, практические занятия 1–8, 2026–2027. Вариант: первая практика Албахтина И.В. Полные схемы и описание: единый отчёт в комплекте. Все параметры нагрузки и примеры расчётов — учебные проектные значения.</a:t>
            </a:r>
          </a:p>
          <a:p xmlns:a="http://schemas.openxmlformats.org/drawingml/2006/main">
            <a:r>
              <a:t>Официальные источники: jetbrains.com/idea; code.visualstudio.com/docs/languages/java; eclipseide.org.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Методические материалы РОП, практические занятия 1–8, 2026–2027. Вариант: первая практика Албахтина И.В. Полные схемы и описание: единый отчёт в комплекте. Все параметры нагрузки и примеры расчётов — учебные проектные значения.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29623550de435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64fe0122b7147f7" /><Relationship Type="http://schemas.openxmlformats.org/officeDocument/2006/relationships/slideLayout" Target="/ppt/slideLayouts/slideLayout1.xml" Id="R8628ef1713bb451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628ef1713bb451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23e7d8992443a2" /><Relationship Type="http://schemas.openxmlformats.org/officeDocument/2006/relationships/notesSlide" Target="/ppt/notesSlides/notesSlide1.xml" Id="Rcf42bfe79eb847c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08804350954c0d" /><Relationship Type="http://schemas.openxmlformats.org/officeDocument/2006/relationships/image" Target="/ppt/media/image.png" Id="R3175ca6be882425b" /><Relationship Type="http://schemas.openxmlformats.org/officeDocument/2006/relationships/notesSlide" Target="/ppt/notesSlides/notesSlide2.xml" Id="Rfa7a3fe65a464d6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2f61d6fe014912" /><Relationship Type="http://schemas.openxmlformats.org/officeDocument/2006/relationships/notesSlide" Target="/ppt/notesSlides/notesSlide3.xml" Id="Rc09eb065c2ae4f4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57327337094abc" /><Relationship Type="http://schemas.openxmlformats.org/officeDocument/2006/relationships/notesSlide" Target="/ppt/notesSlides/notesSlide4.xml" Id="R5f5fbc96dfa7470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b0e456b17c4d3a" /><Relationship Type="http://schemas.openxmlformats.org/officeDocument/2006/relationships/notesSlide" Target="/ppt/notesSlides/notesSlide5.xml" Id="R0be8390b529a4bd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96ed924ddb4bf4" /><Relationship Type="http://schemas.openxmlformats.org/officeDocument/2006/relationships/notesSlide" Target="/ppt/notesSlides/notesSlide6.xml" Id="R8e2446318ade425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5636F0-33B1-4CF9-8B43-9A6FF5AAC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Практическое занятие 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ABD54D-8E68-46FB-BA54-779BDEAF7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05000"/>
            <a:ext cx="10668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Инфраструктура и программный стек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9B3A87-2332-4633-9B9F-27EC36AAB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57625"/>
            <a:ext cx="10477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Закрытый серверный сегмент хранит данные, изображения и очередь публикаций.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C0E49B-5B6E-42E4-AD0A-122249FD2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72125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Албахтин И.В.   ИНБО-12-23</a:t>
            </a:r>
          </a:p>
          <a:p xmlns:a="http://schemas.openxmlformats.org/drawingml/2006/main">
            <a:pPr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Разработка обеспечивающих подсистем   2026</a:t>
            </a:r>
          </a:p>
        </p:txBody>
      </p:sp>
    </p:spTree>
    <p:extLst>
      <p:ext uri="{BB962C8B-B14F-4D97-AF65-F5344CB8AC3E}">
        <p14:creationId xmlns:p14="http://schemas.microsoft.com/office/powerpoint/2010/main" val="132868950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CBFC85-0367-4EED-9DBB-BDD24716B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Инфраструктурная схема</a:t>
            </a:r>
          </a:p>
        </p:txBody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75ca6be882425b"/>
          <a:stretch xmlns:a="http://schemas.openxmlformats.org/drawingml/2006/main"/>
        </p:blipFill>
        <p:spPr>
          <a:xfrm xmlns:a="http://schemas.openxmlformats.org/drawingml/2006/main">
            <a:off x="2307648" y="1285875"/>
            <a:ext cx="7576705" cy="50006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947663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3C695F-7DA7-4B30-B79B-3C02CDE36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Выбранный стек</a:t>
            </a:r>
          </a:p>
        </p:txBody>
      </p:sp>
      <p:graphicFrame>
        <p:nvGraphicFramePr>
          <p:cNvPr id="4" name=""/>
          <p:cNvGraphicFramePr/>
          <p:nvPr/>
        </p:nvGraphicFramePr>
        <p:xfrm>
          <a:off xmlns:a="http://schemas.openxmlformats.org/drawingml/2006/main" x="571500" y="1428750"/>
          <a:ext xmlns:a="http://schemas.openxmlformats.org/drawingml/2006/main" cx="11049000" cy="4572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00500"/>
                <a:gridCol w="7048500"/>
              </a:tblGrid>
              <a:tr h="762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Уровень</a:t>
                      </a:r>
                    </a:p>
                  </a:txBody>
                  <a:tcPr marL="91440" marR="91440" marT="45720" marB="4572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Средство</a:t>
                      </a:r>
                    </a:p>
                  </a:txBody>
                  <a:tcPr marL="91440" marR="91440" marT="45720" marB="45720">
                    <a:solidFill>
                      <a:srgbClr val="F1F1F1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Клиент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TypeScript и React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Сервер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Java 21 и Spring Boot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Данные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PostgreSQL 18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Доступ и шлюз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Spring Security, Nginx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Сборка и IDE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Maven, IntelliJ IDEA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2262440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D99336-90CA-459C-8A0B-1FBE38A51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Сравнение СУБД</a:t>
            </a:r>
          </a:p>
        </p:txBody>
      </p:sp>
      <p:graphicFrame>
        <p:nvGraphicFramePr>
          <p:cNvPr id="4" name=""/>
          <p:cNvGraphicFramePr/>
          <p:nvPr/>
        </p:nvGraphicFramePr>
        <p:xfrm>
          <a:off xmlns:a="http://schemas.openxmlformats.org/drawingml/2006/main" x="571500" y="1428750"/>
          <a:ext xmlns:a="http://schemas.openxmlformats.org/drawingml/2006/main" cx="11049000" cy="4572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2667000"/>
                <a:gridCol w="2667000"/>
                <a:gridCol w="2571750"/>
              </a:tblGrid>
              <a:tr h="9144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Критерий</a:t>
                      </a:r>
                    </a:p>
                  </a:txBody>
                  <a:tcPr marL="91440" marR="91440" marT="45720" marB="4572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PostgreSQL</a:t>
                      </a:r>
                    </a:p>
                  </a:txBody>
                  <a:tcPr marL="91440" marR="91440" marT="45720" marB="4572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MySQL</a:t>
                      </a:r>
                    </a:p>
                  </a:txBody>
                  <a:tcPr marL="91440" marR="91440" marT="45720" marB="4572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SQLite</a:t>
                      </a:r>
                    </a:p>
                  </a:txBody>
                  <a:tcPr marL="91440" marR="91440" marT="45720" marB="45720">
                    <a:solidFill>
                      <a:srgbClr val="F1F1F1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Размещение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Сервер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Сервер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Встроенный файл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Снимки правил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JSONB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JSON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Текст / JSON функции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Работа с записью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Многопользовательская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Многопользовательская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Один писатель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Выбор проекта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Основная БД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Допустимая альтернатива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Локальный прототип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1626878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B46308-820D-4880-8230-C413AC51E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Среды разработки Java</a:t>
            </a:r>
          </a:p>
        </p:txBody>
      </p:sp>
      <p:graphicFrame>
        <p:nvGraphicFramePr>
          <p:cNvPr id="4" name=""/>
          <p:cNvGraphicFramePr/>
          <p:nvPr/>
        </p:nvGraphicFramePr>
        <p:xfrm>
          <a:off xmlns:a="http://schemas.openxmlformats.org/drawingml/2006/main" x="571500" y="1428750"/>
          <a:ext xmlns:a="http://schemas.openxmlformats.org/drawingml/2006/main" cx="11049000" cy="4572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48000"/>
                <a:gridCol w="4953000"/>
                <a:gridCol w="3048000"/>
              </a:tblGrid>
              <a:tr h="1143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Среда</a:t>
                      </a:r>
                    </a:p>
                  </a:txBody>
                  <a:tcPr marL="91440" marR="91440" marT="45720" marB="4572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Особенность</a:t>
                      </a:r>
                    </a:p>
                  </a:txBody>
                  <a:tcPr marL="91440" marR="91440" marT="45720" marB="4572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Вывод</a:t>
                      </a:r>
                    </a:p>
                  </a:txBody>
                  <a:tcPr marL="91440" marR="91440" marT="45720" marB="45720">
                    <a:solidFill>
                      <a:srgbClr val="F1F1F1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IntelliJ IDEA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Интегрированная Java-навигация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Основной вариант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VS Code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Java через расширения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Допустимая альтернатива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Eclipse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Плагинная Java-экосистема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Допустимая альтернатива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018523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3FEDBE-CA63-4646-8285-ED57B79E7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Границы проектного решения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B401EF-AE34-464B-91DA-71E766BCC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1076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Конфигурация 4 vCPU и 8 ГБ для приложения — начальная гипотеза.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31E2F5-BD34-4D6B-9577-770A81151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90800"/>
            <a:ext cx="1076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99,5% доступности нельзя подтвердить одной инфраструктурной схемой.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49F6B2-29BE-4915-BBC7-6D0C1FC4B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57600"/>
            <a:ext cx="1076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Ежедневные копии БД и файлов должны проходить восстановление.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7FC3C2-AB49-4099-8263-CBFEB5215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24400"/>
            <a:ext cx="1076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Выбор СУБД основан на функциях проекта, без заявления о лидерстве по скорости.</a:t>
            </a:r>
          </a:p>
        </p:txBody>
      </p:sp>
    </p:spTree>
    <p:extLst>
      <p:ext uri="{BB962C8B-B14F-4D97-AF65-F5344CB8AC3E}">
        <p14:creationId xmlns:p14="http://schemas.microsoft.com/office/powerpoint/2010/main" val="19838809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2026-09-17T13:02:40.9680000Z</dcterms:created>
  <dcterms:modified xsi:type="dcterms:W3CDTF">2026-09-17T13:02:40.9680000Z</dcterms:modified>
</coreProperties>
</file>