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72d6cf21c4bfe" /><Relationship Type="http://schemas.openxmlformats.org/officeDocument/2006/relationships/extended-properties" Target="/docProps/app.xml" Id="Rd0c9c75cd89d4512" /><Relationship Type="http://schemas.openxmlformats.org/officeDocument/2006/relationships/officeDocument" Target="/ppt/presentation.xml" Id="Re3f991ef2ddc47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7ba59515c4a82"/>
  </p:sldMasterIdLst>
  <p:notesMasterIdLst>
    <p:notesMasterId xmlns:r="http://schemas.openxmlformats.org/officeDocument/2006/relationships" r:id="R559452138cad47f5"/>
  </p:notesMasterIdLst>
  <p:sldIdLst>
    <p:sldId xmlns:r="http://schemas.openxmlformats.org/officeDocument/2006/relationships" id="256" r:id="Rfd08890cff444d25"/>
    <p:sldId xmlns:r="http://schemas.openxmlformats.org/officeDocument/2006/relationships" id="257" r:id="R3c61dc1b8a7545fb"/>
    <p:sldId xmlns:r="http://schemas.openxmlformats.org/officeDocument/2006/relationships" id="258" r:id="Rb3825b8c111e44d4"/>
    <p:sldId xmlns:r="http://schemas.openxmlformats.org/officeDocument/2006/relationships" id="259" r:id="Rcec93bf259d346fa"/>
    <p:sldId xmlns:r="http://schemas.openxmlformats.org/officeDocument/2006/relationships" id="260" r:id="Re9745053dfc44e99"/>
    <p:sldId xmlns:r="http://schemas.openxmlformats.org/officeDocument/2006/relationships" id="261" r:id="R70821d3fae924d81"/>
    <p:sldId xmlns:r="http://schemas.openxmlformats.org/officeDocument/2006/relationships" id="262" r:id="R92d8307783f5487c"/>
    <p:sldId xmlns:r="http://schemas.openxmlformats.org/officeDocument/2006/relationships" id="263" r:id="R3209c3b2e2184c95"/>
    <p:sldId xmlns:r="http://schemas.openxmlformats.org/officeDocument/2006/relationships" id="264" r:id="Rc913b6b460f64baa"/>
    <p:sldId xmlns:r="http://schemas.openxmlformats.org/officeDocument/2006/relationships" id="265" r:id="R357480123c8841f6"/>
    <p:sldId xmlns:r="http://schemas.openxmlformats.org/officeDocument/2006/relationships" id="266" r:id="R37ae30dd52454d43"/>
    <p:sldId xmlns:r="http://schemas.openxmlformats.org/officeDocument/2006/relationships" id="267" r:id="R6c31b1c7c7034865"/>
    <p:sldId xmlns:r="http://schemas.openxmlformats.org/officeDocument/2006/relationships" id="268" r:id="R7e9a9ed99bce4ffc"/>
    <p:sldId xmlns:r="http://schemas.openxmlformats.org/officeDocument/2006/relationships" id="269" r:id="Rd0c9be8e2d454719"/>
    <p:sldId xmlns:r="http://schemas.openxmlformats.org/officeDocument/2006/relationships" id="270" r:id="R32d8ae4dcb824b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51d2bc15df4ce5" /><Relationship Type="http://schemas.openxmlformats.org/officeDocument/2006/relationships/slideMaster" Target="/ppt/slideMasters/slideMaster1.xml" Id="R8927ba59515c4a82" /><Relationship Type="http://schemas.openxmlformats.org/officeDocument/2006/relationships/notesMaster" Target="/ppt/notesMasters/notesMaster1.xml" Id="R559452138cad47f5" /><Relationship Type="http://schemas.openxmlformats.org/officeDocument/2006/relationships/presProps" Target="/ppt/presProps.xml" Id="R67e5f4ad76ad4e4c" /><Relationship Type="http://schemas.openxmlformats.org/officeDocument/2006/relationships/tableStyles" Target="/ppt/tableStyles.xml" Id="R616bf67249bf4365" /><Relationship Type="http://schemas.openxmlformats.org/officeDocument/2006/relationships/slide" Target="/ppt/slides/slide1.xml" Id="Rfd08890cff444d25" /><Relationship Type="http://schemas.openxmlformats.org/officeDocument/2006/relationships/slide" Target="/ppt/slides/slide2.xml" Id="R3c61dc1b8a7545fb" /><Relationship Type="http://schemas.openxmlformats.org/officeDocument/2006/relationships/slide" Target="/ppt/slides/slide3.xml" Id="Rb3825b8c111e44d4" /><Relationship Type="http://schemas.openxmlformats.org/officeDocument/2006/relationships/slide" Target="/ppt/slides/slide4.xml" Id="Rcec93bf259d346fa" /><Relationship Type="http://schemas.openxmlformats.org/officeDocument/2006/relationships/slide" Target="/ppt/slides/slide5.xml" Id="Re9745053dfc44e99" /><Relationship Type="http://schemas.openxmlformats.org/officeDocument/2006/relationships/slide" Target="/ppt/slides/slide6.xml" Id="R70821d3fae924d81" /><Relationship Type="http://schemas.openxmlformats.org/officeDocument/2006/relationships/slide" Target="/ppt/slides/slide7.xml" Id="R92d8307783f5487c" /><Relationship Type="http://schemas.openxmlformats.org/officeDocument/2006/relationships/slide" Target="/ppt/slides/slide8.xml" Id="R3209c3b2e2184c95" /><Relationship Type="http://schemas.openxmlformats.org/officeDocument/2006/relationships/slide" Target="/ppt/slides/slide9.xml" Id="Rc913b6b460f64baa" /><Relationship Type="http://schemas.openxmlformats.org/officeDocument/2006/relationships/slide" Target="/ppt/slides/slide10.xml" Id="R357480123c8841f6" /><Relationship Type="http://schemas.openxmlformats.org/officeDocument/2006/relationships/slide" Target="/ppt/slides/slide11.xml" Id="R37ae30dd52454d43" /><Relationship Type="http://schemas.openxmlformats.org/officeDocument/2006/relationships/slide" Target="/ppt/slides/slide12.xml" Id="R6c31b1c7c7034865" /><Relationship Type="http://schemas.openxmlformats.org/officeDocument/2006/relationships/slide" Target="/ppt/slides/slide13.xml" Id="R7e9a9ed99bce4ffc" /><Relationship Type="http://schemas.openxmlformats.org/officeDocument/2006/relationships/slide" Target="/ppt/slides/slide14.xml" Id="Rd0c9be8e2d454719" /><Relationship Type="http://schemas.openxmlformats.org/officeDocument/2006/relationships/slide" Target="/ppt/slides/slide15.xml" Id="R32d8ae4dcb824b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2b7c6adbca4e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eb32db29fd4891" /><Relationship Type="http://schemas.openxmlformats.org/officeDocument/2006/relationships/notesMaster" Target="/ppt/notesMasters/notesMaster1.xml" Id="R1c3315482b8345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9be49610f4c0a" /><Relationship Type="http://schemas.openxmlformats.org/officeDocument/2006/relationships/notesMaster" Target="/ppt/notesMasters/notesMaster1.xml" Id="R82537722951a4f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b2f2b3638c40b6" /><Relationship Type="http://schemas.openxmlformats.org/officeDocument/2006/relationships/notesMaster" Target="/ppt/notesMasters/notesMaster1.xml" Id="R333fb1316e9343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0353b6cb0403e" /><Relationship Type="http://schemas.openxmlformats.org/officeDocument/2006/relationships/notesMaster" Target="/ppt/notesMasters/notesMaster1.xml" Id="R3ebcbe3a72d54a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eecdc103a94506" /><Relationship Type="http://schemas.openxmlformats.org/officeDocument/2006/relationships/notesMaster" Target="/ppt/notesMasters/notesMaster1.xml" Id="R157bdfc2ba514f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c98783db7e4e9d" /><Relationship Type="http://schemas.openxmlformats.org/officeDocument/2006/relationships/notesMaster" Target="/ppt/notesMasters/notesMaster1.xml" Id="R799aeb7d4fa745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93aa60bc73401e" /><Relationship Type="http://schemas.openxmlformats.org/officeDocument/2006/relationships/notesMaster" Target="/ppt/notesMasters/notesMaster1.xml" Id="R2ff2b63bb05f4f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e53202eece4478" /><Relationship Type="http://schemas.openxmlformats.org/officeDocument/2006/relationships/notesMaster" Target="/ppt/notesMasters/notesMaster1.xml" Id="R4255f7ccc2fa44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09332965304771" /><Relationship Type="http://schemas.openxmlformats.org/officeDocument/2006/relationships/notesMaster" Target="/ppt/notesMasters/notesMaster1.xml" Id="R2ee0d5b641c84a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f8481b710047c2" /><Relationship Type="http://schemas.openxmlformats.org/officeDocument/2006/relationships/notesMaster" Target="/ppt/notesMasters/notesMaster1.xml" Id="R7d1983160f9f47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5049c7a9c84734" /><Relationship Type="http://schemas.openxmlformats.org/officeDocument/2006/relationships/notesMaster" Target="/ppt/notesMasters/notesMaster1.xml" Id="R5854f35fd4e7415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d4ff38984b4f17" /><Relationship Type="http://schemas.openxmlformats.org/officeDocument/2006/relationships/notesMaster" Target="/ppt/notesMasters/notesMaster1.xml" Id="Rbf4f34788d8a46f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932c249ba9458b" /><Relationship Type="http://schemas.openxmlformats.org/officeDocument/2006/relationships/notesMaster" Target="/ppt/notesMasters/notesMaster1.xml" Id="Rc414ba69c93d43b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a38052d06f42b8" /><Relationship Type="http://schemas.openxmlformats.org/officeDocument/2006/relationships/notesMaster" Target="/ppt/notesMasters/notesMaster1.xml" Id="Rfab4590191cc48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867980a4894a5a" /><Relationship Type="http://schemas.openxmlformats.org/officeDocument/2006/relationships/notesMaster" Target="/ppt/notesMasters/notesMaster1.xml" Id="R71458294d5e546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редактируемая модель РОП_Практика_1_AS_IS.nsidef0; единый отчёт, раздел 3.1. Входы: запрос, данные компонентов и поставщиков. Выходы: BOM, расчёты, изображения, результат публикации. Управляющие воздействия — рабочие правила академической модели.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РОП_Практика_1_AS_IS.nsidef0, раздел 3.2 отчёта. A1 — регистрация запроса; A2 — BOM; A3 — совместимость; A4 — расчёты и изображения; A5 — публикация. Замечания A3 возвращаются в A2.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модель РОП_Практика_1_AS_IS.nsbpmn, вид «Публикация и внешние участники», NotationStudio. OMG BPMN 2.0.2: https://www.omg.org/spec/BPMN/2.0.2/PDF, §9.3, §10.4. Внешние организации показаны закрытыми пулами; пунктир обозначает сообщения. После отклонения фиксируются замечания, текущая попытка завершается ошибкой. Исправление инициирует новый запрос.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та же модель NSBPMN, вид «Подготовить данные карточки». Это встроенный подпроцесс основной схемы. Сбор сведений включает оба источника PC4Games и ITPartner. После изменения конфигурации повторно проверяются совместимость и доступность. Текущий процесс не автоматизирован единым движком; задачи не объявлены UserTask или ServiceTask без оснований.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единый отчёт, таблица 6 и раздел 8. Оценки автора, не внешний рейтинг и не результаты измерений продуктов. Документация: https://docs.ozon.ru/api/seller/ ; https://v8.1c.ru/erp/purchasing/ ; https://docs.pimcore.com/platform/2025.4/ ; https://help.akeneo.com/using-the-product-page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таблица 6 единого отчёта. Суммы по девяти критериям: 19, 33, 33, 28, 45; средние после округления до десятых: 2,1; 3,7; 3,7; 3,1; 5,0. Значение целевой ИС — проектная оценка.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РОП_Единый_отчет_АлбахтинИВ.docx, практическое занятие № 1. Модель AS IS является академической.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Полные библиографические описания и даты обращения приведены в едином отчёте. Материалы о продуктах взяты из раздела 8 отчёта; в презентации не заявляется новая независимая проверка возможностей текущих версий.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76e56262c4f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7b1f7c982d444c" /><Relationship Type="http://schemas.openxmlformats.org/officeDocument/2006/relationships/slideLayout" Target="/ppt/slideLayouts/slideLayout1.xml" Id="R181753c98e3640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753c98e3640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5477619c44cdc" /><Relationship Type="http://schemas.openxmlformats.org/officeDocument/2006/relationships/notesSlide" Target="/ppt/notesSlides/notesSlide1.xml" Id="R103dbb38931e48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0884959e64790" /><Relationship Type="http://schemas.openxmlformats.org/officeDocument/2006/relationships/notesSlide" Target="/ppt/notesSlides/notesSlide2.xml" Id="R3da9b731545f48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a2e2699dd4191" /><Relationship Type="http://schemas.openxmlformats.org/officeDocument/2006/relationships/image" Target="/ppt/media/image.png" Id="R550a248328e84651" /><Relationship Type="http://schemas.openxmlformats.org/officeDocument/2006/relationships/notesSlide" Target="/ppt/notesSlides/notesSlide3.xml" Id="Re9c3eaadfa7142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374d0d70449a4" /><Relationship Type="http://schemas.openxmlformats.org/officeDocument/2006/relationships/image" Target="/ppt/media/image2.png" Id="R8fe025e6375d4e55" /><Relationship Type="http://schemas.openxmlformats.org/officeDocument/2006/relationships/notesSlide" Target="/ppt/notesSlides/notesSlide4.xml" Id="R8b4fdb79b7374c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ab10c5a114e80" /><Relationship Type="http://schemas.openxmlformats.org/officeDocument/2006/relationships/image" Target="/ppt/media/image3.png" Id="Red6d5c67577545ac" /><Relationship Type="http://schemas.openxmlformats.org/officeDocument/2006/relationships/notesSlide" Target="/ppt/notesSlides/notesSlide5.xml" Id="R4f1525cabb4f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445c166ab4d4d" /><Relationship Type="http://schemas.openxmlformats.org/officeDocument/2006/relationships/image" Target="/ppt/media/image4.png" Id="R406f11c9342145db" /><Relationship Type="http://schemas.openxmlformats.org/officeDocument/2006/relationships/notesSlide" Target="/ppt/notesSlides/notesSlide6.xml" Id="Rf7c0d12384fe46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7f849b40f4129" /><Relationship Type="http://schemas.openxmlformats.org/officeDocument/2006/relationships/notesSlide" Target="/ppt/notesSlides/notesSlide7.xml" Id="Rea95bde60d3041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8b0d5f6ec4fbc" /><Relationship Type="http://schemas.openxmlformats.org/officeDocument/2006/relationships/notesSlide" Target="/ppt/notesSlides/notesSlide8.xml" Id="Ra899a3ce5d5d44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5c514b5944a0c" /><Relationship Type="http://schemas.openxmlformats.org/officeDocument/2006/relationships/notesSlide" Target="/ppt/notesSlides/notesSlide9.xml" Id="R76dcb274a7e949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0d30e13704420" /><Relationship Type="http://schemas.openxmlformats.org/officeDocument/2006/relationships/notesSlide" Target="/ppt/notesSlides/notesSlide10.xml" Id="R86e9b9e7821b4c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870000b3e4d50" /><Relationship Type="http://schemas.openxmlformats.org/officeDocument/2006/relationships/notesSlide" Target="/ppt/notesSlides/notesSlide11.xml" Id="Rf6c295da414f40d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63170990c4763" /><Relationship Type="http://schemas.openxmlformats.org/officeDocument/2006/relationships/notesSlide" Target="/ppt/notesSlides/notesSlide12.xml" Id="Rd27e5140728e4b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4bb1a88c24660" /><Relationship Type="http://schemas.openxmlformats.org/officeDocument/2006/relationships/chart" Target="/ppt/slides/charts/chart1.xml" Id="R595528d6ab4641d2" /><Relationship Type="http://schemas.openxmlformats.org/officeDocument/2006/relationships/notesSlide" Target="/ppt/notesSlides/notesSlide13.xml" Id="Rd2cd7747376c46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f601f2d36483f" /><Relationship Type="http://schemas.openxmlformats.org/officeDocument/2006/relationships/notesSlide" Target="/ppt/notesSlides/notesSlide14.xml" Id="Rf335830ff2e84b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176b6977844b3" /><Relationship Type="http://schemas.openxmlformats.org/officeDocument/2006/relationships/notesSlide" Target="/ppt/notesSlides/notesSlide15.xml" Id="Rab1af04641074d9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Средний балл</c:v>
          </c:tx>
          <c:spPr>
            <a:solidFill xmlns:a="http://schemas.openxmlformats.org/drawingml/2006/main">
              <a:srgbClr val="356AA0"/>
            </a:solidFill>
          </c:spPr>
          <c:cat>
            <c:strRef>
              <c:f>'Chart Data'!$A$2:$A$6</c:f>
              <c:strCache>
                <c:ptCount val="5"/>
                <c:pt idx="0">
                  <c:v>Ozon Seller</c:v>
                </c:pt>
                <c:pt idx="1">
                  <c:v>1С:ERP</c:v>
                </c:pt>
                <c:pt idx="2">
                  <c:v>Pimcore</c:v>
                </c:pt>
                <c:pt idx="3">
                  <c:v>Akeneo</c:v>
                </c:pt>
                <c:pt idx="4">
                  <c:v>Целевая ИС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2.1</c:v>
                </c:pt>
                <c:pt idx="1">
                  <c:v>3.7</c:v>
                </c:pt>
                <c:pt idx="2">
                  <c:v>3.7</c:v>
                </c:pt>
                <c:pt idx="3">
                  <c:v>3.1</c:v>
                </c:pt>
                <c:pt idx="4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950" b="1">
                  <a:solidFill>
                    <a:srgbClr val="172B4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BF75A-8BBC-4A49-BBC9-50D1C28B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Практическое занятие №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D6613-EA2A-4DC9-9837-711C55AA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95423-63B8-4D1F-A38C-9D1E1E34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Разработка обеспечивающих подсистем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7C61C-2073-4D47-A5A9-C06C15ED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57425"/>
            <a:ext cx="111633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Формирование и актуализация</a:t>
            </a:r>
          </a:p>
          <a:p xmlns:a="http://schemas.openxmlformats.org/drawingml/2006/main">
            <a:pPr>
              <a:defRPr sz="390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карточек компьютерных систем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CC80A-82D3-4577-B4B0-42CFEC28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95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Модель AS IS и требования к информационной системе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на примере ООО «Юкомс»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C4F5-C506-4702-A6A3-AFCA77A8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Албахтин И.В.  •  ИНБО-12-23</a:t>
            </a:r>
          </a:p>
          <a:p xmlns:a="http://schemas.openxmlformats.org/drawingml/2006/main">
            <a:pPr>
              <a:defRPr sz="1725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РТУ МИРЭА  •  Москва, 2026</a:t>
            </a:r>
          </a:p>
        </p:txBody>
      </p:sp>
    </p:spTree>
    <p:extLst>
      <p:ext uri="{BB962C8B-B14F-4D97-AF65-F5344CB8AC3E}">
        <p14:creationId xmlns:p14="http://schemas.microsoft.com/office/powerpoint/2010/main" val="4136568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46C61-72EC-48C5-B15A-6A369F0A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Цель и границы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08C62-9D26-492D-A437-47EEA885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9E039-D990-4ECA-9CCA-987264DA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FC92B-1CDB-4F3C-80FC-C763B45C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Выявить проблемы текущего процесса и сформировать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функциональные и нефункциональные требования к ИС.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DE5ED-2E1E-4F63-A406-CB61CBDD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Начало и результат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2CD48-72F7-4C9B-888E-3B8C6159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71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Запрос на новую или изменённую карточку → публикация</a:t>
            </a:r>
          </a:p>
          <a:p xmlns:a="http://schemas.openxmlformats.org/drawingml/2006/main">
            <a:pPr>
              <a:defRPr sz="22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или обновление в Ozon либо фиксация ошибки публикации.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A9A0A-0335-485F-A451-FA2DDE33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Основа модели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A6A62-AAC0-4978-8590-0F1F7EAB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483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BOM — состав компьютерной системы. В академической модели</a:t>
            </a:r>
          </a:p>
          <a:p xmlns:a="http://schemas.openxmlformats.org/drawingml/2006/main">
            <a:pPr>
              <a:defRPr sz="19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данные и действия распределены между разрозненными инструментами.</a:t>
            </a:r>
          </a:p>
        </p:txBody>
      </p:sp>
    </p:spTree>
    <p:extLst>
      <p:ext uri="{BB962C8B-B14F-4D97-AF65-F5344CB8AC3E}">
        <p14:creationId xmlns:p14="http://schemas.microsoft.com/office/powerpoint/2010/main" val="11581902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C30BB-4886-4F5F-A603-AA374EE8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IDEF0  •  Контекст A-0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F37F6-9E82-447C-85FE-C60C6543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a248328e84651"/>
          <a:stretch xmlns:a="http://schemas.openxmlformats.org/drawingml/2006/main"/>
        </p:blipFill>
        <p:spPr>
          <a:xfrm xmlns:a="http://schemas.openxmlformats.org/drawingml/2006/main">
            <a:off x="2608898" y="981075"/>
            <a:ext cx="6974205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8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C3A9E1-BC6A-4C5E-AB6F-E1A4A272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IDEF0  •  Декомпозиция A0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A5031-7763-4B83-A4CA-D9463017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e025e6375d4e55"/>
          <a:stretch xmlns:a="http://schemas.openxmlformats.org/drawingml/2006/main"/>
        </p:blipFill>
        <p:spPr>
          <a:xfrm xmlns:a="http://schemas.openxmlformats.org/drawingml/2006/main">
            <a:off x="1815465" y="981075"/>
            <a:ext cx="8561070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80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1D0A5-8325-4D0C-952E-867372F9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BPMN 2.0  •  Публикация и участники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8C1CB-336A-4C84-88DC-573F6C9B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d5c67577545ac"/>
          <a:stretch xmlns:a="http://schemas.openxmlformats.org/drawingml/2006/main"/>
        </p:blipFill>
        <p:spPr>
          <a:xfrm xmlns:a="http://schemas.openxmlformats.org/drawingml/2006/main">
            <a:off x="1850569" y="981075"/>
            <a:ext cx="8490861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34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04E01-4591-47E3-B2A7-F6A10654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BPMN 2.0  •  Подготовка данных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F071E-5408-4212-840C-2DBE5823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6f11c9342145db"/>
          <a:stretch xmlns:a="http://schemas.openxmlformats.org/drawingml/2006/main"/>
        </p:blipFill>
        <p:spPr>
          <a:xfrm xmlns:a="http://schemas.openxmlformats.org/drawingml/2006/main">
            <a:off x="1277312" y="981075"/>
            <a:ext cx="9637377" cy="5267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28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F629E-57C9-4808-A972-764F4C0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Проблемы текущего процесса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201BB-E9E8-4DB3-92EF-332D6EBB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381500"/>
                <a:gridCol w="573405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Последствие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Повторный ввод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Ошибки и увеличение времени подготовки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Ручная проверка совместимости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Зависимость от опыта специалиста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Несогласованная 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Карточки содержат разные версии состава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Устаревшая цена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Некорректное товарное предложение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Ошибки обязательных атрибутов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Отклонение публикации и возврат на исправление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P-06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Нет сквозного аудита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Трудно установить причину расхождения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2197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042A7-4EFF-4813-BBD8-C016E934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Данные и расчёты  •  FR-01–10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B2C7CC-9068-49F6-8CE6-E5E2597B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163050"/>
              </a:tblGrid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Требуемое поведение системы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FR-01–03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Регистрировать запросы, создавать BOM по корпусу и задавать состав характеристиками или точной моделью.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FR-04–05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Проверять совместимость после каждого изменения и показывать правило, вызвавшее конфликт.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FR-06–08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Сопоставлять товары поставщиков, загружать цены и наличие, выбирать применимое предложение.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FR-09–10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Рассчитывать себестоимость, цену карточки и массу товара с упаковкой.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94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2002F-A09E-4008-9308-FE25572C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Изменения и публикация  •  FR-11–22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6F5CE-7871-4DE4-A0F0-AC446440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667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9163050"/>
              </a:tblGrid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Требуемое поведение системы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FR-11–13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Находить затронутые BOM, показывать последствия массовой замены и повторно проверять изменённые данные.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FR-14–16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Формировать изображения и контент карточки; проверять обязательные атрибуты Ozon до публикации.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FR-17–19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Публиковать через API Ozon, сохранять ответ и статус, повторять неуспешные внешние операции.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FR-20–22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Хранить версии и историю действий, уведомлять об ошибках, предоставлять поиск и фильтры.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4444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2985E-ABC8-4417-9FCC-D18F222D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NFR  •  Скорость и надёжность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4A639-781E-49BA-B249-4B7AC2F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63930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приёмки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95% запросов основных форм — не более 2 с при 50 одновременных пользователях.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 и проверка 1000 BOM — не более 5 мин.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Доступность ≥ 99,5% в месяц без согласованной профилактики.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Ежедневная резервная копия; RPO ≤ 24 ч, RTO ≤ 4 ч.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Две последние стабильные версии Chrome, Edge и Firefox; экран от 1280 px.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До трёх повторов внешней операции без создания дубликатов.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6703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96A09-3E89-4693-BC2C-E31A328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NFR  •  Защита и целостность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EED196-DC0C-4476-AA04-AB15C182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14350" y="1238250"/>
          <a:ext xmlns:a="http://schemas.openxmlformats.org/drawingml/2006/main" cx="111633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9639300"/>
              </a:tblGrid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Код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 приёмки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Пользовательские и интеграционные соединения — TLS 1.2 или новее.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NFR-06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Хранение паролей — Argon2id с уникальной солью.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Ролевое разграничение доступа с проверкой на сервере.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NFR-08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Журнал изменений — не менее года; пользователь, время и изменённые значения.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Запрет готовности к публикации при несовместимости или неполных данных.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03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NFR-12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Изменение правил и сопоставлений через справочники без правки кода.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9307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43075-4323-4FA5-A5A8-58FE7276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Сравнение программных аналогов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87788-9E28-4C8B-95DA-62A99D59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190625"/>
          <a:ext xmlns:a="http://schemas.openxmlformats.org/drawingml/2006/main" cx="11163300" cy="4514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1562100"/>
                <a:gridCol w="1562100"/>
                <a:gridCol w="1562100"/>
                <a:gridCol w="1562100"/>
                <a:gridCol w="1562100"/>
              </a:tblGrid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Ozon Seller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1С:ERP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Pimcore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Akeneo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1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Целевая ИС</a:t>
                      </a:r>
                    </a:p>
                  </a:txBody>
                  <a:tcPr marL="91440" marR="91440" marT="45720" marB="45720">
                    <a:solidFill>
                      <a:srgbClr val="E6EDF5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BOM и конфигурации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Правила совместимости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Связь с товарами поставщиков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Динамические цены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Массовая замена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Изображения и контент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Публикация в Ozon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Аудит изменений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Расширяемость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0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Средняя оценка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3.7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3.1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00" b="0">
                          <a:solidFill>
                            <a:srgbClr val="172B4D"/>
                          </a:solidFill>
                          <a:latin typeface="Arial"/>
                          <a:ea typeface="Arial"/>
                          <a:cs typeface="Arial"/>
                        </a:rP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F8556-E5D9-4F26-9114-D14FBF2D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Шкала 0–5. Авторская экспертная оценка применимости к предметной задаче.</a:t>
            </a:r>
          </a:p>
          <a:p xmlns:a="http://schemas.openxmlformats.org/drawingml/2006/main">
            <a:pPr>
              <a:defRPr sz="1650" b="0">
                <a:solidFill>
                  <a:srgbClr val="4E62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E627B"/>
                </a:solidFill>
                <a:latin typeface="Arial"/>
                <a:ea typeface="Arial"/>
                <a:cs typeface="Arial"/>
              </a:rPr>
              <a:t>5,0 для целевой ИС отражает требования проекта, а не результат внедрения.</a:t>
            </a:r>
          </a:p>
        </p:txBody>
      </p:sp>
    </p:spTree>
    <p:extLst>
      <p:ext uri="{BB962C8B-B14F-4D97-AF65-F5344CB8AC3E}">
        <p14:creationId xmlns:p14="http://schemas.microsoft.com/office/powerpoint/2010/main" val="21187107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013D3-AB3A-45A4-84BF-0778ECA48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Средняя оценка применимости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43B2B-3917-45D3-AF88-65D3A7A8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619125" y="1238250"/>
          <a:ext xmlns:a="http://schemas.openxmlformats.org/drawingml/2006/main" cx="108585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5528d6ab4641d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BED55-CD1C-48D1-9EB1-74CDFC6E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10763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Среднее по девяти критериям с равными весами.</a:t>
            </a:r>
          </a:p>
          <a:p xmlns:a="http://schemas.openxmlformats.org/drawingml/2006/main">
            <a:pPr>
              <a:defRPr sz="18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Готовые продукты требуют настройки и предметного расширения.</a:t>
            </a:r>
          </a:p>
        </p:txBody>
      </p:sp>
    </p:spTree>
    <p:extLst>
      <p:ext uri="{BB962C8B-B14F-4D97-AF65-F5344CB8AC3E}">
        <p14:creationId xmlns:p14="http://schemas.microsoft.com/office/powerpoint/2010/main" val="6191800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0D91DF-6CB2-410B-BB48-4792C05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Выводы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BF5D1-2EAE-4BB8-8C30-34467408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A002F-C61A-4A29-81A4-03875882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858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Причина основных потерь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CE7541-9AB6-4F4C-BD66-49040ED1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BOM, поставщицкие позиции, расчёты и карточка Ozon</a:t>
            </a:r>
          </a:p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связаны логически, но обновляются раздельно.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5B359-3035-468D-9934-F8CBB642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Требование к целевой системе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5B823-42BF-47E3-8CAE-8275718C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Хранить зависимости и повторно проверять все</a:t>
            </a:r>
          </a:p>
          <a:p xmlns:a="http://schemas.openxmlformats.org/drawingml/2006/main">
            <a:pPr>
              <a:defRPr sz="24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затронутые данные при изменении компонента.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F493C-A4A9-48F5-B9EE-B62EC92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Результат практики: модели IDEF0 и BPMN 2.0,</a:t>
            </a:r>
          </a:p>
          <a:p xmlns:a="http://schemas.openxmlformats.org/drawingml/2006/main">
            <a:pPr>
              <a:defRPr sz="21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22 функциональных и 12 нефункциональных требований.</a:t>
            </a:r>
          </a:p>
        </p:txBody>
      </p:sp>
    </p:spTree>
    <p:extLst>
      <p:ext uri="{BB962C8B-B14F-4D97-AF65-F5344CB8AC3E}">
        <p14:creationId xmlns:p14="http://schemas.microsoft.com/office/powerpoint/2010/main" val="7229229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F9D43-44F4-481B-9F43-910292D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EC78D-5041-4AC5-8B39-04615169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8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8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97D9-E2B2-45D3-AF37-C76A254B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Практическое занятие № 1 по РОП. РТУ МИРЭА, 2026.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D9087-506A-42C7-96CD-29233B06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Албахтин И.В. Курсовая работа по реинжинирингу процесса</a:t>
            </a:r>
          </a:p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сопровождения заказов компьютерных систем,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A86B8-4363-4304-9419-962B7EDA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9555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OMG. BPMN 2.0.2 — omg.org/spec/BPMN/2.0.2/PDF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3F82FB-CBEA-4710-AE02-AB1A0841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Ozon Seller API — docs.ozon.ru/api/seller/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EFD15-D43B-430B-B2B3-E73FAD9F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1С:ERP — v8.1c.ru/erp/purchasing/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232DED-5008-4C27-9D6B-EF729F4C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Pimcore — docs.pimcore.com/platform/2025.4/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0D546-2E40-49A0-9D79-C309D798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Akeneo — help.akeneo.com/using-the-product-page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2B765-B6F1-4E2D-8015-179B5D3C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ООО «Юкомс» — ucoms.ru</a:t>
            </a:r>
          </a:p>
        </p:txBody>
      </p:sp>
    </p:spTree>
    <p:extLst>
      <p:ext uri="{BB962C8B-B14F-4D97-AF65-F5344CB8AC3E}">
        <p14:creationId xmlns:p14="http://schemas.microsoft.com/office/powerpoint/2010/main" val="399696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2026-09-14T11:57:57.5480000Z</dcterms:created>
  <dcterms:modified xsi:type="dcterms:W3CDTF">2026-09-14T11:57:57.5480000Z</dcterms:modified>
</coreProperties>
</file>