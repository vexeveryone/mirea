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3f0be9ae841ba" /><Relationship Type="http://schemas.openxmlformats.org/officeDocument/2006/relationships/extended-properties" Target="/docProps/app.xml" Id="Ra6a4f008793046b6" /><Relationship Type="http://schemas.openxmlformats.org/officeDocument/2006/relationships/officeDocument" Target="/ppt/presentation.xml" Id="Rb22b9e4667ea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2d4bd06ad04969"/>
  </p:sldMasterIdLst>
  <p:notesMasterIdLst>
    <p:notesMasterId xmlns:r="http://schemas.openxmlformats.org/officeDocument/2006/relationships" r:id="R373771a2d8a449f1"/>
  </p:notesMasterIdLst>
  <p:sldIdLst>
    <p:sldId xmlns:r="http://schemas.openxmlformats.org/officeDocument/2006/relationships" id="256" r:id="Ref12a872fc1e41cc"/>
    <p:sldId xmlns:r="http://schemas.openxmlformats.org/officeDocument/2006/relationships" id="257" r:id="R00b5f17325234651"/>
    <p:sldId xmlns:r="http://schemas.openxmlformats.org/officeDocument/2006/relationships" id="258" r:id="R10fd2179a44d4045"/>
    <p:sldId xmlns:r="http://schemas.openxmlformats.org/officeDocument/2006/relationships" id="259" r:id="R97891498c7ea4fe3"/>
    <p:sldId xmlns:r="http://schemas.openxmlformats.org/officeDocument/2006/relationships" id="260" r:id="R996d00bfd4d74df1"/>
    <p:sldId xmlns:r="http://schemas.openxmlformats.org/officeDocument/2006/relationships" id="261" r:id="R339fb9309ea64087"/>
    <p:sldId xmlns:r="http://schemas.openxmlformats.org/officeDocument/2006/relationships" id="262" r:id="R97fd112148874fa7"/>
    <p:sldId xmlns:r="http://schemas.openxmlformats.org/officeDocument/2006/relationships" id="263" r:id="R80f580dcf67b4e24"/>
    <p:sldId xmlns:r="http://schemas.openxmlformats.org/officeDocument/2006/relationships" id="264" r:id="Rf140e9c505fe4515"/>
    <p:sldId xmlns:r="http://schemas.openxmlformats.org/officeDocument/2006/relationships" id="265" r:id="R7a640be964fa4965"/>
    <p:sldId xmlns:r="http://schemas.openxmlformats.org/officeDocument/2006/relationships" id="266" r:id="R115de57deb3a4682"/>
    <p:sldId xmlns:r="http://schemas.openxmlformats.org/officeDocument/2006/relationships" id="267" r:id="R8117b6dbc3444fbd"/>
    <p:sldId xmlns:r="http://schemas.openxmlformats.org/officeDocument/2006/relationships" id="268" r:id="R2fef00fc6b2f4ed9"/>
    <p:sldId xmlns:r="http://schemas.openxmlformats.org/officeDocument/2006/relationships" id="269" r:id="R91cf651587bd4c74"/>
    <p:sldId xmlns:r="http://schemas.openxmlformats.org/officeDocument/2006/relationships" id="270" r:id="Ra66b8269efa546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18b3e1c3146ec" /><Relationship Type="http://schemas.openxmlformats.org/officeDocument/2006/relationships/slideMaster" Target="/ppt/slideMasters/slideMaster1.xml" Id="R812d4bd06ad04969" /><Relationship Type="http://schemas.openxmlformats.org/officeDocument/2006/relationships/notesMaster" Target="/ppt/notesMasters/notesMaster1.xml" Id="R373771a2d8a449f1" /><Relationship Type="http://schemas.openxmlformats.org/officeDocument/2006/relationships/presProps" Target="/ppt/presProps.xml" Id="Ra20bbdf129cb4df6" /><Relationship Type="http://schemas.openxmlformats.org/officeDocument/2006/relationships/tableStyles" Target="/ppt/tableStyles.xml" Id="R1d8c4eab03c54c8f" /><Relationship Type="http://schemas.openxmlformats.org/officeDocument/2006/relationships/slide" Target="/ppt/slides/slide1.xml" Id="Ref12a872fc1e41cc" /><Relationship Type="http://schemas.openxmlformats.org/officeDocument/2006/relationships/slide" Target="/ppt/slides/slide2.xml" Id="R00b5f17325234651" /><Relationship Type="http://schemas.openxmlformats.org/officeDocument/2006/relationships/slide" Target="/ppt/slides/slide3.xml" Id="R10fd2179a44d4045" /><Relationship Type="http://schemas.openxmlformats.org/officeDocument/2006/relationships/slide" Target="/ppt/slides/slide4.xml" Id="R97891498c7ea4fe3" /><Relationship Type="http://schemas.openxmlformats.org/officeDocument/2006/relationships/slide" Target="/ppt/slides/slide5.xml" Id="R996d00bfd4d74df1" /><Relationship Type="http://schemas.openxmlformats.org/officeDocument/2006/relationships/slide" Target="/ppt/slides/slide6.xml" Id="R339fb9309ea64087" /><Relationship Type="http://schemas.openxmlformats.org/officeDocument/2006/relationships/slide" Target="/ppt/slides/slide7.xml" Id="R97fd112148874fa7" /><Relationship Type="http://schemas.openxmlformats.org/officeDocument/2006/relationships/slide" Target="/ppt/slides/slide8.xml" Id="R80f580dcf67b4e24" /><Relationship Type="http://schemas.openxmlformats.org/officeDocument/2006/relationships/slide" Target="/ppt/slides/slide9.xml" Id="Rf140e9c505fe4515" /><Relationship Type="http://schemas.openxmlformats.org/officeDocument/2006/relationships/slide" Target="/ppt/slides/slide10.xml" Id="R7a640be964fa4965" /><Relationship Type="http://schemas.openxmlformats.org/officeDocument/2006/relationships/slide" Target="/ppt/slides/slide11.xml" Id="R115de57deb3a4682" /><Relationship Type="http://schemas.openxmlformats.org/officeDocument/2006/relationships/slide" Target="/ppt/slides/slide12.xml" Id="R8117b6dbc3444fbd" /><Relationship Type="http://schemas.openxmlformats.org/officeDocument/2006/relationships/slide" Target="/ppt/slides/slide13.xml" Id="R2fef00fc6b2f4ed9" /><Relationship Type="http://schemas.openxmlformats.org/officeDocument/2006/relationships/slide" Target="/ppt/slides/slide14.xml" Id="R91cf651587bd4c74" /><Relationship Type="http://schemas.openxmlformats.org/officeDocument/2006/relationships/slide" Target="/ppt/slides/slide15.xml" Id="Ra66b8269efa5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b1b70f37247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a3d6646f204a73" /><Relationship Type="http://schemas.openxmlformats.org/officeDocument/2006/relationships/notesMaster" Target="/ppt/notesMasters/notesMaster1.xml" Id="R5b76d729b8da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bdefd7d20842fc" /><Relationship Type="http://schemas.openxmlformats.org/officeDocument/2006/relationships/notesMaster" Target="/ppt/notesMasters/notesMaster1.xml" Id="Rc755e51f53ac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fa04b2adfd41e0" /><Relationship Type="http://schemas.openxmlformats.org/officeDocument/2006/relationships/notesMaster" Target="/ppt/notesMasters/notesMaster1.xml" Id="Rdd4bca2635ec40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8898cf7d04a2c" /><Relationship Type="http://schemas.openxmlformats.org/officeDocument/2006/relationships/notesMaster" Target="/ppt/notesMasters/notesMaster1.xml" Id="R99d8dbd7c6db4c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30864c04d543c3" /><Relationship Type="http://schemas.openxmlformats.org/officeDocument/2006/relationships/notesMaster" Target="/ppt/notesMasters/notesMaster1.xml" Id="Rd1d2685a31c24d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32ea8a1f6e4010" /><Relationship Type="http://schemas.openxmlformats.org/officeDocument/2006/relationships/notesMaster" Target="/ppt/notesMasters/notesMaster1.xml" Id="Rb97cb9c3b2374a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94de3ff64d4e2f" /><Relationship Type="http://schemas.openxmlformats.org/officeDocument/2006/relationships/notesMaster" Target="/ppt/notesMasters/notesMaster1.xml" Id="Rceb9d6742fd143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7df0d8459a4912" /><Relationship Type="http://schemas.openxmlformats.org/officeDocument/2006/relationships/notesMaster" Target="/ppt/notesMasters/notesMaster1.xml" Id="R771345c11c1e44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cf66a230dc4fcb" /><Relationship Type="http://schemas.openxmlformats.org/officeDocument/2006/relationships/notesMaster" Target="/ppt/notesMasters/notesMaster1.xml" Id="Rb0e1de3d07b0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28e5d5922441b5" /><Relationship Type="http://schemas.openxmlformats.org/officeDocument/2006/relationships/notesMaster" Target="/ppt/notesMasters/notesMaster1.xml" Id="Rffcf3b4069cc43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f64c05eee74811" /><Relationship Type="http://schemas.openxmlformats.org/officeDocument/2006/relationships/notesMaster" Target="/ppt/notesMasters/notesMaster1.xml" Id="R734867fd08934d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e6b773c61349e3" /><Relationship Type="http://schemas.openxmlformats.org/officeDocument/2006/relationships/notesMaster" Target="/ppt/notesMasters/notesMaster1.xml" Id="R6c19de95a1e141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73a9e4eb4c48b7" /><Relationship Type="http://schemas.openxmlformats.org/officeDocument/2006/relationships/notesMaster" Target="/ppt/notesMasters/notesMaster1.xml" Id="Rd116755cd8dd4d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a1a89a673349aa" /><Relationship Type="http://schemas.openxmlformats.org/officeDocument/2006/relationships/notesMaster" Target="/ppt/notesMasters/notesMaster1.xml" Id="R28484fce53364c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c849a910be42cc" /><Relationship Type="http://schemas.openxmlformats.org/officeDocument/2006/relationships/notesMaster" Target="/ppt/notesMasters/notesMaster1.xml" Id="R7e3b21ef6210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редактируемая модель РОП_Практика_1_AS_IS.nsidef0; единый отчёт, раздел 3.1. Входы: запрос, данные компонентов и поставщиков. Выходы: BOM, расчёты, изображения, результат публикации. Управляющие воздействия — рабочие правила академической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РОП_Практика_1_AS_IS.nsidef0, раздел 3.2 отчёта. A1 — регистрация запроса; A2 — BOM; A3 — совместимость; A4 — расчёты и изображения; A5 — публикация. Замечания A3 возвращаются в 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модель РОП_Практика_1_AS_IS.nsbpmn, вид «Публикация и внешние участники», NotationStudio. OMG BPMN 2.0.2: https://www.omg.org/spec/BPMN/2.0.2/PDF, §9.3, §10.4. Внешние организации показаны закрытыми пулами; пунктир обозначает сообщения. После отклонения фиксируются замечания, текущая попытка завершается ошибкой. Исправление инициирует новый запрос.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та же модель NSBPMN, вид «Подготовить данные карточки». Это встроенный подпроцесс основной схемы. Сбор сведений включает оба источника PC4Games и ITPartner. После изменения конфигурации повторно проверяются совместимость и доступность. Текущий процесс не автоматизирован единым движком; задачи не объявлены UserTask или ServiceTask без оснований.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единый отчёт, таблица 6 и раздел 8. Оценки автора, не внешний рейтинг и не результаты измерений продуктов. Документация: https://docs.ozon.ru/api/seller/ ; https://v8.1c.ru/erp/purchasing/ ; https://docs.pimcore.com/platform/2025.4/ ; https://help.akeneo.com/using-the-product-page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таблица 6 единого отчёта. Суммы по девяти критериям: 19, 33, 33, 28, 45; средние после округления до десятых: 2,1; 3,7; 3,7; 3,1; 5,0. Значение целевой ИС — проектная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Полные библиографические описания и даты обращения приведены в едином отчёте. Материалы о продуктах взяты из раздела 8 отчёта; в презентации не заявляется новая независимая проверка возможностей текущих версий.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dec2d0cdc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20d428dbda4ad3" /><Relationship Type="http://schemas.openxmlformats.org/officeDocument/2006/relationships/slideLayout" Target="/ppt/slideLayouts/slideLayout1.xml" Id="R5a20112935904e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20112935904e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7349e68294a28" /><Relationship Type="http://schemas.openxmlformats.org/officeDocument/2006/relationships/notesSlide" Target="/ppt/notesSlides/notesSlide1.xml" Id="Rf99ef1f01642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9503a0b14497c" /><Relationship Type="http://schemas.openxmlformats.org/officeDocument/2006/relationships/notesSlide" Target="/ppt/notesSlides/notesSlide2.xml" Id="Rb698462e92ff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228b1096c453b" /><Relationship Type="http://schemas.openxmlformats.org/officeDocument/2006/relationships/image" Target="/ppt/media/image.png" Id="R0eadd078bffa4d9f" /><Relationship Type="http://schemas.openxmlformats.org/officeDocument/2006/relationships/notesSlide" Target="/ppt/notesSlides/notesSlide3.xml" Id="R583cac4740a841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f1109a8d045d2" /><Relationship Type="http://schemas.openxmlformats.org/officeDocument/2006/relationships/image" Target="/ppt/media/image2.png" Id="Rdb9984cc20524c5a" /><Relationship Type="http://schemas.openxmlformats.org/officeDocument/2006/relationships/notesSlide" Target="/ppt/notesSlides/notesSlide4.xml" Id="Rbbb3ab0f5f90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891fe685044a9" /><Relationship Type="http://schemas.openxmlformats.org/officeDocument/2006/relationships/image" Target="/ppt/media/image3.png" Id="R24abdd12db7f497d" /><Relationship Type="http://schemas.openxmlformats.org/officeDocument/2006/relationships/notesSlide" Target="/ppt/notesSlides/notesSlide5.xml" Id="R86a42edc99bf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ac92ee19b40bc" /><Relationship Type="http://schemas.openxmlformats.org/officeDocument/2006/relationships/image" Target="/ppt/media/image4.png" Id="R01d3ff3c8d0b4ff4" /><Relationship Type="http://schemas.openxmlformats.org/officeDocument/2006/relationships/notesSlide" Target="/ppt/notesSlides/notesSlide6.xml" Id="Rd50a090fb54a40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f1f4e076444b6" /><Relationship Type="http://schemas.openxmlformats.org/officeDocument/2006/relationships/notesSlide" Target="/ppt/notesSlides/notesSlide7.xml" Id="Rcda31179cd6d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de6a6bd0d4311" /><Relationship Type="http://schemas.openxmlformats.org/officeDocument/2006/relationships/notesSlide" Target="/ppt/notesSlides/notesSlide8.xml" Id="Rfa0516615b424c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dc198083e45ba" /><Relationship Type="http://schemas.openxmlformats.org/officeDocument/2006/relationships/notesSlide" Target="/ppt/notesSlides/notesSlide9.xml" Id="R79ed5dda78bf41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9b45bf5674c52" /><Relationship Type="http://schemas.openxmlformats.org/officeDocument/2006/relationships/notesSlide" Target="/ppt/notesSlides/notesSlide10.xml" Id="R56f1b91e46e343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51d322b5842bc" /><Relationship Type="http://schemas.openxmlformats.org/officeDocument/2006/relationships/notesSlide" Target="/ppt/notesSlides/notesSlide11.xml" Id="R4d531bf0e6224e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61590989a4f9b" /><Relationship Type="http://schemas.openxmlformats.org/officeDocument/2006/relationships/notesSlide" Target="/ppt/notesSlides/notesSlide12.xml" Id="Rdcf163491f6443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65f841e60415b" /><Relationship Type="http://schemas.openxmlformats.org/officeDocument/2006/relationships/chart" Target="/ppt/slides/charts/chart1.xml" Id="Re1f0de83924d480d" /><Relationship Type="http://schemas.openxmlformats.org/officeDocument/2006/relationships/notesSlide" Target="/ppt/notesSlides/notesSlide13.xml" Id="Redc1a257b47b40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fc57c8d84495c" /><Relationship Type="http://schemas.openxmlformats.org/officeDocument/2006/relationships/notesSlide" Target="/ppt/notesSlides/notesSlide14.xml" Id="R28f04cc6cdef46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483eb8e6648fa" /><Relationship Type="http://schemas.openxmlformats.org/officeDocument/2006/relationships/notesSlide" Target="/ppt/notesSlides/notesSlide15.xml" Id="R3c9e2df1dbe543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Средний балл</c:v>
          </c:tx>
          <c:spPr>
            <a:solidFill xmlns:a="http://schemas.openxmlformats.org/drawingml/2006/main">
              <a:srgbClr val="356AA0"/>
            </a:solidFill>
          </c:spPr>
          <c:cat>
            <c:strRef>
              <c:f>'Chart Data'!$A$2:$A$6</c:f>
              <c:strCache>
                <c:ptCount val="5"/>
                <c:pt idx="0">
                  <c:v>Ozon Seller</c:v>
                </c:pt>
                <c:pt idx="1">
                  <c:v>1С:ERP</c:v>
                </c:pt>
                <c:pt idx="2">
                  <c:v>Pimcore</c:v>
                </c:pt>
                <c:pt idx="3">
                  <c:v>Akeneo</c:v>
                </c:pt>
                <c:pt idx="4">
                  <c:v>Целевая ИС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2.1</c:v>
                </c:pt>
                <c:pt idx="1">
                  <c:v>3.7</c:v>
                </c:pt>
                <c:pt idx="2">
                  <c:v>3.7</c:v>
                </c:pt>
                <c:pt idx="3">
                  <c:v>3.1</c:v>
                </c:pt>
                <c:pt idx="4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F5EA4-98A2-4423-BEB2-47CD4B5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Практическое занятие №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24CD1-3E9F-45CF-B66B-9FA1C425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78A3C-2AFC-45F5-93A1-E56ED7E7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Разработка обеспечивающих подсистем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F106-B2EA-4BBC-98B1-34D1291C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1116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Формирование и актуализация</a:t>
            </a:r>
          </a:p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карточек компьютерных систем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C8FD1-30DC-4935-956B-4A9FB03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Модель AS IS и требования к информационной системе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 примере ООО «Юкомс»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881BB-7312-49EF-A5FD-37C1C79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Албахтин И.В.  •  ИНБО-12-23</a:t>
            </a:r>
          </a:p>
          <a:p xmlns:a="http://schemas.openxmlformats.org/drawingml/2006/main">
            <a:pPr>
              <a:defRPr sz="1725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РТУ МИРЭА  •  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1133954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5A9FA-4766-407F-8789-359A258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Цель и границы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C16DA-F9CF-46F6-AC0F-A7E3DC21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3225-CA86-40EA-A900-F7373556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B1D1F-D73E-44C0-865F-575F9EE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Выявить проблемы текущего процесса и сформировать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функциональные и нефункциональные требования к ИС.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51C1C-B4A0-4A7E-B0E8-A75442B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Начало и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6D545-22DA-4FA7-8221-779D87A5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Запрос на новую или изменённую карточку → публикация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или обновление в Ozon либо фиксация ошибки публикации.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E32C9-31C3-47D4-8734-C7B2772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Основа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90095-22B7-4F60-B947-4F12F3B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BOM — состав компьютерной системы. В академической модели</a:t>
            </a:r>
          </a:p>
          <a:p xmlns:a="http://schemas.openxmlformats.org/drawingml/2006/main">
            <a:pPr>
              <a:defRPr sz="19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данные и действия распределены между разрозненными инструментами.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173298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DBA5A-163C-418E-86AC-23EA7AB5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IDEF0  •  Контекст A-0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62053-807B-48B3-BC25-4EEDE387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dd078bffa4d9f"/>
          <a:stretch xmlns:a="http://schemas.openxmlformats.org/drawingml/2006/main"/>
        </p:blipFill>
        <p:spPr>
          <a:xfrm xmlns:a="http://schemas.openxmlformats.org/drawingml/2006/main">
            <a:off x="2608898" y="981075"/>
            <a:ext cx="6974205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10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57C3-1C8D-4D16-945E-5FEE3618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IDEF0  •  Декомпозиция A0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84F5F-9A9B-443F-B8F5-F65B4422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984cc20524c5a"/>
          <a:stretch xmlns:a="http://schemas.openxmlformats.org/drawingml/2006/main"/>
        </p:blipFill>
        <p:spPr>
          <a:xfrm xmlns:a="http://schemas.openxmlformats.org/drawingml/2006/main">
            <a:off x="1815465" y="981075"/>
            <a:ext cx="8561070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3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FA2B9-487E-4134-B19F-7BE789BD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BPMN 2.0  •  Публикация и участники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2559-CD10-444D-9F80-BC659676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bdd12db7f497d"/>
          <a:stretch xmlns:a="http://schemas.openxmlformats.org/drawingml/2006/main"/>
        </p:blipFill>
        <p:spPr>
          <a:xfrm xmlns:a="http://schemas.openxmlformats.org/drawingml/2006/main">
            <a:off x="1850569" y="981075"/>
            <a:ext cx="8490861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63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6E380-9E6A-40F7-98B9-E125CA1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BPMN 2.0  •  Подготовка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5CB9B-7236-40E6-9B90-24811E98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3ff3c8d0b4ff4"/>
          <a:stretch xmlns:a="http://schemas.openxmlformats.org/drawingml/2006/main"/>
        </p:blipFill>
        <p:spPr>
          <a:xfrm xmlns:a="http://schemas.openxmlformats.org/drawingml/2006/main">
            <a:off x="1277312" y="981075"/>
            <a:ext cx="9637377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25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DE207-42A1-456D-8F9E-3712B8CC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Проблемы текущего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340AB-FC36-4499-AD39-59BF63E5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  <a:gridCol w="573405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ввод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Ошибки и увеличение времени подготовки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Ручная проверка совместимости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Зависимость от опыта специалиста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Несогласованная 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Карточки содержат разные версии состава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Устаревшая цена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Некорректное товарное предложение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Ошибки обязательных атрибутов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Отклонение публикации и возврат на исправление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Нет сквозного аудита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Трудно установить причину расхождения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118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0FA79-254E-48BC-94F4-FC097D05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Данные и расчёты  •  FR-01–10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79CB-DBCC-4BAC-BE3E-A5111394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1630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Требуемое поведение системы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FR-01–03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Регистрировать запросы, создавать BOM по корпусу и задавать состав характеристиками или точной моделью.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FR-04–05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Проверять совместимость после каждого изменения и показывать правило, вызвавшее конфликт.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FR-06–08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Сопоставлять товары поставщиков, загружать цены и наличие, выбирать применимое предложение.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FR-09–10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Рассчитывать себестоимость, цену карточки и массу товара с упаковкой.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101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5E45A-0F53-4BD1-A84E-F58FA7B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Изменения и публикация  •  FR-11–22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AEF34-FFD2-4DC2-B053-5A5762E1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1630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Требуемое поведение системы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FR-11–13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Находить затронутые BOM, показывать последствия массовой замены и повторно проверять изменённые данные.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FR-14–16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Формировать изображения и контент карточки; проверять обязательные атрибуты Ozon до публикации.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FR-17–19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Публиковать через API Ozon, сохранять ответ и статус, повторять неуспешные внешние операции.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FR-20–22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Хранить версии и историю действий, уведомлять об ошибках, предоставлять поиск и фильтры.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289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29680-8D8F-4EC4-AD45-39F10642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NFR  •  Скорость и надёжность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5C260-B5DF-4607-83C7-406D7CA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63930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приёмки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95% запросов основных форм — не более 2 с при 50 одновременных пользователях.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 и проверка 1000 BOM — не более 5 мин.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≥ 99,5% в месяц без согласованной профилактики.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Ежедневная резервная копия; RPO ≤ 24 ч, RTO ≤ 4 ч.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Две последние стабильные версии Chrome, Edge и Firefox; экран от 1280 px.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До трёх повторов внешней операции без создания дубликатов.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554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59B6B-11CF-4174-988D-8090F02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NFR  •  Защита и целостность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778FC-7AD7-4A1C-917E-472689DA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63930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приёмки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Пользовательские и интеграционные соединения — TLS 1.2 или новее.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Хранение паролей — Argon2id с уникальной солью.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Ролевое разграничение доступа с проверкой на сервере.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NFR-08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изменений — не менее года; пользователь, время и изменённые значения.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Запрет готовности к публикации при несовместимости или неполных данных.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правил и сопоставлений через справочники без правки кода.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751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7FBF9-B70C-4B40-AA29-4866E9E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Сравнение программных аналогов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2B642-76E4-4061-9571-42E11E5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90625"/>
          <a:ext xmlns:a="http://schemas.openxmlformats.org/drawingml/2006/main" cx="111633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1562100"/>
                <a:gridCol w="1562100"/>
                <a:gridCol w="1562100"/>
                <a:gridCol w="1562100"/>
                <a:gridCol w="1562100"/>
              </a:tblGrid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Ozon Seller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1С:ERP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Pimcore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Akeneo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Целевая ИС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BOM и конфигурации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Правила совместимости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Связь с товарами поставщиков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Динамические цены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 и контент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 в Ozon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Аудит изменений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Расширяемость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Средняя оценка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90973-C283-48D2-8890-38C5BD0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Шкала 0–5. Авторская экспертная оценка применимости к предметной задаче.</a:t>
            </a:r>
          </a:p>
          <a:p xmlns:a="http://schemas.openxmlformats.org/drawingml/2006/main">
            <a:pPr>
              <a:defRPr sz="165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5,0 для целевой ИС отражает требования проекта, а не результат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10097941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559C0-F2CC-4E2C-A1E2-80761A62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Средняя оценка применимости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A3E41-7486-42C1-A9A8-B0E0DB9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238250"/>
          <a:ext xmlns:a="http://schemas.openxmlformats.org/drawingml/2006/main" cx="10858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f0de83924d480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73FFA-5DDF-4FBE-A965-2787781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Среднее по девяти критериям с равными весами.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Готовые продукты требуют настройки и предметного расширения.</a:t>
            </a:r>
          </a:p>
        </p:txBody>
      </p:sp>
    </p:spTree>
    <p:extLst>
      <p:ext uri="{BB962C8B-B14F-4D97-AF65-F5344CB8AC3E}">
        <p14:creationId xmlns:p14="http://schemas.microsoft.com/office/powerpoint/2010/main" val="211704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3966A-10A8-44E7-BBF5-3E86062A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79493-C363-4C5F-891F-67B48DA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AEEE5-A4F4-4217-97DB-29E19663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Причина основных потерь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401D6-1CB0-4820-B768-61B4269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BOM, поставщицкие позиции, расчёты и карточка Ozon</a:t>
            </a:r>
          </a:p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связаны логически, но обновляются раздельно.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CC69-EA27-4E47-83D4-EA637127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Требование к целевой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23DD9-8428-46E0-8531-0953AACE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Хранить зависимости и повторно проверять все</a:t>
            </a:r>
          </a:p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затронутые данные при изменении компонента.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A7CB7-780A-4181-AE93-1141AB89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Результат практики: модели IDEF0 и BPMN 2.0,</a:t>
            </a:r>
          </a:p>
          <a:p xmlns:a="http://schemas.openxmlformats.org/drawingml/2006/main">
            <a:pPr>
              <a:defRPr sz="21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22 функциональных и 12 нефункциональных требований.</a:t>
            </a:r>
          </a:p>
        </p:txBody>
      </p:sp>
    </p:spTree>
    <p:extLst>
      <p:ext uri="{BB962C8B-B14F-4D97-AF65-F5344CB8AC3E}">
        <p14:creationId xmlns:p14="http://schemas.microsoft.com/office/powerpoint/2010/main" val="1674395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C2D7B-C358-4097-97D9-D3D795FF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6D591-7534-40C9-B9FE-A7EF67D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A2995-C201-497C-BF03-980AEFE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Практическое занятие № 1 по РОП. РТУ МИРЭА,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359DB-DEBA-41EC-A3A7-6E801CFC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Албахтин И.В. Курсовая работа по реинжинирингу процесса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сопровождения заказов компьютерных систем,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46CE1-B937-477D-B939-5B76757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OMG. BPMN 2.0.2 — omg.org/spec/BPMN/2.0.2/PDF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F2EF1-1C6E-41DC-8566-3E72BDC4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Ozon Seller API — docs.ozon.ru/api/seller/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4BBC8-1FB3-4846-AE99-BAD80CD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1С:ERP — v8.1c.ru/erp/purchasing/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FF8BD-F1C0-446F-8CA0-4AEA976C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Pimcore — docs.pimcore.com/platform/2025.4/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DFDD4-8481-402E-BA72-3B8DC44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Akeneo — help.akeneo.com/using-the-product-page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C2BD1-670A-4A32-9183-9F37C852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ООО «Юкомс» — ucoms.ru</a:t>
            </a:r>
          </a:p>
        </p:txBody>
      </p:sp>
    </p:spTree>
    <p:extLst>
      <p:ext uri="{BB962C8B-B14F-4D97-AF65-F5344CB8AC3E}">
        <p14:creationId xmlns:p14="http://schemas.microsoft.com/office/powerpoint/2010/main" val="926595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2026-09-14T11:56:42.4390000Z</dcterms:created>
  <dcterms:modified xsi:type="dcterms:W3CDTF">2026-09-14T11:56:42.4390000Z</dcterms:modified>
</coreProperties>
</file>